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d3b28b10-073f-c1de-ecd9-0ba7d363f422}">
          <p14:sldIdLst>
            <p14:sldId id="256"/>
          </p14:sldIdLst>
        </p14:section>
        <p14:section name="Introducción" id="{e1abe5fd-543f-98e0-ad70-614d23251bda}">
          <p14:sldIdLst>
            <p14:sldId id="257"/>
            <p14:sldId id="258"/>
          </p14:sldIdLst>
        </p14:section>
        <p14:section name="Método" id="{9456e721-f7f7-cacc-3b9e-6559267b1f52}">
          <p14:sldIdLst>
            <p14:sldId id="259"/>
          </p14:sldIdLst>
        </p14:section>
        <p14:section name="Factores propios" id="{ee415a2f-232f-5fed-c77d-1d3c7bcba737}">
          <p14:sldIdLst>
            <p14:sldId id="260"/>
            <p14:sldId id="261"/>
            <p14:sldId id="262"/>
            <p14:sldId id="263"/>
          </p14:sldIdLst>
        </p14:section>
        <p14:section name="Resultados" id="{4f5fc281-253e-8680-fda5-fee5300a40b4}">
          <p14:sldIdLst>
            <p14:sldId id="264"/>
            <p14:sldId id="265"/>
            <p14:sldId id="266"/>
            <p14:sldId id="267"/>
          </p14:sldIdLst>
        </p14:section>
        <p14:section name="Conclusión" id="{0cca98d6-32cc-8e7e-67d8-085de373674f}">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2E2E"/>
                </a:solidFill>
                <a:latin typeface="+mn-lt"/>
              </a:defRPr>
            </a:pPr>
            <a:r>
              <a:rPr sz="1400" b="0" i="0" u="none" strike="noStrike">
                <a:solidFill>
                  <a:srgbClr val="2E2E2E"/>
                </a:solidFill>
                <a:latin typeface="+mn-lt"/>
              </a:rPr>
              <a:t>Puntaje obtenido frente al máximo por grupo</a:t>
            </a:r>
          </a:p>
        </c:rich>
      </c:tx>
      <c:layout/>
      <c:overlay val="0"/>
    </c:title>
    <c:autoTitleDeleted val="0"/>
    <c:plotArea>
      <c:layout/>
      <c:barChart>
        <c:barDir val="bar"/>
        <c:grouping val="clustered"/>
        <c:varyColors val="0"/>
        <c:ser>
          <c:idx val="0"/>
          <c:order val="0"/>
          <c:tx>
            <c:strRef>
              <c:f>Sheet1!$B$1</c:f>
              <c:strCache>
                <c:ptCount val="1"/>
                <c:pt idx="0">
                  <c:v>Puntaje máximo</c:v>
                </c:pt>
              </c:strCache>
            </c:strRef>
          </c:tx>
          <c:spPr>
            <a:solidFill>
              <a:srgbClr val="D9D9D9"/>
            </a:solidFill>
            <a:effectLst/>
          </c:spPr>
          <c:invertIfNegative val="0"/>
          <c:dLbls>
            <c:numFmt formatCode="#,##0" sourceLinked="0"/>
            <c:txPr>
              <a:bodyPr/>
              <a:lstStyle/>
              <a:p>
                <a:pPr>
                  <a:defRPr b="0" i="0" strike="noStrike" sz="1200" u="none">
                    <a:solidFill>
                      <a:srgbClr val="2E2E2E"/>
                    </a:solidFill>
                    <a:latin typeface="+mn-lt"/>
                  </a:defRPr>
                </a:pPr>
              </a:p>
            </c:txPr>
            <c:showLegendKey val="0"/>
            <c:showVal val="1"/>
            <c:showCatName val="0"/>
            <c:showSerName val="0"/>
            <c:showPercent val="0"/>
            <c:showBubbleSize val="0"/>
            <c:showLeaderLines val="0"/>
          </c:dLbls>
          <c:cat>
            <c:multiLvlStrRef>
              <c:f>Sheet1!$A$2:$A$7</c:f>
              <c:multiLvlStrCache>
                <c:ptCount val="6"/>
                <c:lvl>
                  <c:pt idx="0">
                    <c:v>Construcción</c:v>
                  </c:pt>
                  <c:pt idx="1">
                    <c:v>Situación</c:v>
                  </c:pt>
                  <c:pt idx="2">
                    <c:v>Procesos</c:v>
                  </c:pt>
                  <c:pt idx="3">
                    <c:v>Concentración</c:v>
                  </c:pt>
                  <c:pt idx="4">
                    <c:v>Propagabilidad</c:v>
                  </c:pt>
                  <c:pt idx="5">
                    <c:v>Destructibilidad</c:v>
                  </c:pt>
                </c:lvl>
              </c:multiLvlStrCache>
            </c:multiLvlStrRef>
          </c:cat>
          <c:val>
            <c:numRef>
              <c:f>Sheet1!$B$2:$B$7</c:f>
              <c:numCache>
                <c:formatCode>General</c:formatCode>
                <c:ptCount val="6"/>
                <c:pt idx="0">
                  <c:v>23</c:v>
                </c:pt>
                <c:pt idx="1">
                  <c:v>15</c:v>
                </c:pt>
                <c:pt idx="2">
                  <c:v>38</c:v>
                </c:pt>
                <c:pt idx="3">
                  <c:v>3</c:v>
                </c:pt>
                <c:pt idx="4">
                  <c:v>10</c:v>
                </c:pt>
                <c:pt idx="5">
                  <c:v>40</c:v>
                </c:pt>
              </c:numCache>
            </c:numRef>
          </c:val>
        </c:ser>
        <c:ser>
          <c:idx val="1"/>
          <c:order val="1"/>
          <c:tx>
            <c:strRef>
              <c:f>Sheet1!$C$1</c:f>
              <c:strCache>
                <c:ptCount val="1"/>
                <c:pt idx="0">
                  <c:v>Puntaje obtenido</c:v>
                </c:pt>
              </c:strCache>
            </c:strRef>
          </c:tx>
          <c:spPr>
            <a:solidFill>
              <a:srgbClr val="7E8410"/>
            </a:solidFill>
            <a:effectLst/>
          </c:spPr>
          <c:invertIfNegative val="0"/>
          <c:dLbls>
            <c:numFmt formatCode="#,##0" sourceLinked="0"/>
            <c:txPr>
              <a:bodyPr/>
              <a:lstStyle/>
              <a:p>
                <a:pPr>
                  <a:defRPr b="0" i="0" strike="noStrike" sz="1200" u="none">
                    <a:solidFill>
                      <a:srgbClr val="2E2E2E"/>
                    </a:solidFill>
                    <a:latin typeface="+mn-lt"/>
                  </a:defRPr>
                </a:pPr>
              </a:p>
            </c:txPr>
            <c:showLegendKey val="0"/>
            <c:showVal val="1"/>
            <c:showCatName val="0"/>
            <c:showSerName val="0"/>
            <c:showPercent val="0"/>
            <c:showBubbleSize val="0"/>
            <c:showLeaderLines val="0"/>
          </c:dLbls>
          <c:cat>
            <c:multiLvlStrRef>
              <c:f>Sheet1!$A$2:$A$7</c:f>
              <c:multiLvlStrCache>
                <c:ptCount val="6"/>
                <c:lvl>
                  <c:pt idx="0">
                    <c:v>Construcción</c:v>
                  </c:pt>
                  <c:pt idx="1">
                    <c:v>Situación</c:v>
                  </c:pt>
                  <c:pt idx="2">
                    <c:v>Procesos</c:v>
                  </c:pt>
                  <c:pt idx="3">
                    <c:v>Concentración</c:v>
                  </c:pt>
                  <c:pt idx="4">
                    <c:v>Propagabilidad</c:v>
                  </c:pt>
                  <c:pt idx="5">
                    <c:v>Destructibilidad</c:v>
                  </c:pt>
                </c:lvl>
              </c:multiLvlStrCache>
            </c:multiLvlStrRef>
          </c:cat>
          <c:val>
            <c:numRef>
              <c:f>Sheet1!$C$2:$C$7</c:f>
              <c:numCache>
                <c:formatCode>General</c:formatCode>
                <c:ptCount val="6"/>
                <c:pt idx="0">
                  <c:v>13</c:v>
                </c:pt>
                <c:pt idx="1">
                  <c:v>15</c:v>
                </c:pt>
                <c:pt idx="2">
                  <c:v>13</c:v>
                </c:pt>
                <c:pt idx="3">
                  <c:v>0</c:v>
                </c:pt>
                <c:pt idx="4">
                  <c:v>6</c:v>
                </c:pt>
                <c:pt idx="5">
                  <c:v>10</c:v>
                </c:pt>
              </c:numCache>
            </c:numRef>
          </c:val>
        </c:ser>
        <c:dLbls>
          <c:numFmt formatCode="#,##0" sourceLinked="0"/>
          <c:txPr>
            <a:bodyPr/>
            <a:lstStyle/>
            <a:p>
              <a:pPr>
                <a:defRPr b="0" i="0" strike="noStrike" sz="1200" u="none">
                  <a:solidFill>
                    <a:srgbClr val="2E2E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E2E2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E2E2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Mi trabajo es la evaluación del riesgo de incendio del Centro de Distribución de Tiendas D1 en Lebrija, Santander, con el método MESERI.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objetivo fue evaluar el riesgo de incendio del CEDI con el método MESERI, ver qué lo aumenta y qué lo reduce, y proponer mejoras. La información salió de fotos de la inspección, de Google Maps, de datos que dio el personal del CEDI y de las tablas del método vistas en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 edificio de más de 17.000 metros cuadrados y 18 metros de altura. Tiene una bodega con estanterías de unos 10 metros, una cava de frío, muelles de cargue y un mezanine con oficinas y comedor.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método MESERI califica dos grupos de factores. El primero, X, son los factores propios del edificio, con un máximo de 129 puntos. El segundo, Y, son los medios de protección, con un máximo de 26. Se aplica la fórmula P igual a 5X sobre 129, más 5Y sobre 26, más 1 si hay brigada. El resultado va de 0 a 10, y desde 5 se considera aceptable.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construcción: la altura es de 18 metros; la tabla dice que entre 15 y 20 metros vale 1, y como se toma el menor entre pisos y altura, queda 1. El edificio es un solo sector de 17.432 metros cuadrados sin muros cortafuego; la tabla dice que si supera 4.500 metros vale 0. La estructura es mixta, concreto y metal, así que se tomó un valor intermedio: 7. Y la bodega no tiene cielo raso, por eso vale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situación: los bomberos están a 3,4 kilómetros y 5 minutos; la tabla dice que menos de 5 kilómetros vale 10, el máximo. El acceso tiene una portería de 8 metros, más de los 4 que pide la tabla, y vía alrededor del edificio, así que es buena: 5. En concentración de valores, el inventario vale unos 500.000 millones de pesos; dividido entre el área da unos 28,7 millones por metro cuadrado, muy por encima del límite de la tabla, por eso vale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procesos: no hay llama abierta, pero sí carga de montacargas y una cocina con cableado expuesto, por eso el peligro de activación es medio: 5. La carga térmica es alta por la cantidad de cartón, plástico y alimentos, así que vale 0. Los materiales son de combustibilidad media: 3. El orden es medio por la acumulación de estibas: 5. Y el almacenamiento: las estanterías miden unos 10 metros; la tabla dice que si supera 6 metros vale 0, por eso se asignó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propagabilidad, el fuego se podría extender entre bloques porque no hay muros cortafuego, y podría subir al mezanine por los ventanales: ambas son medias, 3 cada una. En destructibilidad, el calor y el humo dañarían por completo los alimentos, por eso valen 0. La corrosión y el agua dañan solo parte del inventario: 5 cada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los factores propios el CEDI obtuvo 57 de 129 puntos, es decir, el edificio por sí solo es desfavorable. A su favor tiene que la estación de bomberos de Lebrija está a solo 3,4 kilómetros, a 5 minutos, y que el acceso es amplio y pavimentado. Seis factores obtuvieron 0, y son los que más aumentan el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protección le va muy bien: 22 de 26 puntos. Tiene rociadores automáticos en todo el edificio, que es lo que más suma, con 8 puntos. Además tiene detección automática, gabinetes contra incendio, un hidrante exterior y extintores señalizados. Todo cuenta con vigilancia permanente y mantenimiento.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aplicar la fórmula: 5 por 57 sobre 129 da 2,21. 5 por 22 sobre 26 da 4,23. Y la brigada suma 0, porque el CEDI no tiene brigada contra incendios. El resultado es P igual a 6,44, que corresponde a un riesgo bueno. P es el coeficiente de protección contra incendios: va de 0 a 10, y mientras más alto, más seguro está el lugar.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Comparé tres escenarios. Hoy el CEDI tiene 6,44. Si se conforma una brigada contra incendios, sumaría un punto y llegaría a 7,44. Pero si no existiera la vigilancia permanente, cada medio de protección valdría menos: Y bajaría de 22 a 10 y P quedaría en 4,13, es decir, riesgo malo. Por eso es clave mantener la vigilancia y el mantenimiento.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Recomiendo seis cosas: conformar y capacitar una brigada contra incendios, con la que el resultado subiría a 7,44; mantener las pruebas de rociadores, bombas, gabinetes e hidrante; corregir el cableado expuesto de la cocina; controlar la acumulación de estibas; capacitar al personal con simulacros; y evaluar muros cortafuego en futuras ampliaciones.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conclusión, el edificio tiene condiciones de riesgo altas, pero sus sistemas de protección las compensan, y el CEDI queda en riesgo bueno, con P igual a 6,44. Si se conforma una brigada, llegaría a 7,44. Muchas gracias. (Si preguntan por qué todo es con vigilancia: porque el CEDI tiene personal de seguridad permanente en portería y los equipos reciben mantenimiento.)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son las fuentes del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3B3B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Image 0" descr="/tmp/claude-0/-home-user-cedi-d1-lebrija/46e3a16f-f43b-510e-9032-e476e8d715c5/scratchpad/assets/logo.png">    </p:cNvPr>
          <p:cNvPicPr>
            <a:picLocks noChangeAspect="1"/>
          </p:cNvPicPr>
          <p:nvPr/>
        </p:nvPicPr>
        <p:blipFill>
          <a:blip r:embed="rId1"/>
          <a:stretch>
            <a:fillRect/>
          </a:stretch>
        </p:blipFill>
        <p:spPr>
          <a:xfrm>
            <a:off x="11018520" y="384048"/>
            <a:ext cx="658368" cy="457200"/>
          </a:xfrm>
          <a:prstGeom prst="rect">
            <a:avLst/>
          </a:prstGeom>
        </p:spPr>
      </p:pic>
      <p:sp>
        <p:nvSpPr>
          <p:cNvPr id="3"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rgbClr val="5F5F5F"/>
                </a:solidFill>
              </a:rPr>
              <a:t>Evaluación MESERI · CEDI D1 Lebrija</a:t>
            </a:r>
            <a:endParaRPr lang="en-US" sz="1000" dirty="0"/>
          </a:p>
        </p:txBody>
      </p:sp>
      <p:sp>
        <p:nvSpPr>
          <p:cNvPr id="4" name="Text 1"/>
          <p:cNvSpPr/>
          <p:nvPr>
            <p:ph idx="102" type="title" hasCustomPrompt="1"/>
          </p:nvPr>
        </p:nvSpPr>
        <p:spPr>
          <a:xfrm>
            <a:off x="548640" y="320040"/>
            <a:ext cx="10241280" cy="685800"/>
          </a:xfrm>
          <a:prstGeom prst="rect">
            <a:avLst/>
          </a:prstGeom>
          <a:noFill/>
          <a:ln/>
        </p:spPr>
        <p:txBody>
          <a:bodyPr wrap="square" rtlCol="0"/>
          <a:lstStyle>
            <a:lvl1pPr algn="l" indent="0" marL="0">
              <a:buNone/>
              <a:defRPr lang="en-US" sz="3200" b="1" dirty="0">
                <a:solidFill>
                  <a:srgbClr val="2E2E2E"/>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3B3B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024128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22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foto fachada" descr="/tmp/claude-0/-home-user-cedi-d1-lebrija/46e3a16f-f43b-510e-9032-e476e8d715c5/scratchpad/ppt/recortes/27_6.33x7.5.jpg">    </p:cNvPr>
          <p:cNvPicPr>
            <a:picLocks noChangeAspect="1"/>
          </p:cNvPicPr>
          <p:nvPr/>
        </p:nvPicPr>
        <p:blipFill>
          <a:blip r:embed="rId1"/>
          <a:stretch>
            <a:fillRect/>
          </a:stretch>
        </p:blipFill>
        <p:spPr>
          <a:xfrm>
            <a:off x="6400800" y="0"/>
            <a:ext cx="5788152" cy="6858000"/>
          </a:xfrm>
          <a:prstGeom prst="rect">
            <a:avLst/>
          </a:prstGeom>
        </p:spPr>
      </p:pic>
      <p:pic>
        <p:nvPicPr>
          <p:cNvPr id="3" name="logo UTS" descr="/tmp/claude-0/-home-user-cedi-d1-lebrija/46e3a16f-f43b-510e-9032-e476e8d715c5/scratchpad/assets/logo.png">    </p:cNvPr>
          <p:cNvPicPr>
            <a:picLocks noChangeAspect="1"/>
          </p:cNvPicPr>
          <p:nvPr/>
        </p:nvPicPr>
        <p:blipFill>
          <a:blip r:embed="rId2"/>
          <a:stretch>
            <a:fillRect/>
          </a:stretch>
        </p:blipFill>
        <p:spPr>
          <a:xfrm>
            <a:off x="640080" y="548640"/>
            <a:ext cx="1371600" cy="960120"/>
          </a:xfrm>
          <a:prstGeom prst="rect">
            <a:avLst/>
          </a:prstGeom>
        </p:spPr>
      </p:pic>
      <p:sp>
        <p:nvSpPr>
          <p:cNvPr id="4" name="Text 0"/>
          <p:cNvSpPr txBox="1"/>
          <p:nvPr/>
        </p:nvSpPr>
        <p:spPr>
          <a:xfrm>
            <a:off x="640080" y="1828800"/>
            <a:ext cx="5486400" cy="1188720"/>
          </a:xfrm>
          <a:prstGeom prst="rect">
            <a:avLst/>
          </a:prstGeom>
          <a:noFill/>
          <a:ln/>
        </p:spPr>
        <p:txBody>
          <a:bodyPr wrap="square" lIns="0" tIns="0" rIns="0" bIns="0" rtlCol="0" anchor="t"/>
          <a:lstStyle/>
          <a:p>
            <a:pPr indent="0" marL="0">
              <a:buNone/>
            </a:pPr>
            <a:r>
              <a:rPr lang="en-US" sz="3800" b="1" dirty="0">
                <a:solidFill>
                  <a:srgbClr val="FFFFFF"/>
                </a:solidFill>
              </a:rPr>
              <a:t>Evaluación de Riesgos de Incendio</a:t>
            </a:r>
            <a:endParaRPr lang="en-US" sz="3800" dirty="0"/>
          </a:p>
        </p:txBody>
      </p:sp>
      <p:sp>
        <p:nvSpPr>
          <p:cNvPr id="5" name="Text 1"/>
          <p:cNvSpPr txBox="1"/>
          <p:nvPr/>
        </p:nvSpPr>
        <p:spPr>
          <a:xfrm>
            <a:off x="640080" y="3063240"/>
            <a:ext cx="5486400" cy="457200"/>
          </a:xfrm>
          <a:prstGeom prst="rect">
            <a:avLst/>
          </a:prstGeom>
          <a:noFill/>
          <a:ln/>
        </p:spPr>
        <p:txBody>
          <a:bodyPr wrap="square" lIns="0" tIns="0" rIns="0" bIns="0" rtlCol="0" anchor="ctr"/>
          <a:lstStyle/>
          <a:p>
            <a:pPr indent="0" marL="0">
              <a:buNone/>
            </a:pPr>
            <a:r>
              <a:rPr lang="en-US" sz="2000" dirty="0">
                <a:solidFill>
                  <a:srgbClr val="CAD225"/>
                </a:solidFill>
              </a:rPr>
              <a:t>Método MESERI · CEDI D1 Lebrija, Santander</a:t>
            </a:r>
            <a:endParaRPr lang="en-US" sz="2000" dirty="0"/>
          </a:p>
        </p:txBody>
      </p:sp>
      <p:sp>
        <p:nvSpPr>
          <p:cNvPr id="6" name="Text 2"/>
          <p:cNvSpPr txBox="1"/>
          <p:nvPr/>
        </p:nvSpPr>
        <p:spPr>
          <a:xfrm>
            <a:off x="640080" y="4206240"/>
            <a:ext cx="5486400" cy="1554480"/>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rPr>
              <a:t>Angely Tatiana Osorio Sánchez</a:t>
            </a:r>
            <a:endParaRPr lang="en-US" sz="1500" dirty="0"/>
          </a:p>
          <a:p>
            <a:pPr indent="0" marL="0">
              <a:spcAft>
                <a:spcPts val="400"/>
              </a:spcAft>
              <a:buNone/>
            </a:pPr>
            <a:r>
              <a:rPr lang="en-US" sz="1500" dirty="0">
                <a:solidFill>
                  <a:srgbClr val="FFFFFF"/>
                </a:solidFill>
              </a:rPr>
              <a:t>Profesor: Jhonny Mauricio Ceron Cifuentes</a:t>
            </a:r>
            <a:endParaRPr lang="en-US" sz="1500" dirty="0"/>
          </a:p>
          <a:p>
            <a:pPr indent="0" marL="0">
              <a:spcAft>
                <a:spcPts val="400"/>
              </a:spcAft>
              <a:buNone/>
            </a:pPr>
            <a:r>
              <a:rPr lang="en-US" sz="1500" dirty="0">
                <a:solidFill>
                  <a:srgbClr val="FFFFFF"/>
                </a:solidFill>
              </a:rPr>
              <a:t>Electiva Complementaria Salud Ocupacional – Grupo E133</a:t>
            </a:r>
            <a:endParaRPr lang="en-US" sz="1500" dirty="0"/>
          </a:p>
          <a:p>
            <a:pPr indent="0" marL="0">
              <a:spcAft>
                <a:spcPts val="400"/>
              </a:spcAft>
              <a:buNone/>
            </a:pPr>
            <a:r>
              <a:rPr lang="en-US" sz="1500" dirty="0">
                <a:solidFill>
                  <a:srgbClr val="FFFFFF"/>
                </a:solidFill>
              </a:rPr>
              <a:t>Unidades Tecnológicas de Santander · Octubre de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Objetivo y fuentes de información</a:t>
            </a:r>
            <a:endParaRPr lang="en-US" sz="3200" dirty="0"/>
          </a:p>
        </p:txBody>
      </p:sp>
      <p:sp>
        <p:nvSpPr>
          <p:cNvPr id="3" name="objetivo"/>
          <p:cNvSpPr/>
          <p:nvPr/>
        </p:nvSpPr>
        <p:spPr>
          <a:xfrm>
            <a:off x="548640" y="1325880"/>
            <a:ext cx="5120640" cy="4480560"/>
          </a:xfrm>
          <a:prstGeom prst="roundRect">
            <a:avLst>
              <a:gd name="adj" fmla="val 2449"/>
            </a:avLst>
          </a:prstGeom>
          <a:solidFill>
            <a:srgbClr val="3B3B3B"/>
          </a:solidFill>
          <a:ln w="12700">
            <a:solidFill>
              <a:srgbClr val="3B3B3B"/>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68680" y="1600200"/>
            <a:ext cx="4480560" cy="3931920"/>
          </a:xfrm>
          <a:prstGeom prst="rect">
            <a:avLst/>
          </a:prstGeom>
          <a:noFill/>
          <a:ln/>
        </p:spPr>
        <p:txBody>
          <a:bodyPr wrap="square" lIns="0" tIns="0" rIns="0" bIns="0" rtlCol="0" anchor="t"/>
          <a:lstStyle/>
          <a:p>
            <a:pPr indent="0" marL="0">
              <a:spcAft>
                <a:spcPts val="1000"/>
              </a:spcAft>
              <a:buNone/>
            </a:pPr>
            <a:r>
              <a:rPr lang="en-US" sz="1600" b="1" dirty="0">
                <a:solidFill>
                  <a:srgbClr val="CAD225"/>
                </a:solidFill>
              </a:rPr>
              <a:t>Objetivo</a:t>
            </a:r>
            <a:endParaRPr lang="en-US" sz="1600" dirty="0"/>
          </a:p>
          <a:p>
            <a:pPr indent="0" marL="0">
              <a:spcAft>
                <a:spcPts val="1000"/>
              </a:spcAft>
              <a:buNone/>
            </a:pPr>
            <a:r>
              <a:rPr lang="en-US" sz="2200" b="1" dirty="0">
                <a:solidFill>
                  <a:srgbClr val="FFFFFF"/>
                </a:solidFill>
              </a:rPr>
              <a:t>Evaluar el riesgo de incendio del CEDI D1 Lebrija con el Método MESERI, identificar qué lo aumenta y qué lo reduce, y proponer mejoras.</a:t>
            </a:r>
            <a:endParaRPr lang="en-US" sz="1600" dirty="0"/>
          </a:p>
        </p:txBody>
      </p:sp>
      <p:sp>
        <p:nvSpPr>
          <p:cNvPr id="5" name="círculo Inspección fotográfica"/>
          <p:cNvSpPr/>
          <p:nvPr/>
        </p:nvSpPr>
        <p:spPr>
          <a:xfrm>
            <a:off x="6126480" y="1325880"/>
            <a:ext cx="731520" cy="731520"/>
          </a:xfrm>
          <a:prstGeom prst="ellipse">
            <a:avLst/>
          </a:prstGeom>
          <a:solidFill>
            <a:srgbClr val="CAD225"/>
          </a:solidFill>
          <a:ln w="12700">
            <a:solidFill>
              <a:srgbClr val="CAD225"/>
            </a:solidFill>
            <a:prstDash val="solid"/>
          </a:ln>
        </p:spPr>
      </p:sp>
      <p:pic>
        <p:nvPicPr>
          <p:cNvPr id="6" name="ícono Inspección fotográfica" descr="preencoded.png">    </p:cNvPr>
          <p:cNvPicPr>
            <a:picLocks noChangeAspect="1"/>
          </p:cNvPicPr>
          <p:nvPr/>
        </p:nvPicPr>
        <p:blipFill>
          <a:blip r:embed="rId1"/>
          <a:stretch>
            <a:fillRect/>
          </a:stretch>
        </p:blipFill>
        <p:spPr>
          <a:xfrm>
            <a:off x="6309360" y="1508760"/>
            <a:ext cx="365760" cy="365760"/>
          </a:xfrm>
          <a:prstGeom prst="rect">
            <a:avLst/>
          </a:prstGeom>
        </p:spPr>
      </p:pic>
      <p:sp>
        <p:nvSpPr>
          <p:cNvPr id="7" name="Text 4"/>
          <p:cNvSpPr txBox="1"/>
          <p:nvPr/>
        </p:nvSpPr>
        <p:spPr>
          <a:xfrm>
            <a:off x="7040880" y="1280160"/>
            <a:ext cx="4572000" cy="914400"/>
          </a:xfrm>
          <a:prstGeom prst="rect">
            <a:avLst/>
          </a:prstGeom>
          <a:noFill/>
          <a:ln/>
        </p:spPr>
        <p:txBody>
          <a:bodyPr wrap="square" lIns="0" tIns="0" rIns="0" bIns="0" rtlCol="0" anchor="t"/>
          <a:lstStyle/>
          <a:p>
            <a:pPr indent="0" marL="0">
              <a:buNone/>
            </a:pPr>
            <a:r>
              <a:rPr lang="en-US" sz="1800" b="1" dirty="0">
                <a:solidFill>
                  <a:srgbClr val="2E2E2E"/>
                </a:solidFill>
              </a:rPr>
              <a:t>Inspección fotográfica</a:t>
            </a:r>
            <a:endParaRPr lang="en-US" sz="1800" dirty="0"/>
          </a:p>
          <a:p>
            <a:pPr indent="0" marL="0">
              <a:buNone/>
            </a:pPr>
            <a:r>
              <a:rPr lang="en-US" sz="1400" dirty="0">
                <a:solidFill>
                  <a:srgbClr val="5F5F5F"/>
                </a:solidFill>
              </a:rPr>
              <a:t>Fotos del CEDI tomadas entre marzo y octubre de 2026.</a:t>
            </a:r>
            <a:endParaRPr lang="en-US" sz="1800" dirty="0"/>
          </a:p>
        </p:txBody>
      </p:sp>
      <p:sp>
        <p:nvSpPr>
          <p:cNvPr id="8" name="círculo Google Maps"/>
          <p:cNvSpPr/>
          <p:nvPr/>
        </p:nvSpPr>
        <p:spPr>
          <a:xfrm>
            <a:off x="6126480" y="2468880"/>
            <a:ext cx="731520" cy="731520"/>
          </a:xfrm>
          <a:prstGeom prst="ellipse">
            <a:avLst/>
          </a:prstGeom>
          <a:solidFill>
            <a:srgbClr val="CAD225"/>
          </a:solidFill>
          <a:ln w="12700">
            <a:solidFill>
              <a:srgbClr val="CAD225"/>
            </a:solidFill>
            <a:prstDash val="solid"/>
          </a:ln>
        </p:spPr>
      </p:sp>
      <p:pic>
        <p:nvPicPr>
          <p:cNvPr id="9" name="ícono Google Maps" descr="preencoded.png">    </p:cNvPr>
          <p:cNvPicPr>
            <a:picLocks noChangeAspect="1"/>
          </p:cNvPicPr>
          <p:nvPr/>
        </p:nvPicPr>
        <p:blipFill>
          <a:blip r:embed="rId2"/>
          <a:stretch>
            <a:fillRect/>
          </a:stretch>
        </p:blipFill>
        <p:spPr>
          <a:xfrm>
            <a:off x="6309360" y="2651760"/>
            <a:ext cx="365760" cy="365760"/>
          </a:xfrm>
          <a:prstGeom prst="rect">
            <a:avLst/>
          </a:prstGeom>
        </p:spPr>
      </p:pic>
      <p:sp>
        <p:nvSpPr>
          <p:cNvPr id="10" name="Text 6"/>
          <p:cNvSpPr txBox="1"/>
          <p:nvPr/>
        </p:nvSpPr>
        <p:spPr>
          <a:xfrm>
            <a:off x="7040880" y="2423160"/>
            <a:ext cx="4572000" cy="914400"/>
          </a:xfrm>
          <a:prstGeom prst="rect">
            <a:avLst/>
          </a:prstGeom>
          <a:noFill/>
          <a:ln/>
        </p:spPr>
        <p:txBody>
          <a:bodyPr wrap="square" lIns="0" tIns="0" rIns="0" bIns="0" rtlCol="0" anchor="t"/>
          <a:lstStyle/>
          <a:p>
            <a:pPr indent="0" marL="0">
              <a:buNone/>
            </a:pPr>
            <a:r>
              <a:rPr lang="en-US" sz="1800" b="1" dirty="0">
                <a:solidFill>
                  <a:srgbClr val="2E2E2E"/>
                </a:solidFill>
              </a:rPr>
              <a:t>Google Maps</a:t>
            </a:r>
            <a:endParaRPr lang="en-US" sz="1800" dirty="0"/>
          </a:p>
          <a:p>
            <a:pPr indent="0" marL="0">
              <a:buNone/>
            </a:pPr>
            <a:r>
              <a:rPr lang="en-US" sz="1400" dirty="0">
                <a:solidFill>
                  <a:srgbClr val="5F5F5F"/>
                </a:solidFill>
              </a:rPr>
              <a:t>Área del edificio (17.432 m²) y ruta desde los bomberos.</a:t>
            </a:r>
            <a:endParaRPr lang="en-US" sz="1800" dirty="0"/>
          </a:p>
        </p:txBody>
      </p:sp>
      <p:sp>
        <p:nvSpPr>
          <p:cNvPr id="11" name="círculo Personal del CEDI"/>
          <p:cNvSpPr/>
          <p:nvPr/>
        </p:nvSpPr>
        <p:spPr>
          <a:xfrm>
            <a:off x="6126480" y="3611880"/>
            <a:ext cx="731520" cy="731520"/>
          </a:xfrm>
          <a:prstGeom prst="ellipse">
            <a:avLst/>
          </a:prstGeom>
          <a:solidFill>
            <a:srgbClr val="CAD225"/>
          </a:solidFill>
          <a:ln w="12700">
            <a:solidFill>
              <a:srgbClr val="CAD225"/>
            </a:solidFill>
            <a:prstDash val="solid"/>
          </a:ln>
        </p:spPr>
      </p:sp>
      <p:pic>
        <p:nvPicPr>
          <p:cNvPr id="12" name="ícono Personal del CEDI" descr="preencoded.png">    </p:cNvPr>
          <p:cNvPicPr>
            <a:picLocks noChangeAspect="1"/>
          </p:cNvPicPr>
          <p:nvPr/>
        </p:nvPicPr>
        <p:blipFill>
          <a:blip r:embed="rId3"/>
          <a:stretch>
            <a:fillRect/>
          </a:stretch>
        </p:blipFill>
        <p:spPr>
          <a:xfrm>
            <a:off x="6309360" y="3794760"/>
            <a:ext cx="365760" cy="365760"/>
          </a:xfrm>
          <a:prstGeom prst="rect">
            <a:avLst/>
          </a:prstGeom>
        </p:spPr>
      </p:pic>
      <p:sp>
        <p:nvSpPr>
          <p:cNvPr id="13" name="Text 8"/>
          <p:cNvSpPr txBox="1"/>
          <p:nvPr/>
        </p:nvSpPr>
        <p:spPr>
          <a:xfrm>
            <a:off x="7040880" y="3566160"/>
            <a:ext cx="4572000" cy="914400"/>
          </a:xfrm>
          <a:prstGeom prst="rect">
            <a:avLst/>
          </a:prstGeom>
          <a:noFill/>
          <a:ln/>
        </p:spPr>
        <p:txBody>
          <a:bodyPr wrap="square" lIns="0" tIns="0" rIns="0" bIns="0" rtlCol="0" anchor="t"/>
          <a:lstStyle/>
          <a:p>
            <a:pPr indent="0" marL="0">
              <a:buNone/>
            </a:pPr>
            <a:r>
              <a:rPr lang="en-US" sz="1800" b="1" dirty="0">
                <a:solidFill>
                  <a:srgbClr val="2E2E2E"/>
                </a:solidFill>
              </a:rPr>
              <a:t>Personal del CEDI</a:t>
            </a:r>
            <a:endParaRPr lang="en-US" sz="1800" dirty="0"/>
          </a:p>
          <a:p>
            <a:pPr indent="0" marL="0">
              <a:buNone/>
            </a:pPr>
            <a:r>
              <a:rPr lang="en-US" sz="1400" dirty="0">
                <a:solidFill>
                  <a:srgbClr val="5F5F5F"/>
                </a:solidFill>
              </a:rPr>
              <a:t>Altura de estanterías, accesos, valor del inventario y brigada.</a:t>
            </a:r>
            <a:endParaRPr lang="en-US" sz="1800" dirty="0"/>
          </a:p>
        </p:txBody>
      </p:sp>
      <p:sp>
        <p:nvSpPr>
          <p:cNvPr id="14" name="círculo Material de clase"/>
          <p:cNvSpPr/>
          <p:nvPr/>
        </p:nvSpPr>
        <p:spPr>
          <a:xfrm>
            <a:off x="6126480" y="4754880"/>
            <a:ext cx="731520" cy="731520"/>
          </a:xfrm>
          <a:prstGeom prst="ellipse">
            <a:avLst/>
          </a:prstGeom>
          <a:solidFill>
            <a:srgbClr val="CAD225"/>
          </a:solidFill>
          <a:ln w="12700">
            <a:solidFill>
              <a:srgbClr val="CAD225"/>
            </a:solidFill>
            <a:prstDash val="solid"/>
          </a:ln>
        </p:spPr>
      </p:sp>
      <p:pic>
        <p:nvPicPr>
          <p:cNvPr id="15" name="ícono Material de clase" descr="preencoded.png">    </p:cNvPr>
          <p:cNvPicPr>
            <a:picLocks noChangeAspect="1"/>
          </p:cNvPicPr>
          <p:nvPr/>
        </p:nvPicPr>
        <p:blipFill>
          <a:blip r:embed="rId4"/>
          <a:stretch>
            <a:fillRect/>
          </a:stretch>
        </p:blipFill>
        <p:spPr>
          <a:xfrm>
            <a:off x="6309360" y="4937760"/>
            <a:ext cx="365760" cy="365760"/>
          </a:xfrm>
          <a:prstGeom prst="rect">
            <a:avLst/>
          </a:prstGeom>
        </p:spPr>
      </p:pic>
      <p:sp>
        <p:nvSpPr>
          <p:cNvPr id="16" name="Text 10"/>
          <p:cNvSpPr txBox="1"/>
          <p:nvPr/>
        </p:nvSpPr>
        <p:spPr>
          <a:xfrm>
            <a:off x="7040880" y="4709160"/>
            <a:ext cx="4572000" cy="914400"/>
          </a:xfrm>
          <a:prstGeom prst="rect">
            <a:avLst/>
          </a:prstGeom>
          <a:noFill/>
          <a:ln/>
        </p:spPr>
        <p:txBody>
          <a:bodyPr wrap="square" lIns="0" tIns="0" rIns="0" bIns="0" rtlCol="0" anchor="t"/>
          <a:lstStyle/>
          <a:p>
            <a:pPr indent="0" marL="0">
              <a:buNone/>
            </a:pPr>
            <a:r>
              <a:rPr lang="en-US" sz="1800" b="1" dirty="0">
                <a:solidFill>
                  <a:srgbClr val="2E2E2E"/>
                </a:solidFill>
              </a:rPr>
              <a:t>Material de clase</a:t>
            </a:r>
            <a:endParaRPr lang="en-US" sz="1800" dirty="0"/>
          </a:p>
          <a:p>
            <a:pPr indent="0" marL="0">
              <a:buNone/>
            </a:pPr>
            <a:r>
              <a:rPr lang="en-US" sz="1400" dirty="0">
                <a:solidFill>
                  <a:srgbClr val="5F5F5F"/>
                </a:solidFill>
              </a:rPr>
              <a:t>Tablas y criterios del Método MESERI.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El Centro de Distribución evaluado</a:t>
            </a:r>
            <a:endParaRPr lang="en-US" sz="3200" dirty="0"/>
          </a:p>
        </p:txBody>
      </p:sp>
      <p:pic>
        <p:nvPicPr>
          <p:cNvPr id="3" name="foto almacén" descr="/tmp/claude-0/-home-user-cedi-d1-lebrija/46e3a16f-f43b-510e-9032-e476e8d715c5/scratchpad/ppt/recortes/n_4_6.2x4.65.jpg">    </p:cNvPr>
          <p:cNvPicPr>
            <a:picLocks noChangeAspect="1"/>
          </p:cNvPicPr>
          <p:nvPr/>
        </p:nvPicPr>
        <p:blipFill>
          <a:blip r:embed="rId1"/>
          <a:stretch>
            <a:fillRect/>
          </a:stretch>
        </p:blipFill>
        <p:spPr>
          <a:xfrm>
            <a:off x="548640" y="1325880"/>
            <a:ext cx="5669280" cy="4251960"/>
          </a:xfrm>
          <a:prstGeom prst="rect">
            <a:avLst/>
          </a:prstGeom>
        </p:spPr>
      </p:pic>
      <p:sp>
        <p:nvSpPr>
          <p:cNvPr id="4" name="Text 1"/>
          <p:cNvSpPr txBox="1"/>
          <p:nvPr/>
        </p:nvSpPr>
        <p:spPr>
          <a:xfrm>
            <a:off x="548640" y="5650992"/>
            <a:ext cx="5669280" cy="320040"/>
          </a:xfrm>
          <a:prstGeom prst="rect">
            <a:avLst/>
          </a:prstGeom>
          <a:noFill/>
          <a:ln/>
        </p:spPr>
        <p:txBody>
          <a:bodyPr wrap="square" lIns="0" tIns="0" rIns="0" bIns="0" rtlCol="0" anchor="ctr"/>
          <a:lstStyle/>
          <a:p>
            <a:pPr indent="0" marL="0">
              <a:buNone/>
            </a:pPr>
            <a:r>
              <a:rPr lang="en-US" sz="1100" i="1" dirty="0">
                <a:solidFill>
                  <a:srgbClr val="5F5F5F"/>
                </a:solidFill>
              </a:rPr>
              <a:t>Bodega vista desde el mezanine de oficinas</a:t>
            </a:r>
            <a:endParaRPr lang="en-US" sz="1100" dirty="0"/>
          </a:p>
        </p:txBody>
      </p:sp>
      <p:sp>
        <p:nvSpPr>
          <p:cNvPr id="5" name="dato Área en un solo sector"/>
          <p:cNvSpPr/>
          <p:nvPr/>
        </p:nvSpPr>
        <p:spPr>
          <a:xfrm>
            <a:off x="6583680" y="1325880"/>
            <a:ext cx="2377440" cy="1600200"/>
          </a:xfrm>
          <a:prstGeom prst="roundRect">
            <a:avLst>
              <a:gd name="adj" fmla="val 6857"/>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6766560" y="1554480"/>
            <a:ext cx="2011680" cy="685800"/>
          </a:xfrm>
          <a:prstGeom prst="rect">
            <a:avLst/>
          </a:prstGeom>
          <a:noFill/>
          <a:ln/>
        </p:spPr>
        <p:txBody>
          <a:bodyPr wrap="square" lIns="0" tIns="0" rIns="0" bIns="0" rtlCol="0" anchor="ctr"/>
          <a:lstStyle/>
          <a:p>
            <a:pPr indent="0" marL="0">
              <a:buNone/>
            </a:pPr>
            <a:r>
              <a:rPr lang="en-US" sz="3000" b="1" dirty="0">
                <a:solidFill>
                  <a:srgbClr val="2E2E2E"/>
                </a:solidFill>
              </a:rPr>
              <a:t>17.432 m²</a:t>
            </a:r>
            <a:endParaRPr lang="en-US" sz="3000" dirty="0"/>
          </a:p>
        </p:txBody>
      </p:sp>
      <p:sp>
        <p:nvSpPr>
          <p:cNvPr id="7" name="Text 4"/>
          <p:cNvSpPr txBox="1"/>
          <p:nvPr/>
        </p:nvSpPr>
        <p:spPr>
          <a:xfrm>
            <a:off x="6766560" y="2240280"/>
            <a:ext cx="2011680" cy="502920"/>
          </a:xfrm>
          <a:prstGeom prst="rect">
            <a:avLst/>
          </a:prstGeom>
          <a:noFill/>
          <a:ln/>
        </p:spPr>
        <p:txBody>
          <a:bodyPr wrap="square" lIns="0" tIns="0" rIns="0" bIns="0" rtlCol="0" anchor="t"/>
          <a:lstStyle/>
          <a:p>
            <a:pPr indent="0" marL="0">
              <a:buNone/>
            </a:pPr>
            <a:r>
              <a:rPr lang="en-US" sz="1400" dirty="0">
                <a:solidFill>
                  <a:srgbClr val="5F5F5F"/>
                </a:solidFill>
              </a:rPr>
              <a:t>Área en un solo sector</a:t>
            </a:r>
            <a:endParaRPr lang="en-US" sz="1400" dirty="0"/>
          </a:p>
        </p:txBody>
      </p:sp>
      <p:sp>
        <p:nvSpPr>
          <p:cNvPr id="8" name="dato Altura del edificio"/>
          <p:cNvSpPr/>
          <p:nvPr/>
        </p:nvSpPr>
        <p:spPr>
          <a:xfrm>
            <a:off x="9189720" y="1325880"/>
            <a:ext cx="2377440" cy="1600200"/>
          </a:xfrm>
          <a:prstGeom prst="roundRect">
            <a:avLst>
              <a:gd name="adj" fmla="val 6857"/>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9372600" y="1554480"/>
            <a:ext cx="2011680" cy="685800"/>
          </a:xfrm>
          <a:prstGeom prst="rect">
            <a:avLst/>
          </a:prstGeom>
          <a:noFill/>
          <a:ln/>
        </p:spPr>
        <p:txBody>
          <a:bodyPr wrap="square" lIns="0" tIns="0" rIns="0" bIns="0" rtlCol="0" anchor="ctr"/>
          <a:lstStyle/>
          <a:p>
            <a:pPr indent="0" marL="0">
              <a:buNone/>
            </a:pPr>
            <a:r>
              <a:rPr lang="en-US" sz="3000" b="1" dirty="0">
                <a:solidFill>
                  <a:srgbClr val="2E2E2E"/>
                </a:solidFill>
              </a:rPr>
              <a:t>18 m</a:t>
            </a:r>
            <a:endParaRPr lang="en-US" sz="3000" dirty="0"/>
          </a:p>
        </p:txBody>
      </p:sp>
      <p:sp>
        <p:nvSpPr>
          <p:cNvPr id="10" name="Text 7"/>
          <p:cNvSpPr txBox="1"/>
          <p:nvPr/>
        </p:nvSpPr>
        <p:spPr>
          <a:xfrm>
            <a:off x="9372600" y="2240280"/>
            <a:ext cx="2011680" cy="502920"/>
          </a:xfrm>
          <a:prstGeom prst="rect">
            <a:avLst/>
          </a:prstGeom>
          <a:noFill/>
          <a:ln/>
        </p:spPr>
        <p:txBody>
          <a:bodyPr wrap="square" lIns="0" tIns="0" rIns="0" bIns="0" rtlCol="0" anchor="t"/>
          <a:lstStyle/>
          <a:p>
            <a:pPr indent="0" marL="0">
              <a:buNone/>
            </a:pPr>
            <a:r>
              <a:rPr lang="en-US" sz="1400" dirty="0">
                <a:solidFill>
                  <a:srgbClr val="5F5F5F"/>
                </a:solidFill>
              </a:rPr>
              <a:t>Altura del edificio</a:t>
            </a:r>
            <a:endParaRPr lang="en-US" sz="1400" dirty="0"/>
          </a:p>
        </p:txBody>
      </p:sp>
      <p:sp>
        <p:nvSpPr>
          <p:cNvPr id="11" name="dato Altura de las estanterías"/>
          <p:cNvSpPr/>
          <p:nvPr/>
        </p:nvSpPr>
        <p:spPr>
          <a:xfrm>
            <a:off x="6583680" y="3154680"/>
            <a:ext cx="2377440" cy="1600200"/>
          </a:xfrm>
          <a:prstGeom prst="roundRect">
            <a:avLst>
              <a:gd name="adj" fmla="val 6857"/>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6766560" y="3383280"/>
            <a:ext cx="2011680" cy="685800"/>
          </a:xfrm>
          <a:prstGeom prst="rect">
            <a:avLst/>
          </a:prstGeom>
          <a:noFill/>
          <a:ln/>
        </p:spPr>
        <p:txBody>
          <a:bodyPr wrap="square" lIns="0" tIns="0" rIns="0" bIns="0" rtlCol="0" anchor="ctr"/>
          <a:lstStyle/>
          <a:p>
            <a:pPr indent="0" marL="0">
              <a:buNone/>
            </a:pPr>
            <a:r>
              <a:rPr lang="en-US" sz="3000" b="1" dirty="0">
                <a:solidFill>
                  <a:srgbClr val="2E2E2E"/>
                </a:solidFill>
              </a:rPr>
              <a:t>≈ 10 m</a:t>
            </a:r>
            <a:endParaRPr lang="en-US" sz="3000" dirty="0"/>
          </a:p>
        </p:txBody>
      </p:sp>
      <p:sp>
        <p:nvSpPr>
          <p:cNvPr id="13" name="Text 10"/>
          <p:cNvSpPr txBox="1"/>
          <p:nvPr/>
        </p:nvSpPr>
        <p:spPr>
          <a:xfrm>
            <a:off x="6766560" y="4069080"/>
            <a:ext cx="2011680" cy="502920"/>
          </a:xfrm>
          <a:prstGeom prst="rect">
            <a:avLst/>
          </a:prstGeom>
          <a:noFill/>
          <a:ln/>
        </p:spPr>
        <p:txBody>
          <a:bodyPr wrap="square" lIns="0" tIns="0" rIns="0" bIns="0" rtlCol="0" anchor="t"/>
          <a:lstStyle/>
          <a:p>
            <a:pPr indent="0" marL="0">
              <a:buNone/>
            </a:pPr>
            <a:r>
              <a:rPr lang="en-US" sz="1400" dirty="0">
                <a:solidFill>
                  <a:srgbClr val="5F5F5F"/>
                </a:solidFill>
              </a:rPr>
              <a:t>Altura de las estanterías</a:t>
            </a:r>
            <a:endParaRPr lang="en-US" sz="1400" dirty="0"/>
          </a:p>
        </p:txBody>
      </p:sp>
      <p:sp>
        <p:nvSpPr>
          <p:cNvPr id="14" name="dato Valor del inventario (COP)"/>
          <p:cNvSpPr/>
          <p:nvPr/>
        </p:nvSpPr>
        <p:spPr>
          <a:xfrm>
            <a:off x="9189720" y="3154680"/>
            <a:ext cx="2377440" cy="1600200"/>
          </a:xfrm>
          <a:prstGeom prst="roundRect">
            <a:avLst>
              <a:gd name="adj" fmla="val 6857"/>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15" name="Text 12"/>
          <p:cNvSpPr txBox="1"/>
          <p:nvPr/>
        </p:nvSpPr>
        <p:spPr>
          <a:xfrm>
            <a:off x="9372600" y="3383280"/>
            <a:ext cx="2011680" cy="685800"/>
          </a:xfrm>
          <a:prstGeom prst="rect">
            <a:avLst/>
          </a:prstGeom>
          <a:noFill/>
          <a:ln/>
        </p:spPr>
        <p:txBody>
          <a:bodyPr wrap="square" lIns="0" tIns="0" rIns="0" bIns="0" rtlCol="0" anchor="ctr"/>
          <a:lstStyle/>
          <a:p>
            <a:pPr indent="0" marL="0">
              <a:buNone/>
            </a:pPr>
            <a:r>
              <a:rPr lang="en-US" sz="3000" b="1" dirty="0">
                <a:solidFill>
                  <a:srgbClr val="2E2E2E"/>
                </a:solidFill>
              </a:rPr>
              <a:t>$500.000 M</a:t>
            </a:r>
            <a:endParaRPr lang="en-US" sz="3000" dirty="0"/>
          </a:p>
        </p:txBody>
      </p:sp>
      <p:sp>
        <p:nvSpPr>
          <p:cNvPr id="16" name="Text 13"/>
          <p:cNvSpPr txBox="1"/>
          <p:nvPr/>
        </p:nvSpPr>
        <p:spPr>
          <a:xfrm>
            <a:off x="9372600" y="4069080"/>
            <a:ext cx="2011680" cy="502920"/>
          </a:xfrm>
          <a:prstGeom prst="rect">
            <a:avLst/>
          </a:prstGeom>
          <a:noFill/>
          <a:ln/>
        </p:spPr>
        <p:txBody>
          <a:bodyPr wrap="square" lIns="0" tIns="0" rIns="0" bIns="0" rtlCol="0" anchor="t"/>
          <a:lstStyle/>
          <a:p>
            <a:pPr indent="0" marL="0">
              <a:buNone/>
            </a:pPr>
            <a:r>
              <a:rPr lang="en-US" sz="1400" dirty="0">
                <a:solidFill>
                  <a:srgbClr val="5F5F5F"/>
                </a:solidFill>
              </a:rPr>
              <a:t>Valor del inventario (COP)</a:t>
            </a:r>
            <a:endParaRPr lang="en-US" sz="1400" dirty="0"/>
          </a:p>
        </p:txBody>
      </p:sp>
      <p:sp>
        <p:nvSpPr>
          <p:cNvPr id="17" name="Text 14"/>
          <p:cNvSpPr txBox="1"/>
          <p:nvPr/>
        </p:nvSpPr>
        <p:spPr>
          <a:xfrm>
            <a:off x="6583680" y="5074920"/>
            <a:ext cx="4983480" cy="868680"/>
          </a:xfrm>
          <a:prstGeom prst="rect">
            <a:avLst/>
          </a:prstGeom>
          <a:noFill/>
          <a:ln/>
        </p:spPr>
        <p:txBody>
          <a:bodyPr wrap="square" lIns="0" tIns="0" rIns="0" bIns="0" rtlCol="0" anchor="t"/>
          <a:lstStyle/>
          <a:p>
            <a:pPr indent="0" marL="0">
              <a:buNone/>
            </a:pPr>
            <a:r>
              <a:rPr lang="en-US" sz="1400" dirty="0">
                <a:solidFill>
                  <a:srgbClr val="2E2E2E"/>
                </a:solidFill>
              </a:rPr>
              <a:t>Tiendas D1 – Koba Colombia S.A.S. · Sector San Pablo, Lebrija. Bodega con estanterías, cava de frío, muelles y mezanine con oficinas y comedor.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¿Cómo funciona el método MESERI?</a:t>
            </a:r>
            <a:endParaRPr lang="en-US" sz="3200" dirty="0"/>
          </a:p>
        </p:txBody>
      </p:sp>
      <p:sp>
        <p:nvSpPr>
          <p:cNvPr id="3" name="fórmula"/>
          <p:cNvSpPr/>
          <p:nvPr/>
        </p:nvSpPr>
        <p:spPr>
          <a:xfrm>
            <a:off x="548640" y="1280160"/>
            <a:ext cx="11091672" cy="1143000"/>
          </a:xfrm>
          <a:prstGeom prst="roundRect">
            <a:avLst>
              <a:gd name="adj" fmla="val 9600"/>
            </a:avLst>
          </a:prstGeom>
          <a:solidFill>
            <a:srgbClr val="3B3B3B"/>
          </a:solidFill>
          <a:ln w="12700">
            <a:solidFill>
              <a:srgbClr val="3B3B3B"/>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548640" y="1280160"/>
            <a:ext cx="11091672" cy="1143000"/>
          </a:xfrm>
          <a:prstGeom prst="rect">
            <a:avLst/>
          </a:prstGeom>
          <a:noFill/>
          <a:ln/>
        </p:spPr>
        <p:txBody>
          <a:bodyPr wrap="square" lIns="0" tIns="0" rIns="0" bIns="0" rtlCol="0" anchor="ctr"/>
          <a:lstStyle/>
          <a:p>
            <a:pPr algn="ctr" indent="0" marL="0">
              <a:buNone/>
            </a:pPr>
            <a:r>
              <a:rPr lang="en-US" sz="3600" b="1" dirty="0">
                <a:solidFill>
                  <a:srgbClr val="CAD225"/>
                </a:solidFill>
              </a:rPr>
              <a:t>P</a:t>
            </a:r>
            <a:pPr algn="ctr" indent="0" marL="0">
              <a:buNone/>
            </a:pPr>
            <a:r>
              <a:rPr lang="en-US" sz="3600" b="1" dirty="0">
                <a:solidFill>
                  <a:srgbClr val="FFFFFF"/>
                </a:solidFill>
              </a:rPr>
              <a:t>  =  5X / 129  +  5Y / 26  +  BCI</a:t>
            </a:r>
            <a:endParaRPr lang="en-US" sz="3600" dirty="0"/>
          </a:p>
        </p:txBody>
      </p:sp>
      <p:sp>
        <p:nvSpPr>
          <p:cNvPr id="5" name="círculo X · Factores propios"/>
          <p:cNvSpPr/>
          <p:nvPr/>
        </p:nvSpPr>
        <p:spPr>
          <a:xfrm>
            <a:off x="548640" y="2743200"/>
            <a:ext cx="685800" cy="685800"/>
          </a:xfrm>
          <a:prstGeom prst="ellipse">
            <a:avLst/>
          </a:prstGeom>
          <a:solidFill>
            <a:srgbClr val="CAD225"/>
          </a:solidFill>
          <a:ln w="12700">
            <a:solidFill>
              <a:srgbClr val="CAD225"/>
            </a:solidFill>
            <a:prstDash val="solid"/>
          </a:ln>
        </p:spPr>
      </p:sp>
      <p:pic>
        <p:nvPicPr>
          <p:cNvPr id="6" name="ícono X · Factores propios" descr="preencoded.png">    </p:cNvPr>
          <p:cNvPicPr>
            <a:picLocks noChangeAspect="1"/>
          </p:cNvPicPr>
          <p:nvPr/>
        </p:nvPicPr>
        <p:blipFill>
          <a:blip r:embed="rId1"/>
          <a:stretch>
            <a:fillRect/>
          </a:stretch>
        </p:blipFill>
        <p:spPr>
          <a:xfrm>
            <a:off x="713232" y="2907792"/>
            <a:ext cx="356616" cy="356616"/>
          </a:xfrm>
          <a:prstGeom prst="rect">
            <a:avLst/>
          </a:prstGeom>
        </p:spPr>
      </p:pic>
      <p:sp>
        <p:nvSpPr>
          <p:cNvPr id="7" name="Text 4"/>
          <p:cNvSpPr txBox="1"/>
          <p:nvPr/>
        </p:nvSpPr>
        <p:spPr>
          <a:xfrm>
            <a:off x="1371600" y="2743200"/>
            <a:ext cx="2651760" cy="685800"/>
          </a:xfrm>
          <a:prstGeom prst="rect">
            <a:avLst/>
          </a:prstGeom>
          <a:noFill/>
          <a:ln/>
        </p:spPr>
        <p:txBody>
          <a:bodyPr wrap="square" lIns="0" tIns="0" rIns="0" bIns="0" rtlCol="0" anchor="ctr"/>
          <a:lstStyle/>
          <a:p>
            <a:pPr indent="0" marL="0">
              <a:buNone/>
            </a:pPr>
            <a:r>
              <a:rPr lang="en-US" sz="1800" b="1" dirty="0">
                <a:solidFill>
                  <a:srgbClr val="2E2E2E"/>
                </a:solidFill>
              </a:rPr>
              <a:t>X · Factores propios</a:t>
            </a:r>
            <a:endParaRPr lang="en-US" sz="1800" dirty="0"/>
          </a:p>
        </p:txBody>
      </p:sp>
      <p:sp>
        <p:nvSpPr>
          <p:cNvPr id="8" name="Text 5"/>
          <p:cNvSpPr txBox="1"/>
          <p:nvPr/>
        </p:nvSpPr>
        <p:spPr>
          <a:xfrm>
            <a:off x="548640" y="3566160"/>
            <a:ext cx="3474720" cy="914400"/>
          </a:xfrm>
          <a:prstGeom prst="rect">
            <a:avLst/>
          </a:prstGeom>
          <a:noFill/>
          <a:ln/>
        </p:spPr>
        <p:txBody>
          <a:bodyPr wrap="square" lIns="0" tIns="0" rIns="0" bIns="0" rtlCol="0" anchor="t"/>
          <a:lstStyle/>
          <a:p>
            <a:pPr indent="0" marL="0">
              <a:buNone/>
            </a:pPr>
            <a:r>
              <a:rPr lang="en-US" sz="1400" dirty="0">
                <a:solidFill>
                  <a:srgbClr val="5F5F5F"/>
                </a:solidFill>
              </a:rPr>
              <a:t>Construcción, situación, procesos, concentración, propagabilidad y destructibilidad. Máximo 129 puntos.</a:t>
            </a:r>
            <a:endParaRPr lang="en-US" sz="1400" dirty="0"/>
          </a:p>
        </p:txBody>
      </p:sp>
      <p:sp>
        <p:nvSpPr>
          <p:cNvPr id="9" name="círculo Y · Protección"/>
          <p:cNvSpPr/>
          <p:nvPr/>
        </p:nvSpPr>
        <p:spPr>
          <a:xfrm>
            <a:off x="4325112" y="2743200"/>
            <a:ext cx="685800" cy="685800"/>
          </a:xfrm>
          <a:prstGeom prst="ellipse">
            <a:avLst/>
          </a:prstGeom>
          <a:solidFill>
            <a:srgbClr val="CAD225"/>
          </a:solidFill>
          <a:ln w="12700">
            <a:solidFill>
              <a:srgbClr val="CAD225"/>
            </a:solidFill>
            <a:prstDash val="solid"/>
          </a:ln>
        </p:spPr>
      </p:sp>
      <p:pic>
        <p:nvPicPr>
          <p:cNvPr id="10" name="ícono Y · Protección" descr="preencoded.png">    </p:cNvPr>
          <p:cNvPicPr>
            <a:picLocks noChangeAspect="1"/>
          </p:cNvPicPr>
          <p:nvPr/>
        </p:nvPicPr>
        <p:blipFill>
          <a:blip r:embed="rId2"/>
          <a:stretch>
            <a:fillRect/>
          </a:stretch>
        </p:blipFill>
        <p:spPr>
          <a:xfrm>
            <a:off x="4489704" y="2907792"/>
            <a:ext cx="356616" cy="356616"/>
          </a:xfrm>
          <a:prstGeom prst="rect">
            <a:avLst/>
          </a:prstGeom>
        </p:spPr>
      </p:pic>
      <p:sp>
        <p:nvSpPr>
          <p:cNvPr id="11" name="Text 7"/>
          <p:cNvSpPr txBox="1"/>
          <p:nvPr/>
        </p:nvSpPr>
        <p:spPr>
          <a:xfrm>
            <a:off x="5148072" y="2743200"/>
            <a:ext cx="2651760" cy="685800"/>
          </a:xfrm>
          <a:prstGeom prst="rect">
            <a:avLst/>
          </a:prstGeom>
          <a:noFill/>
          <a:ln/>
        </p:spPr>
        <p:txBody>
          <a:bodyPr wrap="square" lIns="0" tIns="0" rIns="0" bIns="0" rtlCol="0" anchor="ctr"/>
          <a:lstStyle/>
          <a:p>
            <a:pPr indent="0" marL="0">
              <a:buNone/>
            </a:pPr>
            <a:r>
              <a:rPr lang="en-US" sz="1800" b="1" dirty="0">
                <a:solidFill>
                  <a:srgbClr val="2E2E2E"/>
                </a:solidFill>
              </a:rPr>
              <a:t>Y · Protección</a:t>
            </a:r>
            <a:endParaRPr lang="en-US" sz="1800" dirty="0"/>
          </a:p>
        </p:txBody>
      </p:sp>
      <p:sp>
        <p:nvSpPr>
          <p:cNvPr id="12" name="Text 8"/>
          <p:cNvSpPr txBox="1"/>
          <p:nvPr/>
        </p:nvSpPr>
        <p:spPr>
          <a:xfrm>
            <a:off x="4325112" y="3566160"/>
            <a:ext cx="3474720" cy="914400"/>
          </a:xfrm>
          <a:prstGeom prst="rect">
            <a:avLst/>
          </a:prstGeom>
          <a:noFill/>
          <a:ln/>
        </p:spPr>
        <p:txBody>
          <a:bodyPr wrap="square" lIns="0" tIns="0" rIns="0" bIns="0" rtlCol="0" anchor="t"/>
          <a:lstStyle/>
          <a:p>
            <a:pPr indent="0" marL="0">
              <a:buNone/>
            </a:pPr>
            <a:r>
              <a:rPr lang="en-US" sz="1400" dirty="0">
                <a:solidFill>
                  <a:srgbClr val="5F5F5F"/>
                </a:solidFill>
              </a:rPr>
              <a:t>Extintores, gabinetes, hidrantes, detección, rociadores y agentes gaseosos. Máximo 26 puntos.</a:t>
            </a:r>
            <a:endParaRPr lang="en-US" sz="1400" dirty="0"/>
          </a:p>
        </p:txBody>
      </p:sp>
      <p:sp>
        <p:nvSpPr>
          <p:cNvPr id="13" name="círculo BCI · Brigada"/>
          <p:cNvSpPr/>
          <p:nvPr/>
        </p:nvSpPr>
        <p:spPr>
          <a:xfrm>
            <a:off x="8101584" y="2743200"/>
            <a:ext cx="685800" cy="685800"/>
          </a:xfrm>
          <a:prstGeom prst="ellipse">
            <a:avLst/>
          </a:prstGeom>
          <a:solidFill>
            <a:srgbClr val="CAD225"/>
          </a:solidFill>
          <a:ln w="12700">
            <a:solidFill>
              <a:srgbClr val="CAD225"/>
            </a:solidFill>
            <a:prstDash val="solid"/>
          </a:ln>
        </p:spPr>
      </p:sp>
      <p:pic>
        <p:nvPicPr>
          <p:cNvPr id="14" name="ícono BCI · Brigada" descr="preencoded.png">    </p:cNvPr>
          <p:cNvPicPr>
            <a:picLocks noChangeAspect="1"/>
          </p:cNvPicPr>
          <p:nvPr/>
        </p:nvPicPr>
        <p:blipFill>
          <a:blip r:embed="rId3"/>
          <a:stretch>
            <a:fillRect/>
          </a:stretch>
        </p:blipFill>
        <p:spPr>
          <a:xfrm>
            <a:off x="8266176" y="2907792"/>
            <a:ext cx="356616" cy="356616"/>
          </a:xfrm>
          <a:prstGeom prst="rect">
            <a:avLst/>
          </a:prstGeom>
        </p:spPr>
      </p:pic>
      <p:sp>
        <p:nvSpPr>
          <p:cNvPr id="15" name="Text 10"/>
          <p:cNvSpPr txBox="1"/>
          <p:nvPr/>
        </p:nvSpPr>
        <p:spPr>
          <a:xfrm>
            <a:off x="8924544" y="2743200"/>
            <a:ext cx="2651760" cy="685800"/>
          </a:xfrm>
          <a:prstGeom prst="rect">
            <a:avLst/>
          </a:prstGeom>
          <a:noFill/>
          <a:ln/>
        </p:spPr>
        <p:txBody>
          <a:bodyPr wrap="square" lIns="0" tIns="0" rIns="0" bIns="0" rtlCol="0" anchor="ctr"/>
          <a:lstStyle/>
          <a:p>
            <a:pPr indent="0" marL="0">
              <a:buNone/>
            </a:pPr>
            <a:r>
              <a:rPr lang="en-US" sz="1800" b="1" dirty="0">
                <a:solidFill>
                  <a:srgbClr val="2E2E2E"/>
                </a:solidFill>
              </a:rPr>
              <a:t>BCI · Brigada</a:t>
            </a:r>
            <a:endParaRPr lang="en-US" sz="1800" dirty="0"/>
          </a:p>
        </p:txBody>
      </p:sp>
      <p:sp>
        <p:nvSpPr>
          <p:cNvPr id="16" name="Text 11"/>
          <p:cNvSpPr txBox="1"/>
          <p:nvPr/>
        </p:nvSpPr>
        <p:spPr>
          <a:xfrm>
            <a:off x="8101584" y="3566160"/>
            <a:ext cx="3474720" cy="914400"/>
          </a:xfrm>
          <a:prstGeom prst="rect">
            <a:avLst/>
          </a:prstGeom>
          <a:noFill/>
          <a:ln/>
        </p:spPr>
        <p:txBody>
          <a:bodyPr wrap="square" lIns="0" tIns="0" rIns="0" bIns="0" rtlCol="0" anchor="t"/>
          <a:lstStyle/>
          <a:p>
            <a:pPr indent="0" marL="0">
              <a:buNone/>
            </a:pPr>
            <a:r>
              <a:rPr lang="en-US" sz="1400" dirty="0">
                <a:solidFill>
                  <a:srgbClr val="5F5F5F"/>
                </a:solidFill>
              </a:rPr>
              <a:t>Suma 1 punto si existe una brigada contra incendios; si no, 0.</a:t>
            </a:r>
            <a:endParaRPr lang="en-US" sz="1400" dirty="0"/>
          </a:p>
        </p:txBody>
      </p:sp>
      <p:sp>
        <p:nvSpPr>
          <p:cNvPr id="17" name="Text 12"/>
          <p:cNvSpPr txBox="1"/>
          <p:nvPr/>
        </p:nvSpPr>
        <p:spPr>
          <a:xfrm>
            <a:off x="548640" y="4663440"/>
            <a:ext cx="11091672" cy="365760"/>
          </a:xfrm>
          <a:prstGeom prst="rect">
            <a:avLst/>
          </a:prstGeom>
          <a:noFill/>
          <a:ln/>
        </p:spPr>
        <p:txBody>
          <a:bodyPr wrap="square" lIns="0" tIns="0" rIns="0" bIns="0" rtlCol="0" anchor="ctr"/>
          <a:lstStyle/>
          <a:p>
            <a:pPr indent="0" marL="0">
              <a:buNone/>
            </a:pPr>
            <a:r>
              <a:rPr lang="en-US" sz="1400" b="1" dirty="0">
                <a:solidFill>
                  <a:srgbClr val="2E2E2E"/>
                </a:solidFill>
              </a:rPr>
              <a:t>P va de 0 a 10: mientras más alto, más protegido está el lugar. Desde 5 es aceptable.</a:t>
            </a:r>
            <a:endParaRPr lang="en-US" sz="1400" dirty="0"/>
          </a:p>
        </p:txBody>
      </p:sp>
      <p:sp>
        <p:nvSpPr>
          <p:cNvPr id="18" name="escala Muy malo"/>
          <p:cNvSpPr/>
          <p:nvPr/>
        </p:nvSpPr>
        <p:spPr>
          <a:xfrm>
            <a:off x="548640" y="5120640"/>
            <a:ext cx="2651760" cy="914400"/>
          </a:xfrm>
          <a:prstGeom prst="roundRect">
            <a:avLst>
              <a:gd name="adj" fmla="val 10000"/>
            </a:avLst>
          </a:prstGeom>
          <a:solidFill>
            <a:srgbClr val="E8836F"/>
          </a:solidFill>
          <a:ln w="12700">
            <a:solidFill>
              <a:srgbClr val="E8836F"/>
            </a:solidFill>
            <a:prstDash val="solid"/>
          </a:ln>
        </p:spPr>
      </p:sp>
      <p:sp>
        <p:nvSpPr>
          <p:cNvPr id="19" name="Text 14"/>
          <p:cNvSpPr txBox="1"/>
          <p:nvPr/>
        </p:nvSpPr>
        <p:spPr>
          <a:xfrm>
            <a:off x="548640" y="5120640"/>
            <a:ext cx="2651760" cy="914400"/>
          </a:xfrm>
          <a:prstGeom prst="rect">
            <a:avLst/>
          </a:prstGeom>
          <a:noFill/>
          <a:ln/>
        </p:spPr>
        <p:txBody>
          <a:bodyPr wrap="square" lIns="0" tIns="0" rIns="0" bIns="0" rtlCol="0" anchor="ctr"/>
          <a:lstStyle/>
          <a:p>
            <a:pPr algn="ctr" indent="0" marL="0">
              <a:buNone/>
            </a:pPr>
            <a:r>
              <a:rPr lang="en-US" sz="1800" b="1" dirty="0">
                <a:solidFill>
                  <a:srgbClr val="2E2E2E"/>
                </a:solidFill>
              </a:rPr>
              <a:t>Menos de 3</a:t>
            </a:r>
            <a:endParaRPr lang="en-US" sz="1800" dirty="0"/>
          </a:p>
          <a:p>
            <a:pPr algn="ctr" indent="0" marL="0">
              <a:buNone/>
            </a:pPr>
            <a:r>
              <a:rPr lang="en-US" sz="1400" dirty="0">
                <a:solidFill>
                  <a:srgbClr val="2E2E2E"/>
                </a:solidFill>
              </a:rPr>
              <a:t>Muy malo</a:t>
            </a:r>
            <a:endParaRPr lang="en-US" sz="1800" dirty="0"/>
          </a:p>
        </p:txBody>
      </p:sp>
      <p:sp>
        <p:nvSpPr>
          <p:cNvPr id="20" name="escala Malo"/>
          <p:cNvSpPr/>
          <p:nvPr/>
        </p:nvSpPr>
        <p:spPr>
          <a:xfrm>
            <a:off x="3346704" y="5120640"/>
            <a:ext cx="2651760" cy="914400"/>
          </a:xfrm>
          <a:prstGeom prst="roundRect">
            <a:avLst>
              <a:gd name="adj" fmla="val 10000"/>
            </a:avLst>
          </a:prstGeom>
          <a:solidFill>
            <a:srgbClr val="F2B76B"/>
          </a:solidFill>
          <a:ln w="12700">
            <a:solidFill>
              <a:srgbClr val="F2B76B"/>
            </a:solidFill>
            <a:prstDash val="solid"/>
          </a:ln>
        </p:spPr>
      </p:sp>
      <p:sp>
        <p:nvSpPr>
          <p:cNvPr id="21" name="Text 16"/>
          <p:cNvSpPr txBox="1"/>
          <p:nvPr/>
        </p:nvSpPr>
        <p:spPr>
          <a:xfrm>
            <a:off x="3346704" y="5120640"/>
            <a:ext cx="2651760" cy="914400"/>
          </a:xfrm>
          <a:prstGeom prst="rect">
            <a:avLst/>
          </a:prstGeom>
          <a:noFill/>
          <a:ln/>
        </p:spPr>
        <p:txBody>
          <a:bodyPr wrap="square" lIns="0" tIns="0" rIns="0" bIns="0" rtlCol="0" anchor="ctr"/>
          <a:lstStyle/>
          <a:p>
            <a:pPr algn="ctr" indent="0" marL="0">
              <a:buNone/>
            </a:pPr>
            <a:r>
              <a:rPr lang="en-US" sz="1800" b="1" dirty="0">
                <a:solidFill>
                  <a:srgbClr val="2E2E2E"/>
                </a:solidFill>
              </a:rPr>
              <a:t>3 a 5</a:t>
            </a:r>
            <a:endParaRPr lang="en-US" sz="1800" dirty="0"/>
          </a:p>
          <a:p>
            <a:pPr algn="ctr" indent="0" marL="0">
              <a:buNone/>
            </a:pPr>
            <a:r>
              <a:rPr lang="en-US" sz="1400" dirty="0">
                <a:solidFill>
                  <a:srgbClr val="2E2E2E"/>
                </a:solidFill>
              </a:rPr>
              <a:t>Malo</a:t>
            </a:r>
            <a:endParaRPr lang="en-US" sz="1800" dirty="0"/>
          </a:p>
        </p:txBody>
      </p:sp>
      <p:sp>
        <p:nvSpPr>
          <p:cNvPr id="22" name="escala Bueno"/>
          <p:cNvSpPr/>
          <p:nvPr/>
        </p:nvSpPr>
        <p:spPr>
          <a:xfrm>
            <a:off x="6144768" y="5120640"/>
            <a:ext cx="2651760" cy="914400"/>
          </a:xfrm>
          <a:prstGeom prst="roundRect">
            <a:avLst>
              <a:gd name="adj" fmla="val 10000"/>
            </a:avLst>
          </a:prstGeom>
          <a:solidFill>
            <a:srgbClr val="F4F7D3"/>
          </a:solidFill>
          <a:ln w="12700">
            <a:solidFill>
              <a:srgbClr val="F4F7D3"/>
            </a:solidFill>
            <a:prstDash val="solid"/>
          </a:ln>
        </p:spPr>
      </p:sp>
      <p:sp>
        <p:nvSpPr>
          <p:cNvPr id="23" name="Text 18"/>
          <p:cNvSpPr txBox="1"/>
          <p:nvPr/>
        </p:nvSpPr>
        <p:spPr>
          <a:xfrm>
            <a:off x="6144768" y="5120640"/>
            <a:ext cx="2651760" cy="914400"/>
          </a:xfrm>
          <a:prstGeom prst="rect">
            <a:avLst/>
          </a:prstGeom>
          <a:noFill/>
          <a:ln/>
        </p:spPr>
        <p:txBody>
          <a:bodyPr wrap="square" lIns="0" tIns="0" rIns="0" bIns="0" rtlCol="0" anchor="ctr"/>
          <a:lstStyle/>
          <a:p>
            <a:pPr algn="ctr" indent="0" marL="0">
              <a:buNone/>
            </a:pPr>
            <a:r>
              <a:rPr lang="en-US" sz="1800" b="1" dirty="0">
                <a:solidFill>
                  <a:srgbClr val="2E2E2E"/>
                </a:solidFill>
              </a:rPr>
              <a:t>5 a 8</a:t>
            </a:r>
            <a:endParaRPr lang="en-US" sz="1800" dirty="0"/>
          </a:p>
          <a:p>
            <a:pPr algn="ctr" indent="0" marL="0">
              <a:buNone/>
            </a:pPr>
            <a:r>
              <a:rPr lang="en-US" sz="1400" dirty="0">
                <a:solidFill>
                  <a:srgbClr val="2E2E2E"/>
                </a:solidFill>
              </a:rPr>
              <a:t>Bueno</a:t>
            </a:r>
            <a:endParaRPr lang="en-US" sz="1800" dirty="0"/>
          </a:p>
        </p:txBody>
      </p:sp>
      <p:sp>
        <p:nvSpPr>
          <p:cNvPr id="24" name="escala Muy bueno"/>
          <p:cNvSpPr/>
          <p:nvPr/>
        </p:nvSpPr>
        <p:spPr>
          <a:xfrm>
            <a:off x="8942832" y="5120640"/>
            <a:ext cx="2651760" cy="914400"/>
          </a:xfrm>
          <a:prstGeom prst="roundRect">
            <a:avLst>
              <a:gd name="adj" fmla="val 10000"/>
            </a:avLst>
          </a:prstGeom>
          <a:solidFill>
            <a:srgbClr val="CAD225"/>
          </a:solidFill>
          <a:ln w="12700">
            <a:solidFill>
              <a:srgbClr val="CAD225"/>
            </a:solidFill>
            <a:prstDash val="solid"/>
          </a:ln>
        </p:spPr>
      </p:sp>
      <p:sp>
        <p:nvSpPr>
          <p:cNvPr id="25" name="Text 20"/>
          <p:cNvSpPr txBox="1"/>
          <p:nvPr/>
        </p:nvSpPr>
        <p:spPr>
          <a:xfrm>
            <a:off x="8942832" y="5120640"/>
            <a:ext cx="2651760" cy="914400"/>
          </a:xfrm>
          <a:prstGeom prst="rect">
            <a:avLst/>
          </a:prstGeom>
          <a:noFill/>
          <a:ln/>
        </p:spPr>
        <p:txBody>
          <a:bodyPr wrap="square" lIns="0" tIns="0" rIns="0" bIns="0" rtlCol="0" anchor="ctr"/>
          <a:lstStyle/>
          <a:p>
            <a:pPr algn="ctr" indent="0" marL="0">
              <a:buNone/>
            </a:pPr>
            <a:r>
              <a:rPr lang="en-US" sz="1800" b="1" dirty="0">
                <a:solidFill>
                  <a:srgbClr val="2E2E2E"/>
                </a:solidFill>
              </a:rPr>
              <a:t>Más de 8</a:t>
            </a:r>
            <a:endParaRPr lang="en-US" sz="1800" dirty="0"/>
          </a:p>
          <a:p>
            <a:pPr algn="ctr" indent="0" marL="0">
              <a:buNone/>
            </a:pPr>
            <a:r>
              <a:rPr lang="en-US" sz="1400" dirty="0">
                <a:solidFill>
                  <a:srgbClr val="2E2E2E"/>
                </a:solidFill>
              </a:rPr>
              <a:t>Muy bueno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Construcción</a:t>
            </a:r>
            <a:endParaRPr lang="en-US" sz="3200" dirty="0"/>
          </a:p>
        </p:txBody>
      </p:sp>
      <p:graphicFrame>
        <p:nvGraphicFramePr>
          <p:cNvPr id="6" name="tabla de factores"/>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331720"/>
                <a:gridCol w="3886200"/>
                <a:gridCol w="3840480"/>
                <a:gridCol w="1033272"/>
              </a:tblGrid>
              <a:tr h="457200">
                <a:tc>
                  <a:txBody>
                    <a:bodyPr/>
                    <a:lstStyle/>
                    <a:p>
                      <a:pPr algn="l" indent="0" marL="0">
                        <a:buNone/>
                      </a:pPr>
                      <a:r>
                        <a:rPr lang="en-US" sz="1600" b="1" dirty="0">
                          <a:solidFill>
                            <a:srgbClr val="FFFFFF"/>
                          </a:solidFill>
                        </a:rPr>
                        <a:t>Factor</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l" indent="0" marL="0">
                        <a:buNone/>
                      </a:pPr>
                      <a:r>
                        <a:rPr lang="en-US" sz="1600" b="1" dirty="0">
                          <a:solidFill>
                            <a:srgbClr val="FFFFFF"/>
                          </a:solidFill>
                        </a:rPr>
                        <a:t>Dato del CEDI</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l" indent="0" marL="0">
                        <a:buNone/>
                      </a:pPr>
                      <a:r>
                        <a:rPr lang="en-US" sz="1600" b="1" dirty="0">
                          <a:solidFill>
                            <a:srgbClr val="FFFFFF"/>
                          </a:solidFill>
                        </a:rPr>
                        <a:t>Qué dice la tabla MESERI</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ctr" indent="0" marL="0">
                        <a:buNone/>
                      </a:pPr>
                      <a:r>
                        <a:rPr lang="en-US" sz="1600" b="1" dirty="0">
                          <a:solidFill>
                            <a:srgbClr val="FFFFFF"/>
                          </a:solidFill>
                        </a:rPr>
                        <a:t>Coef.</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r>
              <a:tr h="914400">
                <a:tc>
                  <a:txBody>
                    <a:bodyPr/>
                    <a:lstStyle/>
                    <a:p>
                      <a:pPr indent="0" marL="0">
                        <a:buNone/>
                      </a:pPr>
                      <a:r>
                        <a:rPr lang="en-US" sz="1600" b="1" dirty="0">
                          <a:solidFill>
                            <a:srgbClr val="2E2E2E"/>
                          </a:solidFill>
                        </a:rPr>
                        <a:t>1.1.1 Altura del edificio</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Un piso con mezanine; 18 m hasta las cerchas</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Se toma el menor entre pisos (1 o 2 = 3) y altura (15 a 20 m = 1)</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1</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r h="914400">
                <a:tc>
                  <a:txBody>
                    <a:bodyPr/>
                    <a:lstStyle/>
                    <a:p>
                      <a:pPr indent="0" marL="0">
                        <a:buNone/>
                      </a:pPr>
                      <a:r>
                        <a:rPr lang="en-US" sz="1600" b="1" dirty="0">
                          <a:solidFill>
                            <a:srgbClr val="2E2E2E"/>
                          </a:solidFill>
                        </a:rPr>
                        <a:t>1.1.2 Mayor sector de incendio</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17.432 m² sin muros cortafuego</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Más de 4.500 m² = 0</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0</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3DE"/>
                    </a:solidFill>
                  </a:tcPr>
                </a:tc>
              </a:tr>
              <a:tr h="914400">
                <a:tc>
                  <a:txBody>
                    <a:bodyPr/>
                    <a:lstStyle/>
                    <a:p>
                      <a:pPr indent="0" marL="0">
                        <a:buNone/>
                      </a:pPr>
                      <a:r>
                        <a:rPr lang="en-US" sz="1600" b="1" dirty="0">
                          <a:solidFill>
                            <a:srgbClr val="2E2E2E"/>
                          </a:solidFill>
                        </a:rPr>
                        <a:t>1.1.3 Resistencia al fuego</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Columnas de concreto y cerchas metálicas</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Estructura mixta: valor intermedio entre 10 y 5</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7</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r h="914400">
                <a:tc>
                  <a:txBody>
                    <a:bodyPr/>
                    <a:lstStyle/>
                    <a:p>
                      <a:pPr indent="0" marL="0">
                        <a:buNone/>
                      </a:pPr>
                      <a:r>
                        <a:rPr lang="en-US" sz="1600" b="1" dirty="0">
                          <a:solidFill>
                            <a:srgbClr val="2E2E2E"/>
                          </a:solidFill>
                        </a:rPr>
                        <a:t>1.1.4 Falsos techos</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La bodega no tiene cielo raso (solo oficinas y comedor)</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Sin falsos techos = 5</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5</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bl>
          </a:graphicData>
        </a:graphic>
      </p:graphicFrame>
      <p:sp>
        <p:nvSpPr>
          <p:cNvPr id="4" name="Text 1"/>
          <p:cNvSpPr txBox="1"/>
          <p:nvPr/>
        </p:nvSpPr>
        <p:spPr>
          <a:xfrm>
            <a:off x="548640" y="6035040"/>
            <a:ext cx="11091672" cy="320040"/>
          </a:xfrm>
          <a:prstGeom prst="rect">
            <a:avLst/>
          </a:prstGeom>
          <a:noFill/>
          <a:ln/>
        </p:spPr>
        <p:txBody>
          <a:bodyPr wrap="square" lIns="0" tIns="0" rIns="0" bIns="0" rtlCol="0" anchor="ctr"/>
          <a:lstStyle/>
          <a:p>
            <a:pPr algn="r" indent="0" marL="0">
              <a:buNone/>
            </a:pPr>
            <a:r>
              <a:rPr lang="en-US" sz="1400" b="1" dirty="0">
                <a:solidFill>
                  <a:srgbClr val="2E2E2E"/>
                </a:solidFill>
              </a:rPr>
              <a:t>Subtotal construcción: 13 de 23</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Situación y concentración de valores</a:t>
            </a:r>
            <a:endParaRPr lang="en-US" sz="3200" dirty="0"/>
          </a:p>
        </p:txBody>
      </p:sp>
      <p:graphicFrame>
        <p:nvGraphicFramePr>
          <p:cNvPr id="7" name="tabla de factores"/>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331720"/>
                <a:gridCol w="3886200"/>
                <a:gridCol w="3840480"/>
                <a:gridCol w="1033272"/>
              </a:tblGrid>
              <a:tr h="457200">
                <a:tc>
                  <a:txBody>
                    <a:bodyPr/>
                    <a:lstStyle/>
                    <a:p>
                      <a:pPr algn="l" indent="0" marL="0">
                        <a:buNone/>
                      </a:pPr>
                      <a:r>
                        <a:rPr lang="en-US" sz="1600" b="1" dirty="0">
                          <a:solidFill>
                            <a:srgbClr val="FFFFFF"/>
                          </a:solidFill>
                        </a:rPr>
                        <a:t>Factor</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l" indent="0" marL="0">
                        <a:buNone/>
                      </a:pPr>
                      <a:r>
                        <a:rPr lang="en-US" sz="1600" b="1" dirty="0">
                          <a:solidFill>
                            <a:srgbClr val="FFFFFF"/>
                          </a:solidFill>
                        </a:rPr>
                        <a:t>Dato del CEDI</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l" indent="0" marL="0">
                        <a:buNone/>
                      </a:pPr>
                      <a:r>
                        <a:rPr lang="en-US" sz="1600" b="1" dirty="0">
                          <a:solidFill>
                            <a:srgbClr val="FFFFFF"/>
                          </a:solidFill>
                        </a:rPr>
                        <a:t>Qué dice la tabla MESERI</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ctr" indent="0" marL="0">
                        <a:buNone/>
                      </a:pPr>
                      <a:r>
                        <a:rPr lang="en-US" sz="1600" b="1" dirty="0">
                          <a:solidFill>
                            <a:srgbClr val="FFFFFF"/>
                          </a:solidFill>
                        </a:rPr>
                        <a:t>Coef.</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r>
              <a:tr h="914400">
                <a:tc>
                  <a:txBody>
                    <a:bodyPr/>
                    <a:lstStyle/>
                    <a:p>
                      <a:pPr indent="0" marL="0">
                        <a:buNone/>
                      </a:pPr>
                      <a:r>
                        <a:rPr lang="en-US" sz="1600" b="1" dirty="0">
                          <a:solidFill>
                            <a:srgbClr val="2E2E2E"/>
                          </a:solidFill>
                        </a:rPr>
                        <a:t>1.2.1 Distancia de los bomberos</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3,4 km y 5 minutos desde la Estación de Bomberos de Lebrija</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Menos de 5 km o 5 minutos = 10</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10</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r h="914400">
                <a:tc>
                  <a:txBody>
                    <a:bodyPr/>
                    <a:lstStyle/>
                    <a:p>
                      <a:pPr indent="0" marL="0">
                        <a:buNone/>
                      </a:pPr>
                      <a:r>
                        <a:rPr lang="en-US" sz="1600" b="1" dirty="0">
                          <a:solidFill>
                            <a:srgbClr val="2E2E2E"/>
                          </a:solidFill>
                        </a:rPr>
                        <a:t>1.2.2 Accesibilidad del edificio</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Portería vehicular de 8 m, vía perimetral y 6 entradas</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Vía de más de 4 m y fachadas accesibles = buena (5)</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5</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r h="914400">
                <a:tc>
                  <a:txBody>
                    <a:bodyPr/>
                    <a:lstStyle/>
                    <a:p>
                      <a:pPr indent="0" marL="0">
                        <a:buNone/>
                      </a:pPr>
                      <a:r>
                        <a:rPr lang="en-US" sz="1600" b="1" dirty="0">
                          <a:solidFill>
                            <a:srgbClr val="2E2E2E"/>
                          </a:solidFill>
                        </a:rPr>
                        <a:t>1.4.1 Concentración de valores</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 500.000 millones COP ÷ 17.432 m² ≈ 28,7 millones/m² (≈ 1.060.000 pts/m²)</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E2E2E"/>
                          </a:solidFill>
                        </a:rPr>
                        <a:t>Más de 200.000 pts/m² = 0</a:t>
                      </a:r>
                      <a:endParaRPr lang="en-US" sz="16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0</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3DE"/>
                    </a:solidFill>
                  </a:tcPr>
                </a:tc>
              </a:tr>
            </a:tbl>
          </a:graphicData>
        </a:graphic>
      </p:graphicFrame>
      <p:sp>
        <p:nvSpPr>
          <p:cNvPr id="4" name="Text 1"/>
          <p:cNvSpPr txBox="1"/>
          <p:nvPr/>
        </p:nvSpPr>
        <p:spPr>
          <a:xfrm>
            <a:off x="548640" y="6035040"/>
            <a:ext cx="11091672" cy="320040"/>
          </a:xfrm>
          <a:prstGeom prst="rect">
            <a:avLst/>
          </a:prstGeom>
          <a:noFill/>
          <a:ln/>
        </p:spPr>
        <p:txBody>
          <a:bodyPr wrap="square" lIns="0" tIns="0" rIns="0" bIns="0" rtlCol="0" anchor="ctr"/>
          <a:lstStyle/>
          <a:p>
            <a:pPr algn="r" indent="0" marL="0">
              <a:buNone/>
            </a:pPr>
            <a:r>
              <a:rPr lang="en-US" sz="1400" b="1" dirty="0">
                <a:solidFill>
                  <a:srgbClr val="2E2E2E"/>
                </a:solidFill>
              </a:rPr>
              <a:t>Subtotal situación: 15 de 15 · Concentración: 0 de 3</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Procesos</a:t>
            </a:r>
            <a:endParaRPr lang="en-US" sz="3200" dirty="0"/>
          </a:p>
        </p:txBody>
      </p:sp>
      <p:graphicFrame>
        <p:nvGraphicFramePr>
          <p:cNvPr id="8" name="tabla de factores"/>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331720"/>
                <a:gridCol w="3886200"/>
                <a:gridCol w="3840480"/>
                <a:gridCol w="1033272"/>
              </a:tblGrid>
              <a:tr h="457200">
                <a:tc>
                  <a:txBody>
                    <a:bodyPr/>
                    <a:lstStyle/>
                    <a:p>
                      <a:pPr algn="l" indent="0" marL="0">
                        <a:buNone/>
                      </a:pPr>
                      <a:r>
                        <a:rPr lang="en-US" sz="1400" b="1" dirty="0">
                          <a:solidFill>
                            <a:srgbClr val="FFFFFF"/>
                          </a:solidFill>
                        </a:rPr>
                        <a:t>Factor</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l" indent="0" marL="0">
                        <a:buNone/>
                      </a:pPr>
                      <a:r>
                        <a:rPr lang="en-US" sz="1400" b="1" dirty="0">
                          <a:solidFill>
                            <a:srgbClr val="FFFFFF"/>
                          </a:solidFill>
                        </a:rPr>
                        <a:t>Dato del CEDI</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l" indent="0" marL="0">
                        <a:buNone/>
                      </a:pPr>
                      <a:r>
                        <a:rPr lang="en-US" sz="1400" b="1" dirty="0">
                          <a:solidFill>
                            <a:srgbClr val="FFFFFF"/>
                          </a:solidFill>
                        </a:rPr>
                        <a:t>Qué dice la tabla MESERI</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ctr" indent="0" marL="0">
                        <a:buNone/>
                      </a:pPr>
                      <a:r>
                        <a:rPr lang="en-US" sz="1400" b="1" dirty="0">
                          <a:solidFill>
                            <a:srgbClr val="FFFFFF"/>
                          </a:solidFill>
                        </a:rPr>
                        <a:t>Coef.</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r>
              <a:tr h="822960">
                <a:tc>
                  <a:txBody>
                    <a:bodyPr/>
                    <a:lstStyle/>
                    <a:p>
                      <a:pPr indent="0" marL="0">
                        <a:buNone/>
                      </a:pPr>
                      <a:r>
                        <a:rPr lang="en-US" sz="1400" b="1" dirty="0">
                          <a:solidFill>
                            <a:srgbClr val="2E2E2E"/>
                          </a:solidFill>
                        </a:rPr>
                        <a:t>1.3.1 Peligro de activación</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Sin llama abierta; carga de montacargas y cocina con cableado expuesto</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Peligro medio = 5</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5</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r h="822960">
                <a:tc>
                  <a:txBody>
                    <a:bodyPr/>
                    <a:lstStyle/>
                    <a:p>
                      <a:pPr indent="0" marL="0">
                        <a:buNone/>
                      </a:pPr>
                      <a:r>
                        <a:rPr lang="en-US" sz="1400" b="1" dirty="0">
                          <a:solidFill>
                            <a:srgbClr val="2E2E2E"/>
                          </a:solidFill>
                        </a:rPr>
                        <a:t>1.3.2 Carga térmica</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Cartón, plástico y alimentos apilados hasta unos 10 m</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Alta: más de 200 Mcal/m² = 0</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0</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3DE"/>
                    </a:solidFill>
                  </a:tcPr>
                </a:tc>
              </a:tr>
              <a:tr h="822960">
                <a:tc>
                  <a:txBody>
                    <a:bodyPr/>
                    <a:lstStyle/>
                    <a:p>
                      <a:pPr indent="0" marL="0">
                        <a:buNone/>
                      </a:pPr>
                      <a:r>
                        <a:rPr lang="en-US" sz="1400" b="1" dirty="0">
                          <a:solidFill>
                            <a:srgbClr val="2E2E2E"/>
                          </a:solidFill>
                        </a:rPr>
                        <a:t>1.3.3 Combustibilidad</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Cartón, madera de estibas y plástico de empaque</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Media (materiales M.2 y M.3) = 3</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3</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r h="822960">
                <a:tc>
                  <a:txBody>
                    <a:bodyPr/>
                    <a:lstStyle/>
                    <a:p>
                      <a:pPr indent="0" marL="0">
                        <a:buNone/>
                      </a:pPr>
                      <a:r>
                        <a:rPr lang="en-US" sz="1400" b="1" dirty="0">
                          <a:solidFill>
                            <a:srgbClr val="2E2E2E"/>
                          </a:solidFill>
                        </a:rPr>
                        <a:t>1.3.4 Orden y limpieza</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Pasillos despejados, pero estibas acumuladas</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Nivel medio = 5</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5</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r h="822960">
                <a:tc>
                  <a:txBody>
                    <a:bodyPr/>
                    <a:lstStyle/>
                    <a:p>
                      <a:pPr indent="0" marL="0">
                        <a:buNone/>
                      </a:pPr>
                      <a:r>
                        <a:rPr lang="en-US" sz="1400" b="1" dirty="0">
                          <a:solidFill>
                            <a:srgbClr val="2E2E2E"/>
                          </a:solidFill>
                        </a:rPr>
                        <a:t>1.3.5 Almacenamiento en altura</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Estanterías de unos 10 m de alto</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Más de 6 m = 0</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0</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3DE"/>
                    </a:solidFill>
                  </a:tcPr>
                </a:tc>
              </a:tr>
            </a:tbl>
          </a:graphicData>
        </a:graphic>
      </p:graphicFrame>
      <p:sp>
        <p:nvSpPr>
          <p:cNvPr id="4" name="Text 1"/>
          <p:cNvSpPr txBox="1"/>
          <p:nvPr/>
        </p:nvSpPr>
        <p:spPr>
          <a:xfrm>
            <a:off x="548640" y="6035040"/>
            <a:ext cx="11091672" cy="320040"/>
          </a:xfrm>
          <a:prstGeom prst="rect">
            <a:avLst/>
          </a:prstGeom>
          <a:noFill/>
          <a:ln/>
        </p:spPr>
        <p:txBody>
          <a:bodyPr wrap="square" lIns="0" tIns="0" rIns="0" bIns="0" rtlCol="0" anchor="ctr"/>
          <a:lstStyle/>
          <a:p>
            <a:pPr algn="r" indent="0" marL="0">
              <a:buNone/>
            </a:pPr>
            <a:r>
              <a:rPr lang="en-US" sz="1400" b="1" dirty="0">
                <a:solidFill>
                  <a:srgbClr val="2E2E2E"/>
                </a:solidFill>
              </a:rPr>
              <a:t>Subtotal procesos: 13 de 38</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Propagabilidad y destructibilidad</a:t>
            </a:r>
            <a:endParaRPr lang="en-US" sz="3200" dirty="0"/>
          </a:p>
        </p:txBody>
      </p:sp>
      <p:graphicFrame>
        <p:nvGraphicFramePr>
          <p:cNvPr id="9" name="tabla de factores"/>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331720"/>
                <a:gridCol w="3886200"/>
                <a:gridCol w="3840480"/>
                <a:gridCol w="1033272"/>
              </a:tblGrid>
              <a:tr h="457200">
                <a:tc>
                  <a:txBody>
                    <a:bodyPr/>
                    <a:lstStyle/>
                    <a:p>
                      <a:pPr algn="l" indent="0" marL="0">
                        <a:buNone/>
                      </a:pPr>
                      <a:r>
                        <a:rPr lang="en-US" sz="1400" b="1" dirty="0">
                          <a:solidFill>
                            <a:srgbClr val="FFFFFF"/>
                          </a:solidFill>
                        </a:rPr>
                        <a:t>Factor</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l" indent="0" marL="0">
                        <a:buNone/>
                      </a:pPr>
                      <a:r>
                        <a:rPr lang="en-US" sz="1400" b="1" dirty="0">
                          <a:solidFill>
                            <a:srgbClr val="FFFFFF"/>
                          </a:solidFill>
                        </a:rPr>
                        <a:t>Dato del CEDI</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l" indent="0" marL="0">
                        <a:buNone/>
                      </a:pPr>
                      <a:r>
                        <a:rPr lang="en-US" sz="1400" b="1" dirty="0">
                          <a:solidFill>
                            <a:srgbClr val="FFFFFF"/>
                          </a:solidFill>
                        </a:rPr>
                        <a:t>Qué dice la tabla MESERI</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c>
                  <a:txBody>
                    <a:bodyPr/>
                    <a:lstStyle/>
                    <a:p>
                      <a:pPr algn="ctr" indent="0" marL="0">
                        <a:buNone/>
                      </a:pPr>
                      <a:r>
                        <a:rPr lang="en-US" sz="1400" b="1" dirty="0">
                          <a:solidFill>
                            <a:srgbClr val="FFFFFF"/>
                          </a:solidFill>
                        </a:rPr>
                        <a:t>Coef.</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B3B3B"/>
                    </a:solidFill>
                  </a:tcPr>
                </a:tc>
              </a:tr>
              <a:tr h="685800">
                <a:tc>
                  <a:txBody>
                    <a:bodyPr/>
                    <a:lstStyle/>
                    <a:p>
                      <a:pPr indent="0" marL="0">
                        <a:buNone/>
                      </a:pPr>
                      <a:r>
                        <a:rPr lang="en-US" sz="1400" b="1" dirty="0">
                          <a:solidFill>
                            <a:srgbClr val="2E2E2E"/>
                          </a:solidFill>
                        </a:rPr>
                        <a:t>1.5.1 Propagabilidad horizontal</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Bloques separados por pasillos, sin muros cortafuego</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Media = 3</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3</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r h="685800">
                <a:tc>
                  <a:txBody>
                    <a:bodyPr/>
                    <a:lstStyle/>
                    <a:p>
                      <a:pPr indent="0" marL="0">
                        <a:buNone/>
                      </a:pPr>
                      <a:r>
                        <a:rPr lang="en-US" sz="1400" b="1" dirty="0">
                          <a:solidFill>
                            <a:srgbClr val="2E2E2E"/>
                          </a:solidFill>
                        </a:rPr>
                        <a:t>1.5.2 Propagabilidad vertical</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Un piso, pero el mezanine da a la bodega por ventanales</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Media = 3</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3</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r h="685800">
                <a:tc>
                  <a:txBody>
                    <a:bodyPr/>
                    <a:lstStyle/>
                    <a:p>
                      <a:pPr indent="0" marL="0">
                        <a:buNone/>
                      </a:pPr>
                      <a:r>
                        <a:rPr lang="en-US" sz="1400" b="1" dirty="0">
                          <a:solidFill>
                            <a:srgbClr val="2E2E2E"/>
                          </a:solidFill>
                        </a:rPr>
                        <a:t>1.6.1 Calor</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Cava de frío y alimentos que se dañan con el calor</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Alta: los productos se destruyen = 0</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0</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3DE"/>
                    </a:solidFill>
                  </a:tcPr>
                </a:tc>
              </a:tr>
              <a:tr h="685800">
                <a:tc>
                  <a:txBody>
                    <a:bodyPr/>
                    <a:lstStyle/>
                    <a:p>
                      <a:pPr indent="0" marL="0">
                        <a:buNone/>
                      </a:pPr>
                      <a:r>
                        <a:rPr lang="en-US" sz="1400" b="1" dirty="0">
                          <a:solidFill>
                            <a:srgbClr val="2E2E2E"/>
                          </a:solidFill>
                        </a:rPr>
                        <a:t>1.6.2 Humo</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Los alimentos expuestos al humo ya no se pueden vender</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Alta = 0</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0</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3DE"/>
                    </a:solidFill>
                  </a:tcPr>
                </a:tc>
              </a:tr>
              <a:tr h="685800">
                <a:tc>
                  <a:txBody>
                    <a:bodyPr/>
                    <a:lstStyle/>
                    <a:p>
                      <a:pPr indent="0" marL="0">
                        <a:buNone/>
                      </a:pPr>
                      <a:r>
                        <a:rPr lang="en-US" sz="1400" b="1" dirty="0">
                          <a:solidFill>
                            <a:srgbClr val="2E2E2E"/>
                          </a:solidFill>
                        </a:rPr>
                        <a:t>1.6.3 Corrosión</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Empaques plásticos (PVC) y productos de aseo</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Media = 5</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5</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r h="685800">
                <a:tc>
                  <a:txBody>
                    <a:bodyPr/>
                    <a:lstStyle/>
                    <a:p>
                      <a:pPr indent="0" marL="0">
                        <a:buNone/>
                      </a:pPr>
                      <a:r>
                        <a:rPr lang="en-US" sz="1400" b="1" dirty="0">
                          <a:solidFill>
                            <a:srgbClr val="2E2E2E"/>
                          </a:solidFill>
                        </a:rPr>
                        <a:t>1.6.4 Agua</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El cartón se daña; bebidas y enlatados resisten</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E2E2E"/>
                          </a:solidFill>
                        </a:rPr>
                        <a:t>Media = 5</a:t>
                      </a:r>
                      <a:endParaRPr lang="en-US" sz="14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2200" b="1" dirty="0">
                          <a:solidFill>
                            <a:srgbClr val="2E2E2E"/>
                          </a:solidFill>
                        </a:rPr>
                        <a:t>5</a:t>
                      </a:r>
                      <a:endParaRPr lang="en-US" sz="2200" dirty="0"/>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D3"/>
                    </a:solidFill>
                  </a:tcPr>
                </a:tc>
              </a:tr>
            </a:tbl>
          </a:graphicData>
        </a:graphic>
      </p:graphicFrame>
      <p:sp>
        <p:nvSpPr>
          <p:cNvPr id="4" name="Text 1"/>
          <p:cNvSpPr txBox="1"/>
          <p:nvPr/>
        </p:nvSpPr>
        <p:spPr>
          <a:xfrm>
            <a:off x="548640" y="6035040"/>
            <a:ext cx="11091672" cy="320040"/>
          </a:xfrm>
          <a:prstGeom prst="rect">
            <a:avLst/>
          </a:prstGeom>
          <a:noFill/>
          <a:ln/>
        </p:spPr>
        <p:txBody>
          <a:bodyPr wrap="square" lIns="0" tIns="0" rIns="0" bIns="0" rtlCol="0" anchor="ctr"/>
          <a:lstStyle/>
          <a:p>
            <a:pPr algn="r" indent="0" marL="0">
              <a:buNone/>
            </a:pPr>
            <a:r>
              <a:rPr lang="en-US" sz="1400" b="1" dirty="0">
                <a:solidFill>
                  <a:srgbClr val="2E2E2E"/>
                </a:solidFill>
              </a:rPr>
              <a:t>Subtotal propagabilidad: 6 de 10 · Destructibilidad: 10 de 40</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Factores propios del edificio</a:t>
            </a:r>
            <a:endParaRPr lang="en-US" sz="3200" dirty="0"/>
          </a:p>
        </p:txBody>
      </p:sp>
      <p:graphicFrame>
        <p:nvGraphicFramePr>
          <p:cNvPr id="3" name="gráfico factores X" descr=""/>
          <p:cNvGraphicFramePr/>
          <p:nvPr/>
        </p:nvGraphicFramePr>
        <p:xfrm>
          <a:off x="548640" y="1234440"/>
          <a:ext cx="6949440" cy="4892040"/>
        </p:xfrm>
        <a:graphic xmlns:a="http://schemas.openxmlformats.org/drawingml/2006/main">
          <a:graphicData uri="http://schemas.openxmlformats.org/drawingml/2006/chart">
            <c:chart xmlns:c="http://schemas.openxmlformats.org/drawingml/2006/chart" r:id="rId1"/>
          </a:graphicData>
        </a:graphic>
      </p:graphicFrame>
      <p:sp>
        <p:nvSpPr>
          <p:cNvPr id="4" name="total X"/>
          <p:cNvSpPr/>
          <p:nvPr/>
        </p:nvSpPr>
        <p:spPr>
          <a:xfrm>
            <a:off x="7863840" y="1325880"/>
            <a:ext cx="3776472" cy="2011680"/>
          </a:xfrm>
          <a:prstGeom prst="roundRect">
            <a:avLst>
              <a:gd name="adj" fmla="val 5455"/>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8092440" y="1463040"/>
            <a:ext cx="3383280" cy="1143000"/>
          </a:xfrm>
          <a:prstGeom prst="rect">
            <a:avLst/>
          </a:prstGeom>
          <a:noFill/>
          <a:ln/>
        </p:spPr>
        <p:txBody>
          <a:bodyPr wrap="square" lIns="0" tIns="0" rIns="0" bIns="0" rtlCol="0" anchor="ctr"/>
          <a:lstStyle/>
          <a:p>
            <a:pPr indent="0" marL="0">
              <a:buNone/>
            </a:pPr>
            <a:r>
              <a:rPr lang="en-US" sz="6600" b="1" dirty="0">
                <a:solidFill>
                  <a:srgbClr val="2E2E2E"/>
                </a:solidFill>
              </a:rPr>
              <a:t>57</a:t>
            </a:r>
            <a:pPr indent="0" marL="0">
              <a:buNone/>
            </a:pPr>
            <a:r>
              <a:rPr lang="en-US" sz="2400" dirty="0">
                <a:solidFill>
                  <a:srgbClr val="5F5F5F"/>
                </a:solidFill>
              </a:rPr>
              <a:t> / 129</a:t>
            </a:r>
            <a:endParaRPr lang="en-US" sz="6600" dirty="0"/>
          </a:p>
        </p:txBody>
      </p:sp>
      <p:sp>
        <p:nvSpPr>
          <p:cNvPr id="6" name="Text 3"/>
          <p:cNvSpPr txBox="1"/>
          <p:nvPr/>
        </p:nvSpPr>
        <p:spPr>
          <a:xfrm>
            <a:off x="8092440" y="2651760"/>
            <a:ext cx="3383280" cy="457200"/>
          </a:xfrm>
          <a:prstGeom prst="rect">
            <a:avLst/>
          </a:prstGeom>
          <a:noFill/>
          <a:ln/>
        </p:spPr>
        <p:txBody>
          <a:bodyPr wrap="square" lIns="0" tIns="0" rIns="0" bIns="0" rtlCol="0" anchor="ctr"/>
          <a:lstStyle/>
          <a:p>
            <a:pPr indent="0" marL="0">
              <a:buNone/>
            </a:pPr>
            <a:r>
              <a:rPr lang="en-US" sz="1400" dirty="0">
                <a:solidFill>
                  <a:srgbClr val="5F5F5F"/>
                </a:solidFill>
              </a:rPr>
              <a:t>Total X · factores propios</a:t>
            </a:r>
            <a:endParaRPr lang="en-US" sz="1400" dirty="0"/>
          </a:p>
        </p:txBody>
      </p:sp>
      <p:sp>
        <p:nvSpPr>
          <p:cNvPr id="7" name="Text 4"/>
          <p:cNvSpPr txBox="1"/>
          <p:nvPr/>
        </p:nvSpPr>
        <p:spPr>
          <a:xfrm>
            <a:off x="7863840" y="3657600"/>
            <a:ext cx="3776472" cy="2468880"/>
          </a:xfrm>
          <a:prstGeom prst="rect">
            <a:avLst/>
          </a:prstGeom>
          <a:noFill/>
          <a:ln/>
        </p:spPr>
        <p:txBody>
          <a:bodyPr wrap="square" lIns="0" tIns="0" rIns="0" bIns="0" rtlCol="0" anchor="t"/>
          <a:lstStyle/>
          <a:p>
            <a:pPr indent="0" marL="0">
              <a:spcAft>
                <a:spcPts val="800"/>
              </a:spcAft>
              <a:buNone/>
            </a:pPr>
            <a:r>
              <a:rPr lang="en-US" sz="1600" b="1" dirty="0">
                <a:solidFill>
                  <a:srgbClr val="2E2E2E"/>
                </a:solidFill>
              </a:rPr>
              <a:t>El edificio por sí solo es desfavorable.</a:t>
            </a:r>
            <a:endParaRPr lang="en-US" sz="1600" dirty="0"/>
          </a:p>
          <a:p>
            <a:pPr indent="0" marL="0">
              <a:spcAft>
                <a:spcPts val="800"/>
              </a:spcAft>
              <a:buNone/>
            </a:pPr>
            <a:r>
              <a:rPr lang="en-US" sz="1600" dirty="0">
                <a:solidFill>
                  <a:srgbClr val="2E2E2E"/>
                </a:solidFill>
              </a:rPr>
              <a:t>Su mayor ventaja es la cercanía de los bomberos: 3,4 km y 5 minutos (Situación 15 de 15).</a:t>
            </a:r>
            <a:endParaRPr lang="en-US" sz="1600" dirty="0"/>
          </a:p>
          <a:p>
            <a:pPr indent="0" marL="0">
              <a:spcAft>
                <a:spcPts val="800"/>
              </a:spcAft>
              <a:buNone/>
            </a:pPr>
            <a:r>
              <a:rPr lang="en-US" sz="1600" dirty="0">
                <a:solidFill>
                  <a:srgbClr val="5F5F5F"/>
                </a:solidFill>
              </a:rPr>
              <a:t>Seis factores obtuvieron 0: sector de incendio, carga térmica, almacenamiento en altura, concentración, calor y humo.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Medios de protección</a:t>
            </a:r>
            <a:endParaRPr lang="en-US" sz="3200" dirty="0"/>
          </a:p>
        </p:txBody>
      </p:sp>
      <p:sp>
        <p:nvSpPr>
          <p:cNvPr id="3" name="Text 1"/>
          <p:cNvSpPr txBox="1"/>
          <p:nvPr/>
        </p:nvSpPr>
        <p:spPr>
          <a:xfrm>
            <a:off x="548640" y="1371600"/>
            <a:ext cx="3291840" cy="457200"/>
          </a:xfrm>
          <a:prstGeom prst="rect">
            <a:avLst/>
          </a:prstGeom>
          <a:noFill/>
          <a:ln/>
        </p:spPr>
        <p:txBody>
          <a:bodyPr wrap="square" lIns="0" tIns="0" rIns="0" bIns="0" rtlCol="0" anchor="ctr"/>
          <a:lstStyle/>
          <a:p>
            <a:pPr indent="0" marL="0">
              <a:buNone/>
            </a:pPr>
            <a:r>
              <a:rPr lang="en-US" sz="1500" dirty="0">
                <a:solidFill>
                  <a:srgbClr val="2E2E2E"/>
                </a:solidFill>
              </a:rPr>
              <a:t>Rociadores automáticos</a:t>
            </a:r>
            <a:endParaRPr lang="en-US" sz="1500" dirty="0"/>
          </a:p>
        </p:txBody>
      </p:sp>
      <p:sp>
        <p:nvSpPr>
          <p:cNvPr id="4" name="máximo Rociadores automáticos"/>
          <p:cNvSpPr/>
          <p:nvPr/>
        </p:nvSpPr>
        <p:spPr>
          <a:xfrm>
            <a:off x="3931920" y="1463040"/>
            <a:ext cx="3072384" cy="274320"/>
          </a:xfrm>
          <a:prstGeom prst="roundRect">
            <a:avLst>
              <a:gd name="adj" fmla="val 26667"/>
            </a:avLst>
          </a:prstGeom>
          <a:solidFill>
            <a:srgbClr val="F4F7D3"/>
          </a:solidFill>
          <a:ln w="12700">
            <a:solidFill>
              <a:srgbClr val="F4F7D3"/>
            </a:solidFill>
            <a:prstDash val="solid"/>
          </a:ln>
        </p:spPr>
      </p:sp>
      <p:sp>
        <p:nvSpPr>
          <p:cNvPr id="5" name="obtenido Rociadores automáticos"/>
          <p:cNvSpPr/>
          <p:nvPr/>
        </p:nvSpPr>
        <p:spPr>
          <a:xfrm>
            <a:off x="3931920" y="1463040"/>
            <a:ext cx="3072384" cy="274320"/>
          </a:xfrm>
          <a:prstGeom prst="roundRect">
            <a:avLst>
              <a:gd name="adj" fmla="val 26667"/>
            </a:avLst>
          </a:prstGeom>
          <a:solidFill>
            <a:srgbClr val="CAD225"/>
          </a:solidFill>
          <a:ln w="12700">
            <a:solidFill>
              <a:srgbClr val="CAD225"/>
            </a:solidFill>
            <a:prstDash val="solid"/>
          </a:ln>
        </p:spPr>
      </p:sp>
      <p:sp>
        <p:nvSpPr>
          <p:cNvPr id="6" name="Text 4"/>
          <p:cNvSpPr txBox="1"/>
          <p:nvPr/>
        </p:nvSpPr>
        <p:spPr>
          <a:xfrm>
            <a:off x="7095744" y="1371600"/>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8</a:t>
            </a:r>
            <a:endParaRPr lang="en-US" sz="1600" dirty="0"/>
          </a:p>
        </p:txBody>
      </p:sp>
      <p:sp>
        <p:nvSpPr>
          <p:cNvPr id="7" name="Text 5"/>
          <p:cNvSpPr txBox="1"/>
          <p:nvPr/>
        </p:nvSpPr>
        <p:spPr>
          <a:xfrm>
            <a:off x="548640" y="2029968"/>
            <a:ext cx="3291840" cy="457200"/>
          </a:xfrm>
          <a:prstGeom prst="rect">
            <a:avLst/>
          </a:prstGeom>
          <a:noFill/>
          <a:ln/>
        </p:spPr>
        <p:txBody>
          <a:bodyPr wrap="square" lIns="0" tIns="0" rIns="0" bIns="0" rtlCol="0" anchor="ctr"/>
          <a:lstStyle/>
          <a:p>
            <a:pPr indent="0" marL="0">
              <a:buNone/>
            </a:pPr>
            <a:r>
              <a:rPr lang="en-US" sz="1500" dirty="0">
                <a:solidFill>
                  <a:srgbClr val="2E2E2E"/>
                </a:solidFill>
              </a:rPr>
              <a:t>Gabinetes contra incendio (BIE)</a:t>
            </a:r>
            <a:endParaRPr lang="en-US" sz="1500" dirty="0"/>
          </a:p>
        </p:txBody>
      </p:sp>
      <p:sp>
        <p:nvSpPr>
          <p:cNvPr id="8" name="máximo Gabinetes contra incendio (BIE)"/>
          <p:cNvSpPr/>
          <p:nvPr/>
        </p:nvSpPr>
        <p:spPr>
          <a:xfrm>
            <a:off x="3931920" y="2121408"/>
            <a:ext cx="1536192" cy="274320"/>
          </a:xfrm>
          <a:prstGeom prst="roundRect">
            <a:avLst>
              <a:gd name="adj" fmla="val 26667"/>
            </a:avLst>
          </a:prstGeom>
          <a:solidFill>
            <a:srgbClr val="F4F7D3"/>
          </a:solidFill>
          <a:ln w="12700">
            <a:solidFill>
              <a:srgbClr val="F4F7D3"/>
            </a:solidFill>
            <a:prstDash val="solid"/>
          </a:ln>
        </p:spPr>
      </p:sp>
      <p:sp>
        <p:nvSpPr>
          <p:cNvPr id="9" name="obtenido Gabinetes contra incendio (BIE)"/>
          <p:cNvSpPr/>
          <p:nvPr/>
        </p:nvSpPr>
        <p:spPr>
          <a:xfrm>
            <a:off x="3931920" y="2121408"/>
            <a:ext cx="1536192" cy="274320"/>
          </a:xfrm>
          <a:prstGeom prst="roundRect">
            <a:avLst>
              <a:gd name="adj" fmla="val 26667"/>
            </a:avLst>
          </a:prstGeom>
          <a:solidFill>
            <a:srgbClr val="CAD225"/>
          </a:solidFill>
          <a:ln w="12700">
            <a:solidFill>
              <a:srgbClr val="CAD225"/>
            </a:solidFill>
            <a:prstDash val="solid"/>
          </a:ln>
        </p:spPr>
      </p:sp>
      <p:sp>
        <p:nvSpPr>
          <p:cNvPr id="10" name="Text 8"/>
          <p:cNvSpPr txBox="1"/>
          <p:nvPr/>
        </p:nvSpPr>
        <p:spPr>
          <a:xfrm>
            <a:off x="5559552" y="2029968"/>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4</a:t>
            </a:r>
            <a:endParaRPr lang="en-US" sz="1600" dirty="0"/>
          </a:p>
        </p:txBody>
      </p:sp>
      <p:sp>
        <p:nvSpPr>
          <p:cNvPr id="11" name="Text 9"/>
          <p:cNvSpPr txBox="1"/>
          <p:nvPr/>
        </p:nvSpPr>
        <p:spPr>
          <a:xfrm>
            <a:off x="548640" y="2688336"/>
            <a:ext cx="3291840" cy="457200"/>
          </a:xfrm>
          <a:prstGeom prst="rect">
            <a:avLst/>
          </a:prstGeom>
          <a:noFill/>
          <a:ln/>
        </p:spPr>
        <p:txBody>
          <a:bodyPr wrap="square" lIns="0" tIns="0" rIns="0" bIns="0" rtlCol="0" anchor="ctr"/>
          <a:lstStyle/>
          <a:p>
            <a:pPr indent="0" marL="0">
              <a:buNone/>
            </a:pPr>
            <a:r>
              <a:rPr lang="en-US" sz="1500" dirty="0">
                <a:solidFill>
                  <a:srgbClr val="2E2E2E"/>
                </a:solidFill>
              </a:rPr>
              <a:t>Hidrante exterior</a:t>
            </a:r>
            <a:endParaRPr lang="en-US" sz="1500" dirty="0"/>
          </a:p>
        </p:txBody>
      </p:sp>
      <p:sp>
        <p:nvSpPr>
          <p:cNvPr id="12" name="máximo Hidrante exterior"/>
          <p:cNvSpPr/>
          <p:nvPr/>
        </p:nvSpPr>
        <p:spPr>
          <a:xfrm>
            <a:off x="3931920" y="2779776"/>
            <a:ext cx="1536192" cy="274320"/>
          </a:xfrm>
          <a:prstGeom prst="roundRect">
            <a:avLst>
              <a:gd name="adj" fmla="val 26667"/>
            </a:avLst>
          </a:prstGeom>
          <a:solidFill>
            <a:srgbClr val="F4F7D3"/>
          </a:solidFill>
          <a:ln w="12700">
            <a:solidFill>
              <a:srgbClr val="F4F7D3"/>
            </a:solidFill>
            <a:prstDash val="solid"/>
          </a:ln>
        </p:spPr>
      </p:sp>
      <p:sp>
        <p:nvSpPr>
          <p:cNvPr id="13" name="obtenido Hidrante exterior"/>
          <p:cNvSpPr/>
          <p:nvPr/>
        </p:nvSpPr>
        <p:spPr>
          <a:xfrm>
            <a:off x="3931920" y="2779776"/>
            <a:ext cx="1536192" cy="274320"/>
          </a:xfrm>
          <a:prstGeom prst="roundRect">
            <a:avLst>
              <a:gd name="adj" fmla="val 26667"/>
            </a:avLst>
          </a:prstGeom>
          <a:solidFill>
            <a:srgbClr val="CAD225"/>
          </a:solidFill>
          <a:ln w="12700">
            <a:solidFill>
              <a:srgbClr val="CAD225"/>
            </a:solidFill>
            <a:prstDash val="solid"/>
          </a:ln>
        </p:spPr>
      </p:sp>
      <p:sp>
        <p:nvSpPr>
          <p:cNvPr id="14" name="Text 12"/>
          <p:cNvSpPr txBox="1"/>
          <p:nvPr/>
        </p:nvSpPr>
        <p:spPr>
          <a:xfrm>
            <a:off x="5559552" y="2688336"/>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4</a:t>
            </a:r>
            <a:endParaRPr lang="en-US" sz="1600" dirty="0"/>
          </a:p>
        </p:txBody>
      </p:sp>
      <p:sp>
        <p:nvSpPr>
          <p:cNvPr id="15" name="Text 13"/>
          <p:cNvSpPr txBox="1"/>
          <p:nvPr/>
        </p:nvSpPr>
        <p:spPr>
          <a:xfrm>
            <a:off x="548640" y="3346704"/>
            <a:ext cx="3291840" cy="457200"/>
          </a:xfrm>
          <a:prstGeom prst="rect">
            <a:avLst/>
          </a:prstGeom>
          <a:noFill/>
          <a:ln/>
        </p:spPr>
        <p:txBody>
          <a:bodyPr wrap="square" lIns="0" tIns="0" rIns="0" bIns="0" rtlCol="0" anchor="ctr"/>
          <a:lstStyle/>
          <a:p>
            <a:pPr indent="0" marL="0">
              <a:buNone/>
            </a:pPr>
            <a:r>
              <a:rPr lang="en-US" sz="1500" dirty="0">
                <a:solidFill>
                  <a:srgbClr val="2E2E2E"/>
                </a:solidFill>
              </a:rPr>
              <a:t>Detección automática</a:t>
            </a:r>
            <a:endParaRPr lang="en-US" sz="1500" dirty="0"/>
          </a:p>
        </p:txBody>
      </p:sp>
      <p:sp>
        <p:nvSpPr>
          <p:cNvPr id="16" name="máximo Detección automática"/>
          <p:cNvSpPr/>
          <p:nvPr/>
        </p:nvSpPr>
        <p:spPr>
          <a:xfrm>
            <a:off x="3931920" y="3438144"/>
            <a:ext cx="1536192" cy="274320"/>
          </a:xfrm>
          <a:prstGeom prst="roundRect">
            <a:avLst>
              <a:gd name="adj" fmla="val 26667"/>
            </a:avLst>
          </a:prstGeom>
          <a:solidFill>
            <a:srgbClr val="F4F7D3"/>
          </a:solidFill>
          <a:ln w="12700">
            <a:solidFill>
              <a:srgbClr val="F4F7D3"/>
            </a:solidFill>
            <a:prstDash val="solid"/>
          </a:ln>
        </p:spPr>
      </p:sp>
      <p:sp>
        <p:nvSpPr>
          <p:cNvPr id="17" name="obtenido Detección automática"/>
          <p:cNvSpPr/>
          <p:nvPr/>
        </p:nvSpPr>
        <p:spPr>
          <a:xfrm>
            <a:off x="3931920" y="3438144"/>
            <a:ext cx="1536192" cy="274320"/>
          </a:xfrm>
          <a:prstGeom prst="roundRect">
            <a:avLst>
              <a:gd name="adj" fmla="val 26667"/>
            </a:avLst>
          </a:prstGeom>
          <a:solidFill>
            <a:srgbClr val="CAD225"/>
          </a:solidFill>
          <a:ln w="12700">
            <a:solidFill>
              <a:srgbClr val="CAD225"/>
            </a:solidFill>
            <a:prstDash val="solid"/>
          </a:ln>
        </p:spPr>
      </p:sp>
      <p:sp>
        <p:nvSpPr>
          <p:cNvPr id="18" name="Text 16"/>
          <p:cNvSpPr txBox="1"/>
          <p:nvPr/>
        </p:nvSpPr>
        <p:spPr>
          <a:xfrm>
            <a:off x="5559552" y="3346704"/>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4</a:t>
            </a:r>
            <a:endParaRPr lang="en-US" sz="1600" dirty="0"/>
          </a:p>
        </p:txBody>
      </p:sp>
      <p:sp>
        <p:nvSpPr>
          <p:cNvPr id="19" name="Text 17"/>
          <p:cNvSpPr txBox="1"/>
          <p:nvPr/>
        </p:nvSpPr>
        <p:spPr>
          <a:xfrm>
            <a:off x="548640" y="4005072"/>
            <a:ext cx="3291840" cy="457200"/>
          </a:xfrm>
          <a:prstGeom prst="rect">
            <a:avLst/>
          </a:prstGeom>
          <a:noFill/>
          <a:ln/>
        </p:spPr>
        <p:txBody>
          <a:bodyPr wrap="square" lIns="0" tIns="0" rIns="0" bIns="0" rtlCol="0" anchor="ctr"/>
          <a:lstStyle/>
          <a:p>
            <a:pPr indent="0" marL="0">
              <a:buNone/>
            </a:pPr>
            <a:r>
              <a:rPr lang="en-US" sz="1500" dirty="0">
                <a:solidFill>
                  <a:srgbClr val="2E2E2E"/>
                </a:solidFill>
              </a:rPr>
              <a:t>Extintores portátiles</a:t>
            </a:r>
            <a:endParaRPr lang="en-US" sz="1500" dirty="0"/>
          </a:p>
        </p:txBody>
      </p:sp>
      <p:sp>
        <p:nvSpPr>
          <p:cNvPr id="20" name="máximo Extintores portátiles"/>
          <p:cNvSpPr/>
          <p:nvPr/>
        </p:nvSpPr>
        <p:spPr>
          <a:xfrm>
            <a:off x="3931920" y="4096512"/>
            <a:ext cx="768096" cy="274320"/>
          </a:xfrm>
          <a:prstGeom prst="roundRect">
            <a:avLst>
              <a:gd name="adj" fmla="val 26667"/>
            </a:avLst>
          </a:prstGeom>
          <a:solidFill>
            <a:srgbClr val="F4F7D3"/>
          </a:solidFill>
          <a:ln w="12700">
            <a:solidFill>
              <a:srgbClr val="F4F7D3"/>
            </a:solidFill>
            <a:prstDash val="solid"/>
          </a:ln>
        </p:spPr>
      </p:sp>
      <p:sp>
        <p:nvSpPr>
          <p:cNvPr id="21" name="obtenido Extintores portátiles"/>
          <p:cNvSpPr/>
          <p:nvPr/>
        </p:nvSpPr>
        <p:spPr>
          <a:xfrm>
            <a:off x="3931920" y="4096512"/>
            <a:ext cx="768096" cy="274320"/>
          </a:xfrm>
          <a:prstGeom prst="roundRect">
            <a:avLst>
              <a:gd name="adj" fmla="val 26667"/>
            </a:avLst>
          </a:prstGeom>
          <a:solidFill>
            <a:srgbClr val="CAD225"/>
          </a:solidFill>
          <a:ln w="12700">
            <a:solidFill>
              <a:srgbClr val="CAD225"/>
            </a:solidFill>
            <a:prstDash val="solid"/>
          </a:ln>
        </p:spPr>
      </p:sp>
      <p:sp>
        <p:nvSpPr>
          <p:cNvPr id="22" name="Text 20"/>
          <p:cNvSpPr txBox="1"/>
          <p:nvPr/>
        </p:nvSpPr>
        <p:spPr>
          <a:xfrm>
            <a:off x="4791456" y="4005072"/>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2</a:t>
            </a:r>
            <a:endParaRPr lang="en-US" sz="1600" dirty="0"/>
          </a:p>
        </p:txBody>
      </p:sp>
      <p:sp>
        <p:nvSpPr>
          <p:cNvPr id="23" name="Text 21"/>
          <p:cNvSpPr txBox="1"/>
          <p:nvPr/>
        </p:nvSpPr>
        <p:spPr>
          <a:xfrm>
            <a:off x="548640" y="4663440"/>
            <a:ext cx="3291840" cy="457200"/>
          </a:xfrm>
          <a:prstGeom prst="rect">
            <a:avLst/>
          </a:prstGeom>
          <a:noFill/>
          <a:ln/>
        </p:spPr>
        <p:txBody>
          <a:bodyPr wrap="square" lIns="0" tIns="0" rIns="0" bIns="0" rtlCol="0" anchor="ctr"/>
          <a:lstStyle/>
          <a:p>
            <a:pPr indent="0" marL="0">
              <a:buNone/>
            </a:pPr>
            <a:r>
              <a:rPr lang="en-US" sz="1500" dirty="0">
                <a:solidFill>
                  <a:srgbClr val="2E2E2E"/>
                </a:solidFill>
              </a:rPr>
              <a:t>Agentes gaseosos (no aplica)</a:t>
            </a:r>
            <a:endParaRPr lang="en-US" sz="1500" dirty="0"/>
          </a:p>
        </p:txBody>
      </p:sp>
      <p:sp>
        <p:nvSpPr>
          <p:cNvPr id="24" name="máximo Agentes gaseosos (no aplica)"/>
          <p:cNvSpPr/>
          <p:nvPr/>
        </p:nvSpPr>
        <p:spPr>
          <a:xfrm>
            <a:off x="3931920" y="4754880"/>
            <a:ext cx="1536192" cy="274320"/>
          </a:xfrm>
          <a:prstGeom prst="roundRect">
            <a:avLst>
              <a:gd name="adj" fmla="val 26667"/>
            </a:avLst>
          </a:prstGeom>
          <a:solidFill>
            <a:srgbClr val="F4F7D3"/>
          </a:solidFill>
          <a:ln w="12700">
            <a:solidFill>
              <a:srgbClr val="F4F7D3"/>
            </a:solidFill>
            <a:prstDash val="solid"/>
          </a:ln>
        </p:spPr>
      </p:sp>
      <p:sp>
        <p:nvSpPr>
          <p:cNvPr id="25" name="Text 23"/>
          <p:cNvSpPr txBox="1"/>
          <p:nvPr/>
        </p:nvSpPr>
        <p:spPr>
          <a:xfrm>
            <a:off x="5559552" y="4663440"/>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0</a:t>
            </a:r>
            <a:endParaRPr lang="en-US" sz="1600" dirty="0"/>
          </a:p>
        </p:txBody>
      </p:sp>
      <p:sp>
        <p:nvSpPr>
          <p:cNvPr id="26" name="Text 24"/>
          <p:cNvSpPr txBox="1"/>
          <p:nvPr/>
        </p:nvSpPr>
        <p:spPr>
          <a:xfrm>
            <a:off x="548640" y="5349240"/>
            <a:ext cx="2377440" cy="868680"/>
          </a:xfrm>
          <a:prstGeom prst="rect">
            <a:avLst/>
          </a:prstGeom>
          <a:noFill/>
          <a:ln/>
        </p:spPr>
        <p:txBody>
          <a:bodyPr wrap="square" lIns="0" tIns="0" rIns="0" bIns="0" rtlCol="0" anchor="ctr"/>
          <a:lstStyle/>
          <a:p>
            <a:pPr indent="0" marL="0">
              <a:buNone/>
            </a:pPr>
            <a:r>
              <a:rPr lang="en-US" sz="5400" b="1" dirty="0">
                <a:solidFill>
                  <a:srgbClr val="2E2E2E"/>
                </a:solidFill>
              </a:rPr>
              <a:t>22</a:t>
            </a:r>
            <a:pPr indent="0" marL="0">
              <a:buNone/>
            </a:pPr>
            <a:r>
              <a:rPr lang="en-US" sz="2200" dirty="0">
                <a:solidFill>
                  <a:srgbClr val="5F5F5F"/>
                </a:solidFill>
              </a:rPr>
              <a:t> / 26</a:t>
            </a:r>
            <a:endParaRPr lang="en-US" sz="5400" dirty="0"/>
          </a:p>
        </p:txBody>
      </p:sp>
      <p:sp>
        <p:nvSpPr>
          <p:cNvPr id="27" name="Text 25"/>
          <p:cNvSpPr txBox="1"/>
          <p:nvPr/>
        </p:nvSpPr>
        <p:spPr>
          <a:xfrm>
            <a:off x="2926080" y="5349240"/>
            <a:ext cx="4480560" cy="868680"/>
          </a:xfrm>
          <a:prstGeom prst="rect">
            <a:avLst/>
          </a:prstGeom>
          <a:noFill/>
          <a:ln/>
        </p:spPr>
        <p:txBody>
          <a:bodyPr wrap="square" lIns="0" tIns="0" rIns="0" bIns="0" rtlCol="0" anchor="ctr"/>
          <a:lstStyle/>
          <a:p>
            <a:pPr indent="0" marL="0">
              <a:buNone/>
            </a:pPr>
            <a:r>
              <a:rPr lang="en-US" sz="1400" dirty="0">
                <a:solidFill>
                  <a:srgbClr val="5F5F5F"/>
                </a:solidFill>
              </a:rPr>
              <a:t>Total Y · todo con vigilancia (CV): persona permanente, capacitada y con plan de alarma</a:t>
            </a:r>
            <a:endParaRPr lang="en-US" sz="1400" dirty="0"/>
          </a:p>
        </p:txBody>
      </p:sp>
      <p:pic>
        <p:nvPicPr>
          <p:cNvPr id="28" name="foto Rociadores bajo la cubierta" descr="/tmp/claude-0/-home-user-cedi-d1-lebrija/46e3a16f-f43b-510e-9032-e476e8d715c5/scratchpad/ppt/recortes/29-2_2.2x1.6.jpg">    </p:cNvPr>
          <p:cNvPicPr>
            <a:picLocks noChangeAspect="1"/>
          </p:cNvPicPr>
          <p:nvPr/>
        </p:nvPicPr>
        <p:blipFill>
          <a:blip r:embed="rId1"/>
          <a:stretch>
            <a:fillRect/>
          </a:stretch>
        </p:blipFill>
        <p:spPr>
          <a:xfrm>
            <a:off x="7680960" y="1325880"/>
            <a:ext cx="2011680" cy="1463040"/>
          </a:xfrm>
          <a:prstGeom prst="rect">
            <a:avLst/>
          </a:prstGeom>
        </p:spPr>
      </p:pic>
      <p:sp>
        <p:nvSpPr>
          <p:cNvPr id="29" name="Text 26"/>
          <p:cNvSpPr txBox="1"/>
          <p:nvPr/>
        </p:nvSpPr>
        <p:spPr>
          <a:xfrm>
            <a:off x="9829800" y="1325880"/>
            <a:ext cx="1828800" cy="1463040"/>
          </a:xfrm>
          <a:prstGeom prst="rect">
            <a:avLst/>
          </a:prstGeom>
          <a:noFill/>
          <a:ln/>
        </p:spPr>
        <p:txBody>
          <a:bodyPr wrap="square" lIns="0" tIns="0" rIns="0" bIns="0" rtlCol="0" anchor="ctr"/>
          <a:lstStyle/>
          <a:p>
            <a:pPr indent="0" marL="0">
              <a:buNone/>
            </a:pPr>
            <a:r>
              <a:rPr lang="en-US" sz="1500" b="1" dirty="0">
                <a:solidFill>
                  <a:srgbClr val="2E2E2E"/>
                </a:solidFill>
              </a:rPr>
              <a:t>Rociadores bajo la cubierta</a:t>
            </a:r>
            <a:endParaRPr lang="en-US" sz="1500" dirty="0"/>
          </a:p>
        </p:txBody>
      </p:sp>
      <p:pic>
        <p:nvPicPr>
          <p:cNvPr id="30" name="foto Gabinete contra incendio" descr="/tmp/claude-0/-home-user-cedi-d1-lebrija/46e3a16f-f43b-510e-9032-e476e8d715c5/scratchpad/ppt/recortes/n_gab_2.2x1.6.jpg">    </p:cNvPr>
          <p:cNvPicPr>
            <a:picLocks noChangeAspect="1"/>
          </p:cNvPicPr>
          <p:nvPr/>
        </p:nvPicPr>
        <p:blipFill>
          <a:blip r:embed="rId2"/>
          <a:stretch>
            <a:fillRect/>
          </a:stretch>
        </p:blipFill>
        <p:spPr>
          <a:xfrm>
            <a:off x="7680960" y="2971800"/>
            <a:ext cx="2011680" cy="1463040"/>
          </a:xfrm>
          <a:prstGeom prst="rect">
            <a:avLst/>
          </a:prstGeom>
        </p:spPr>
      </p:pic>
      <p:sp>
        <p:nvSpPr>
          <p:cNvPr id="31" name="Text 27"/>
          <p:cNvSpPr txBox="1"/>
          <p:nvPr/>
        </p:nvSpPr>
        <p:spPr>
          <a:xfrm>
            <a:off x="9829800" y="2971800"/>
            <a:ext cx="1828800" cy="1463040"/>
          </a:xfrm>
          <a:prstGeom prst="rect">
            <a:avLst/>
          </a:prstGeom>
          <a:noFill/>
          <a:ln/>
        </p:spPr>
        <p:txBody>
          <a:bodyPr wrap="square" lIns="0" tIns="0" rIns="0" bIns="0" rtlCol="0" anchor="ctr"/>
          <a:lstStyle/>
          <a:p>
            <a:pPr indent="0" marL="0">
              <a:buNone/>
            </a:pPr>
            <a:r>
              <a:rPr lang="en-US" sz="1500" b="1" dirty="0">
                <a:solidFill>
                  <a:srgbClr val="2E2E2E"/>
                </a:solidFill>
              </a:rPr>
              <a:t>Gabinete contra incendio</a:t>
            </a:r>
            <a:endParaRPr lang="en-US" sz="1500" dirty="0"/>
          </a:p>
        </p:txBody>
      </p:sp>
      <p:pic>
        <p:nvPicPr>
          <p:cNvPr id="32" name="foto Hidrante exterior" descr="/tmp/claude-0/-home-user-cedi-d1-lebrija/46e3a16f-f43b-510e-9032-e476e8d715c5/scratchpad/ppt/recortes/n_hidrante_2.2x1.6.jpg">    </p:cNvPr>
          <p:cNvPicPr>
            <a:picLocks noChangeAspect="1"/>
          </p:cNvPicPr>
          <p:nvPr/>
        </p:nvPicPr>
        <p:blipFill>
          <a:blip r:embed="rId3"/>
          <a:stretch>
            <a:fillRect/>
          </a:stretch>
        </p:blipFill>
        <p:spPr>
          <a:xfrm>
            <a:off x="7680960" y="4617720"/>
            <a:ext cx="2011680" cy="1463040"/>
          </a:xfrm>
          <a:prstGeom prst="rect">
            <a:avLst/>
          </a:prstGeom>
        </p:spPr>
      </p:pic>
      <p:sp>
        <p:nvSpPr>
          <p:cNvPr id="33" name="Text 28"/>
          <p:cNvSpPr txBox="1"/>
          <p:nvPr/>
        </p:nvSpPr>
        <p:spPr>
          <a:xfrm>
            <a:off x="9829800" y="4617720"/>
            <a:ext cx="1828800" cy="1463040"/>
          </a:xfrm>
          <a:prstGeom prst="rect">
            <a:avLst/>
          </a:prstGeom>
          <a:noFill/>
          <a:ln/>
        </p:spPr>
        <p:txBody>
          <a:bodyPr wrap="square" lIns="0" tIns="0" rIns="0" bIns="0" rtlCol="0" anchor="ctr"/>
          <a:lstStyle/>
          <a:p>
            <a:pPr indent="0" marL="0">
              <a:buNone/>
            </a:pPr>
            <a:r>
              <a:rPr lang="en-US" sz="1500" b="1" dirty="0">
                <a:solidFill>
                  <a:srgbClr val="2E2E2E"/>
                </a:solidFill>
              </a:rPr>
              <a:t>Hidrante exterior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Resultado: coeficiente de protección P</a:t>
            </a:r>
            <a:endParaRPr lang="en-US" sz="3200" dirty="0"/>
          </a:p>
        </p:txBody>
      </p:sp>
      <p:sp>
        <p:nvSpPr>
          <p:cNvPr id="3" name="paso 1"/>
          <p:cNvSpPr/>
          <p:nvPr/>
        </p:nvSpPr>
        <p:spPr>
          <a:xfrm>
            <a:off x="548640" y="1417320"/>
            <a:ext cx="640080" cy="640080"/>
          </a:xfrm>
          <a:prstGeom prst="ellipse">
            <a:avLst/>
          </a:prstGeom>
          <a:solidFill>
            <a:srgbClr val="CAD225"/>
          </a:solidFill>
          <a:ln w="12700">
            <a:solidFill>
              <a:srgbClr val="CAD225"/>
            </a:solidFill>
            <a:prstDash val="solid"/>
          </a:ln>
        </p:spPr>
      </p:sp>
      <p:sp>
        <p:nvSpPr>
          <p:cNvPr id="4" name="Text 2"/>
          <p:cNvSpPr txBox="1"/>
          <p:nvPr/>
        </p:nvSpPr>
        <p:spPr>
          <a:xfrm>
            <a:off x="548640" y="1417320"/>
            <a:ext cx="640080" cy="640080"/>
          </a:xfrm>
          <a:prstGeom prst="rect">
            <a:avLst/>
          </a:prstGeom>
          <a:noFill/>
          <a:ln/>
        </p:spPr>
        <p:txBody>
          <a:bodyPr wrap="square" lIns="0" tIns="0" rIns="0" bIns="0" rtlCol="0" anchor="ctr"/>
          <a:lstStyle/>
          <a:p>
            <a:pPr algn="ctr" indent="0" marL="0">
              <a:buNone/>
            </a:pPr>
            <a:r>
              <a:rPr lang="en-US" sz="2000" b="1" dirty="0">
                <a:solidFill>
                  <a:srgbClr val="2E2E2E"/>
                </a:solidFill>
              </a:rPr>
              <a:t>1</a:t>
            </a:r>
            <a:endParaRPr lang="en-US" sz="2000" dirty="0"/>
          </a:p>
        </p:txBody>
      </p:sp>
      <p:sp>
        <p:nvSpPr>
          <p:cNvPr id="5" name="Text 3"/>
          <p:cNvSpPr txBox="1"/>
          <p:nvPr/>
        </p:nvSpPr>
        <p:spPr>
          <a:xfrm>
            <a:off x="1371600" y="1325880"/>
            <a:ext cx="5669280" cy="868680"/>
          </a:xfrm>
          <a:prstGeom prst="rect">
            <a:avLst/>
          </a:prstGeom>
          <a:noFill/>
          <a:ln/>
        </p:spPr>
        <p:txBody>
          <a:bodyPr wrap="square" lIns="0" tIns="0" rIns="0" bIns="0" rtlCol="0" anchor="ctr"/>
          <a:lstStyle/>
          <a:p>
            <a:pPr indent="0" marL="0">
              <a:buNone/>
            </a:pPr>
            <a:r>
              <a:rPr lang="en-US" sz="1400" dirty="0">
                <a:solidFill>
                  <a:srgbClr val="5F5F5F"/>
                </a:solidFill>
              </a:rPr>
              <a:t>Fórmula</a:t>
            </a:r>
            <a:endParaRPr lang="en-US" sz="1400" dirty="0"/>
          </a:p>
          <a:p>
            <a:pPr indent="0" marL="0">
              <a:buNone/>
            </a:pPr>
            <a:r>
              <a:rPr lang="en-US" sz="2200" b="1" dirty="0">
                <a:solidFill>
                  <a:srgbClr val="2E2E2E"/>
                </a:solidFill>
              </a:rPr>
              <a:t>P = 5X / 129 + 5Y / 26 + BCI</a:t>
            </a:r>
            <a:endParaRPr lang="en-US" sz="1400" dirty="0"/>
          </a:p>
        </p:txBody>
      </p:sp>
      <p:sp>
        <p:nvSpPr>
          <p:cNvPr id="6" name="paso 2"/>
          <p:cNvSpPr/>
          <p:nvPr/>
        </p:nvSpPr>
        <p:spPr>
          <a:xfrm>
            <a:off x="548640" y="2468880"/>
            <a:ext cx="640080" cy="640080"/>
          </a:xfrm>
          <a:prstGeom prst="ellipse">
            <a:avLst/>
          </a:prstGeom>
          <a:solidFill>
            <a:srgbClr val="CAD225"/>
          </a:solidFill>
          <a:ln w="12700">
            <a:solidFill>
              <a:srgbClr val="CAD225"/>
            </a:solidFill>
            <a:prstDash val="solid"/>
          </a:ln>
        </p:spPr>
      </p:sp>
      <p:sp>
        <p:nvSpPr>
          <p:cNvPr id="7" name="Text 5"/>
          <p:cNvSpPr txBox="1"/>
          <p:nvPr/>
        </p:nvSpPr>
        <p:spPr>
          <a:xfrm>
            <a:off x="548640" y="2468880"/>
            <a:ext cx="640080" cy="640080"/>
          </a:xfrm>
          <a:prstGeom prst="rect">
            <a:avLst/>
          </a:prstGeom>
          <a:noFill/>
          <a:ln/>
        </p:spPr>
        <p:txBody>
          <a:bodyPr wrap="square" lIns="0" tIns="0" rIns="0" bIns="0" rtlCol="0" anchor="ctr"/>
          <a:lstStyle/>
          <a:p>
            <a:pPr algn="ctr" indent="0" marL="0">
              <a:buNone/>
            </a:pPr>
            <a:r>
              <a:rPr lang="en-US" sz="2000" b="1" dirty="0">
                <a:solidFill>
                  <a:srgbClr val="2E2E2E"/>
                </a:solidFill>
              </a:rPr>
              <a:t>2</a:t>
            </a:r>
            <a:endParaRPr lang="en-US" sz="2000" dirty="0"/>
          </a:p>
        </p:txBody>
      </p:sp>
      <p:sp>
        <p:nvSpPr>
          <p:cNvPr id="8" name="Text 6"/>
          <p:cNvSpPr txBox="1"/>
          <p:nvPr/>
        </p:nvSpPr>
        <p:spPr>
          <a:xfrm>
            <a:off x="1371600" y="2377440"/>
            <a:ext cx="5669280" cy="868680"/>
          </a:xfrm>
          <a:prstGeom prst="rect">
            <a:avLst/>
          </a:prstGeom>
          <a:noFill/>
          <a:ln/>
        </p:spPr>
        <p:txBody>
          <a:bodyPr wrap="square" lIns="0" tIns="0" rIns="0" bIns="0" rtlCol="0" anchor="ctr"/>
          <a:lstStyle/>
          <a:p>
            <a:pPr indent="0" marL="0">
              <a:buNone/>
            </a:pPr>
            <a:r>
              <a:rPr lang="en-US" sz="1400" dirty="0">
                <a:solidFill>
                  <a:srgbClr val="5F5F5F"/>
                </a:solidFill>
              </a:rPr>
              <a:t>Reemplazo</a:t>
            </a:r>
            <a:endParaRPr lang="en-US" sz="1400" dirty="0"/>
          </a:p>
          <a:p>
            <a:pPr indent="0" marL="0">
              <a:buNone/>
            </a:pPr>
            <a:r>
              <a:rPr lang="en-US" sz="2200" b="1" dirty="0">
                <a:solidFill>
                  <a:srgbClr val="2E2E2E"/>
                </a:solidFill>
              </a:rPr>
              <a:t>P = 5(57) / 129 + 5(22) / 26 + 0</a:t>
            </a:r>
            <a:endParaRPr lang="en-US" sz="1400" dirty="0"/>
          </a:p>
        </p:txBody>
      </p:sp>
      <p:sp>
        <p:nvSpPr>
          <p:cNvPr id="9" name="paso 3"/>
          <p:cNvSpPr/>
          <p:nvPr/>
        </p:nvSpPr>
        <p:spPr>
          <a:xfrm>
            <a:off x="548640" y="3520440"/>
            <a:ext cx="640080" cy="640080"/>
          </a:xfrm>
          <a:prstGeom prst="ellipse">
            <a:avLst/>
          </a:prstGeom>
          <a:solidFill>
            <a:srgbClr val="CAD225"/>
          </a:solidFill>
          <a:ln w="12700">
            <a:solidFill>
              <a:srgbClr val="CAD225"/>
            </a:solidFill>
            <a:prstDash val="solid"/>
          </a:ln>
        </p:spPr>
      </p:sp>
      <p:sp>
        <p:nvSpPr>
          <p:cNvPr id="10" name="Text 8"/>
          <p:cNvSpPr txBox="1"/>
          <p:nvPr/>
        </p:nvSpPr>
        <p:spPr>
          <a:xfrm>
            <a:off x="548640" y="3520440"/>
            <a:ext cx="640080" cy="640080"/>
          </a:xfrm>
          <a:prstGeom prst="rect">
            <a:avLst/>
          </a:prstGeom>
          <a:noFill/>
          <a:ln/>
        </p:spPr>
        <p:txBody>
          <a:bodyPr wrap="square" lIns="0" tIns="0" rIns="0" bIns="0" rtlCol="0" anchor="ctr"/>
          <a:lstStyle/>
          <a:p>
            <a:pPr algn="ctr" indent="0" marL="0">
              <a:buNone/>
            </a:pPr>
            <a:r>
              <a:rPr lang="en-US" sz="2000" b="1" dirty="0">
                <a:solidFill>
                  <a:srgbClr val="2E2E2E"/>
                </a:solidFill>
              </a:rPr>
              <a:t>3</a:t>
            </a:r>
            <a:endParaRPr lang="en-US" sz="2000" dirty="0"/>
          </a:p>
        </p:txBody>
      </p:sp>
      <p:sp>
        <p:nvSpPr>
          <p:cNvPr id="11" name="Text 9"/>
          <p:cNvSpPr txBox="1"/>
          <p:nvPr/>
        </p:nvSpPr>
        <p:spPr>
          <a:xfrm>
            <a:off x="1371600" y="3429000"/>
            <a:ext cx="5669280" cy="868680"/>
          </a:xfrm>
          <a:prstGeom prst="rect">
            <a:avLst/>
          </a:prstGeom>
          <a:noFill/>
          <a:ln/>
        </p:spPr>
        <p:txBody>
          <a:bodyPr wrap="square" lIns="0" tIns="0" rIns="0" bIns="0" rtlCol="0" anchor="ctr"/>
          <a:lstStyle/>
          <a:p>
            <a:pPr indent="0" marL="0">
              <a:buNone/>
            </a:pPr>
            <a:r>
              <a:rPr lang="en-US" sz="1400" dirty="0">
                <a:solidFill>
                  <a:srgbClr val="5F5F5F"/>
                </a:solidFill>
              </a:rPr>
              <a:t>Operación</a:t>
            </a:r>
            <a:endParaRPr lang="en-US" sz="1400" dirty="0"/>
          </a:p>
          <a:p>
            <a:pPr indent="0" marL="0">
              <a:buNone/>
            </a:pPr>
            <a:r>
              <a:rPr lang="en-US" sz="2200" b="1" dirty="0">
                <a:solidFill>
                  <a:srgbClr val="2E2E2E"/>
                </a:solidFill>
              </a:rPr>
              <a:t>P = 2,209 + 4,231 + 0</a:t>
            </a:r>
            <a:endParaRPr lang="en-US" sz="1400" dirty="0"/>
          </a:p>
        </p:txBody>
      </p:sp>
      <p:sp>
        <p:nvSpPr>
          <p:cNvPr id="12" name="Text 10"/>
          <p:cNvSpPr txBox="1"/>
          <p:nvPr/>
        </p:nvSpPr>
        <p:spPr>
          <a:xfrm>
            <a:off x="548640" y="4572000"/>
            <a:ext cx="6492240" cy="457200"/>
          </a:xfrm>
          <a:prstGeom prst="rect">
            <a:avLst/>
          </a:prstGeom>
          <a:noFill/>
          <a:ln/>
        </p:spPr>
        <p:txBody>
          <a:bodyPr wrap="square" lIns="0" tIns="0" rIns="0" bIns="0" rtlCol="0" anchor="ctr"/>
          <a:lstStyle/>
          <a:p>
            <a:pPr indent="0" marL="0">
              <a:buNone/>
            </a:pPr>
            <a:r>
              <a:rPr lang="en-US" sz="1500" i="1" dirty="0">
                <a:solidFill>
                  <a:srgbClr val="5F5F5F"/>
                </a:solidFill>
              </a:rPr>
              <a:t>La brigada (BCI) vale 0: el CEDI no tiene brigada contra incendios.</a:t>
            </a:r>
            <a:endParaRPr lang="en-US" sz="1500" dirty="0"/>
          </a:p>
        </p:txBody>
      </p:sp>
      <p:sp>
        <p:nvSpPr>
          <p:cNvPr id="13" name="resultado P"/>
          <p:cNvSpPr/>
          <p:nvPr/>
        </p:nvSpPr>
        <p:spPr>
          <a:xfrm>
            <a:off x="7863840" y="1280160"/>
            <a:ext cx="3291840" cy="3291840"/>
          </a:xfrm>
          <a:prstGeom prst="ellipse">
            <a:avLst/>
          </a:prstGeom>
          <a:solidFill>
            <a:srgbClr val="CAD225"/>
          </a:solidFill>
          <a:ln w="12700">
            <a:solidFill>
              <a:srgbClr val="CAD225"/>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7863840" y="1280160"/>
            <a:ext cx="3291840" cy="3291840"/>
          </a:xfrm>
          <a:prstGeom prst="rect">
            <a:avLst/>
          </a:prstGeom>
          <a:noFill/>
          <a:ln/>
        </p:spPr>
        <p:txBody>
          <a:bodyPr wrap="square" lIns="0" tIns="0" rIns="0" bIns="0" rtlCol="0" anchor="ctr"/>
          <a:lstStyle/>
          <a:p>
            <a:pPr algn="ctr" indent="0" marL="0">
              <a:buNone/>
            </a:pPr>
            <a:r>
              <a:rPr lang="en-US" sz="2200" dirty="0">
                <a:solidFill>
                  <a:srgbClr val="2E2E2E"/>
                </a:solidFill>
              </a:rPr>
              <a:t>P =</a:t>
            </a:r>
            <a:endParaRPr lang="en-US" sz="2200" dirty="0"/>
          </a:p>
          <a:p>
            <a:pPr algn="ctr" indent="0" marL="0">
              <a:buNone/>
            </a:pPr>
            <a:r>
              <a:rPr lang="en-US" sz="6600" b="1" dirty="0">
                <a:solidFill>
                  <a:srgbClr val="2E2E2E"/>
                </a:solidFill>
              </a:rPr>
              <a:t>6,44</a:t>
            </a:r>
            <a:endParaRPr lang="en-US" sz="2200" dirty="0"/>
          </a:p>
          <a:p>
            <a:pPr algn="ctr" indent="0" marL="0">
              <a:buNone/>
            </a:pPr>
            <a:r>
              <a:rPr lang="en-US" sz="2000" b="1" dirty="0">
                <a:solidFill>
                  <a:srgbClr val="2E2E2E"/>
                </a:solidFill>
              </a:rPr>
              <a:t>Riesgo bueno</a:t>
            </a:r>
            <a:endParaRPr lang="en-US" sz="2200" dirty="0"/>
          </a:p>
        </p:txBody>
      </p:sp>
      <p:sp>
        <p:nvSpPr>
          <p:cNvPr id="15" name="tramo Muy malo"/>
          <p:cNvSpPr/>
          <p:nvPr/>
        </p:nvSpPr>
        <p:spPr>
          <a:xfrm>
            <a:off x="548640" y="5349240"/>
            <a:ext cx="3327502" cy="411480"/>
          </a:xfrm>
          <a:prstGeom prst="rect">
            <a:avLst/>
          </a:prstGeom>
          <a:solidFill>
            <a:srgbClr val="E8836F"/>
          </a:solidFill>
          <a:ln w="12700">
            <a:solidFill>
              <a:srgbClr val="FFFFFF"/>
            </a:solidFill>
            <a:prstDash val="solid"/>
          </a:ln>
        </p:spPr>
      </p:sp>
      <p:sp>
        <p:nvSpPr>
          <p:cNvPr id="16" name="Text 14"/>
          <p:cNvSpPr txBox="1"/>
          <p:nvPr/>
        </p:nvSpPr>
        <p:spPr>
          <a:xfrm>
            <a:off x="548640" y="5349240"/>
            <a:ext cx="3327502" cy="411480"/>
          </a:xfrm>
          <a:prstGeom prst="rect">
            <a:avLst/>
          </a:prstGeom>
          <a:noFill/>
          <a:ln/>
        </p:spPr>
        <p:txBody>
          <a:bodyPr wrap="square" lIns="0" tIns="0" rIns="0" bIns="0" rtlCol="0" anchor="ctr"/>
          <a:lstStyle/>
          <a:p>
            <a:pPr algn="ctr" indent="0" marL="0">
              <a:buNone/>
            </a:pPr>
            <a:r>
              <a:rPr lang="en-US" sz="1300" dirty="0">
                <a:solidFill>
                  <a:srgbClr val="2E2E2E"/>
                </a:solidFill>
              </a:rPr>
              <a:t>Muy malo</a:t>
            </a:r>
            <a:endParaRPr lang="en-US" sz="1300" dirty="0"/>
          </a:p>
        </p:txBody>
      </p:sp>
      <p:sp>
        <p:nvSpPr>
          <p:cNvPr id="17" name="tramo Malo"/>
          <p:cNvSpPr/>
          <p:nvPr/>
        </p:nvSpPr>
        <p:spPr>
          <a:xfrm>
            <a:off x="3876142" y="5349240"/>
            <a:ext cx="2218334" cy="411480"/>
          </a:xfrm>
          <a:prstGeom prst="rect">
            <a:avLst/>
          </a:prstGeom>
          <a:solidFill>
            <a:srgbClr val="F2B76B"/>
          </a:solidFill>
          <a:ln w="12700">
            <a:solidFill>
              <a:srgbClr val="FFFFFF"/>
            </a:solidFill>
            <a:prstDash val="solid"/>
          </a:ln>
        </p:spPr>
      </p:sp>
      <p:sp>
        <p:nvSpPr>
          <p:cNvPr id="18" name="Text 16"/>
          <p:cNvSpPr txBox="1"/>
          <p:nvPr/>
        </p:nvSpPr>
        <p:spPr>
          <a:xfrm>
            <a:off x="3876142" y="5349240"/>
            <a:ext cx="2218334" cy="411480"/>
          </a:xfrm>
          <a:prstGeom prst="rect">
            <a:avLst/>
          </a:prstGeom>
          <a:noFill/>
          <a:ln/>
        </p:spPr>
        <p:txBody>
          <a:bodyPr wrap="square" lIns="0" tIns="0" rIns="0" bIns="0" rtlCol="0" anchor="ctr"/>
          <a:lstStyle/>
          <a:p>
            <a:pPr algn="ctr" indent="0" marL="0">
              <a:buNone/>
            </a:pPr>
            <a:r>
              <a:rPr lang="en-US" sz="1300" dirty="0">
                <a:solidFill>
                  <a:srgbClr val="2E2E2E"/>
                </a:solidFill>
              </a:rPr>
              <a:t>Malo</a:t>
            </a:r>
            <a:endParaRPr lang="en-US" sz="1300" dirty="0"/>
          </a:p>
        </p:txBody>
      </p:sp>
      <p:sp>
        <p:nvSpPr>
          <p:cNvPr id="19" name="tramo Bueno"/>
          <p:cNvSpPr/>
          <p:nvPr/>
        </p:nvSpPr>
        <p:spPr>
          <a:xfrm>
            <a:off x="6094476" y="5349240"/>
            <a:ext cx="3327502" cy="411480"/>
          </a:xfrm>
          <a:prstGeom prst="rect">
            <a:avLst/>
          </a:prstGeom>
          <a:solidFill>
            <a:srgbClr val="F4F7D3"/>
          </a:solidFill>
          <a:ln w="12700">
            <a:solidFill>
              <a:srgbClr val="FFFFFF"/>
            </a:solidFill>
            <a:prstDash val="solid"/>
          </a:ln>
        </p:spPr>
      </p:sp>
      <p:sp>
        <p:nvSpPr>
          <p:cNvPr id="20" name="Text 18"/>
          <p:cNvSpPr txBox="1"/>
          <p:nvPr/>
        </p:nvSpPr>
        <p:spPr>
          <a:xfrm>
            <a:off x="6094476" y="5349240"/>
            <a:ext cx="3327502" cy="411480"/>
          </a:xfrm>
          <a:prstGeom prst="rect">
            <a:avLst/>
          </a:prstGeom>
          <a:noFill/>
          <a:ln/>
        </p:spPr>
        <p:txBody>
          <a:bodyPr wrap="square" lIns="0" tIns="0" rIns="0" bIns="0" rtlCol="0" anchor="ctr"/>
          <a:lstStyle/>
          <a:p>
            <a:pPr algn="ctr" indent="0" marL="0">
              <a:buNone/>
            </a:pPr>
            <a:r>
              <a:rPr lang="en-US" sz="1300" dirty="0">
                <a:solidFill>
                  <a:srgbClr val="2E2E2E"/>
                </a:solidFill>
              </a:rPr>
              <a:t>Bueno</a:t>
            </a:r>
            <a:endParaRPr lang="en-US" sz="1300" dirty="0"/>
          </a:p>
        </p:txBody>
      </p:sp>
      <p:sp>
        <p:nvSpPr>
          <p:cNvPr id="21" name="tramo Muy bueno"/>
          <p:cNvSpPr/>
          <p:nvPr/>
        </p:nvSpPr>
        <p:spPr>
          <a:xfrm>
            <a:off x="9421978" y="5349240"/>
            <a:ext cx="2218334" cy="411480"/>
          </a:xfrm>
          <a:prstGeom prst="rect">
            <a:avLst/>
          </a:prstGeom>
          <a:solidFill>
            <a:srgbClr val="CAD225"/>
          </a:solidFill>
          <a:ln w="12700">
            <a:solidFill>
              <a:srgbClr val="FFFFFF"/>
            </a:solidFill>
            <a:prstDash val="solid"/>
          </a:ln>
        </p:spPr>
      </p:sp>
      <p:sp>
        <p:nvSpPr>
          <p:cNvPr id="22" name="Text 20"/>
          <p:cNvSpPr txBox="1"/>
          <p:nvPr/>
        </p:nvSpPr>
        <p:spPr>
          <a:xfrm>
            <a:off x="9421978" y="5349240"/>
            <a:ext cx="2218334" cy="411480"/>
          </a:xfrm>
          <a:prstGeom prst="rect">
            <a:avLst/>
          </a:prstGeom>
          <a:noFill/>
          <a:ln/>
        </p:spPr>
        <p:txBody>
          <a:bodyPr wrap="square" lIns="0" tIns="0" rIns="0" bIns="0" rtlCol="0" anchor="ctr"/>
          <a:lstStyle/>
          <a:p>
            <a:pPr algn="ctr" indent="0" marL="0">
              <a:buNone/>
            </a:pPr>
            <a:r>
              <a:rPr lang="en-US" sz="1300" dirty="0">
                <a:solidFill>
                  <a:srgbClr val="2E2E2E"/>
                </a:solidFill>
              </a:rPr>
              <a:t>Muy bueno</a:t>
            </a:r>
            <a:endParaRPr lang="en-US" sz="1300" dirty="0"/>
          </a:p>
        </p:txBody>
      </p:sp>
      <p:sp>
        <p:nvSpPr>
          <p:cNvPr id="23" name="marcador 6,44"/>
          <p:cNvSpPr/>
          <p:nvPr/>
        </p:nvSpPr>
        <p:spPr>
          <a:xfrm flipV="1">
            <a:off x="7554517" y="5056632"/>
            <a:ext cx="274320" cy="237744"/>
          </a:xfrm>
          <a:prstGeom prst="triangle">
            <a:avLst/>
          </a:prstGeom>
          <a:solidFill>
            <a:srgbClr val="3B3B3B"/>
          </a:solidFill>
          <a:ln w="12700">
            <a:solidFill>
              <a:srgbClr val="3B3B3B"/>
            </a:solidFill>
            <a:prstDash val="solid"/>
          </a:ln>
        </p:spPr>
      </p:sp>
      <p:sp>
        <p:nvSpPr>
          <p:cNvPr id="24" name="Text 22"/>
          <p:cNvSpPr txBox="1"/>
          <p:nvPr/>
        </p:nvSpPr>
        <p:spPr>
          <a:xfrm>
            <a:off x="548640" y="5788152"/>
            <a:ext cx="365760" cy="274320"/>
          </a:xfrm>
          <a:prstGeom prst="rect">
            <a:avLst/>
          </a:prstGeom>
          <a:noFill/>
          <a:ln/>
        </p:spPr>
        <p:txBody>
          <a:bodyPr wrap="square" lIns="0" tIns="0" rIns="0" bIns="0" rtlCol="0" anchor="ctr"/>
          <a:lstStyle/>
          <a:p>
            <a:pPr indent="0" marL="0">
              <a:buNone/>
            </a:pPr>
            <a:r>
              <a:rPr lang="en-US" sz="1100" dirty="0">
                <a:solidFill>
                  <a:srgbClr val="5F5F5F"/>
                </a:solidFill>
              </a:rPr>
              <a:t>0</a:t>
            </a:r>
            <a:endParaRPr lang="en-US" sz="1100" dirty="0"/>
          </a:p>
        </p:txBody>
      </p:sp>
      <p:sp>
        <p:nvSpPr>
          <p:cNvPr id="25" name="Text 23"/>
          <p:cNvSpPr txBox="1"/>
          <p:nvPr/>
        </p:nvSpPr>
        <p:spPr>
          <a:xfrm>
            <a:off x="11274552" y="5788152"/>
            <a:ext cx="365760" cy="274320"/>
          </a:xfrm>
          <a:prstGeom prst="rect">
            <a:avLst/>
          </a:prstGeom>
          <a:noFill/>
          <a:ln/>
        </p:spPr>
        <p:txBody>
          <a:bodyPr wrap="square" lIns="0" tIns="0" rIns="0" bIns="0" rtlCol="0" anchor="ctr"/>
          <a:lstStyle/>
          <a:p>
            <a:pPr algn="r" indent="0" marL="0">
              <a:buNone/>
            </a:pPr>
            <a:r>
              <a:rPr lang="en-US" sz="1100" dirty="0">
                <a:solidFill>
                  <a:srgbClr val="5F5F5F"/>
                </a:solidFill>
              </a:rPr>
              <a:t>10</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¿Qué pasaría si…?</a:t>
            </a:r>
            <a:endParaRPr lang="en-US" sz="3200" dirty="0"/>
          </a:p>
        </p:txBody>
      </p:sp>
      <p:sp>
        <p:nvSpPr>
          <p:cNvPr id="3" name="Text 1"/>
          <p:cNvSpPr txBox="1"/>
          <p:nvPr/>
        </p:nvSpPr>
        <p:spPr>
          <a:xfrm>
            <a:off x="548640" y="1508760"/>
            <a:ext cx="3474720" cy="822960"/>
          </a:xfrm>
          <a:prstGeom prst="rect">
            <a:avLst/>
          </a:prstGeom>
          <a:noFill/>
          <a:ln/>
        </p:spPr>
        <p:txBody>
          <a:bodyPr wrap="square" lIns="0" tIns="0" rIns="0" bIns="0" rtlCol="0" anchor="ctr"/>
          <a:lstStyle/>
          <a:p>
            <a:pPr indent="0" marL="0">
              <a:buNone/>
            </a:pPr>
            <a:r>
              <a:rPr lang="en-US" sz="1800" b="1" dirty="0">
                <a:solidFill>
                  <a:srgbClr val="2E2E2E"/>
                </a:solidFill>
              </a:rPr>
              <a:t>Sin vigilancia (SV)</a:t>
            </a:r>
            <a:endParaRPr lang="en-US" sz="1800" dirty="0"/>
          </a:p>
          <a:p>
            <a:pPr indent="0" marL="0">
              <a:buNone/>
            </a:pPr>
            <a:r>
              <a:rPr lang="en-US" sz="1400" dirty="0">
                <a:solidFill>
                  <a:srgbClr val="5F5F5F"/>
                </a:solidFill>
              </a:rPr>
              <a:t>Y bajaría de 22 a 10</a:t>
            </a:r>
            <a:endParaRPr lang="en-US" sz="1800" dirty="0"/>
          </a:p>
        </p:txBody>
      </p:sp>
      <p:sp>
        <p:nvSpPr>
          <p:cNvPr id="4" name="barra Sin vigilancia (SV)"/>
          <p:cNvSpPr/>
          <p:nvPr/>
        </p:nvSpPr>
        <p:spPr>
          <a:xfrm>
            <a:off x="4206240" y="1645920"/>
            <a:ext cx="2870119" cy="548640"/>
          </a:xfrm>
          <a:prstGeom prst="rect">
            <a:avLst/>
          </a:prstGeom>
          <a:solidFill>
            <a:srgbClr val="F2B76B"/>
          </a:solidFill>
          <a:ln w="12700">
            <a:solidFill>
              <a:srgbClr val="F2B76B"/>
            </a:solidFill>
            <a:prstDash val="solid"/>
          </a:ln>
        </p:spPr>
      </p:sp>
      <p:sp>
        <p:nvSpPr>
          <p:cNvPr id="5" name="Text 3"/>
          <p:cNvSpPr txBox="1"/>
          <p:nvPr/>
        </p:nvSpPr>
        <p:spPr>
          <a:xfrm>
            <a:off x="5979079" y="1645920"/>
            <a:ext cx="960120" cy="548640"/>
          </a:xfrm>
          <a:prstGeom prst="rect">
            <a:avLst/>
          </a:prstGeom>
          <a:noFill/>
          <a:ln/>
        </p:spPr>
        <p:txBody>
          <a:bodyPr wrap="square" lIns="0" tIns="0" rIns="0" bIns="0" rtlCol="0" anchor="ctr"/>
          <a:lstStyle/>
          <a:p>
            <a:pPr algn="r" indent="0" marL="0">
              <a:buNone/>
            </a:pPr>
            <a:r>
              <a:rPr lang="en-US" sz="2200" b="1" dirty="0">
                <a:solidFill>
                  <a:srgbClr val="2E2E2E"/>
                </a:solidFill>
              </a:rPr>
              <a:t>4,13</a:t>
            </a:r>
            <a:endParaRPr lang="en-US" sz="2200" dirty="0"/>
          </a:p>
        </p:txBody>
      </p:sp>
      <p:sp>
        <p:nvSpPr>
          <p:cNvPr id="6" name="Text 4"/>
          <p:cNvSpPr txBox="1"/>
          <p:nvPr/>
        </p:nvSpPr>
        <p:spPr>
          <a:xfrm>
            <a:off x="548640" y="2834640"/>
            <a:ext cx="3474720" cy="822960"/>
          </a:xfrm>
          <a:prstGeom prst="rect">
            <a:avLst/>
          </a:prstGeom>
          <a:noFill/>
          <a:ln/>
        </p:spPr>
        <p:txBody>
          <a:bodyPr wrap="square" lIns="0" tIns="0" rIns="0" bIns="0" rtlCol="0" anchor="ctr"/>
          <a:lstStyle/>
          <a:p>
            <a:pPr indent="0" marL="0">
              <a:buNone/>
            </a:pPr>
            <a:r>
              <a:rPr lang="en-US" sz="1800" b="1" dirty="0">
                <a:solidFill>
                  <a:srgbClr val="2E2E2E"/>
                </a:solidFill>
              </a:rPr>
              <a:t>Situación actual</a:t>
            </a:r>
            <a:endParaRPr lang="en-US" sz="1800" dirty="0"/>
          </a:p>
          <a:p>
            <a:pPr indent="0" marL="0">
              <a:buNone/>
            </a:pPr>
            <a:r>
              <a:rPr lang="en-US" sz="1400" dirty="0">
                <a:solidFill>
                  <a:srgbClr val="5F5F5F"/>
                </a:solidFill>
              </a:rPr>
              <a:t>X = 57, Y = 22, sin brigada</a:t>
            </a:r>
            <a:endParaRPr lang="en-US" sz="1800" dirty="0"/>
          </a:p>
        </p:txBody>
      </p:sp>
      <p:sp>
        <p:nvSpPr>
          <p:cNvPr id="7" name="barra Situación actual"/>
          <p:cNvSpPr/>
          <p:nvPr/>
        </p:nvSpPr>
        <p:spPr>
          <a:xfrm>
            <a:off x="4206240" y="2971800"/>
            <a:ext cx="4475439" cy="548640"/>
          </a:xfrm>
          <a:prstGeom prst="rect">
            <a:avLst/>
          </a:prstGeom>
          <a:solidFill>
            <a:srgbClr val="CAD225"/>
          </a:solidFill>
          <a:ln w="12700">
            <a:solidFill>
              <a:srgbClr val="CAD225"/>
            </a:solidFill>
            <a:prstDash val="solid"/>
          </a:ln>
        </p:spPr>
      </p:sp>
      <p:sp>
        <p:nvSpPr>
          <p:cNvPr id="8" name="Text 6"/>
          <p:cNvSpPr txBox="1"/>
          <p:nvPr/>
        </p:nvSpPr>
        <p:spPr>
          <a:xfrm>
            <a:off x="7584399" y="2971800"/>
            <a:ext cx="960120" cy="548640"/>
          </a:xfrm>
          <a:prstGeom prst="rect">
            <a:avLst/>
          </a:prstGeom>
          <a:noFill/>
          <a:ln/>
        </p:spPr>
        <p:txBody>
          <a:bodyPr wrap="square" lIns="0" tIns="0" rIns="0" bIns="0" rtlCol="0" anchor="ctr"/>
          <a:lstStyle/>
          <a:p>
            <a:pPr algn="r" indent="0" marL="0">
              <a:buNone/>
            </a:pPr>
            <a:r>
              <a:rPr lang="en-US" sz="2200" b="1" dirty="0">
                <a:solidFill>
                  <a:srgbClr val="2E2E2E"/>
                </a:solidFill>
              </a:rPr>
              <a:t>6,44</a:t>
            </a:r>
            <a:endParaRPr lang="en-US" sz="2200" dirty="0"/>
          </a:p>
        </p:txBody>
      </p:sp>
      <p:sp>
        <p:nvSpPr>
          <p:cNvPr id="9" name="Text 7"/>
          <p:cNvSpPr txBox="1"/>
          <p:nvPr/>
        </p:nvSpPr>
        <p:spPr>
          <a:xfrm>
            <a:off x="548640" y="4160520"/>
            <a:ext cx="3474720" cy="822960"/>
          </a:xfrm>
          <a:prstGeom prst="rect">
            <a:avLst/>
          </a:prstGeom>
          <a:noFill/>
          <a:ln/>
        </p:spPr>
        <p:txBody>
          <a:bodyPr wrap="square" lIns="0" tIns="0" rIns="0" bIns="0" rtlCol="0" anchor="ctr"/>
          <a:lstStyle/>
          <a:p>
            <a:pPr indent="0" marL="0">
              <a:buNone/>
            </a:pPr>
            <a:r>
              <a:rPr lang="en-US" sz="1800" b="1" dirty="0">
                <a:solidFill>
                  <a:srgbClr val="2E2E2E"/>
                </a:solidFill>
              </a:rPr>
              <a:t>Con brigada contra incendios</a:t>
            </a:r>
            <a:endParaRPr lang="en-US" sz="1800" dirty="0"/>
          </a:p>
          <a:p>
            <a:pPr indent="0" marL="0">
              <a:buNone/>
            </a:pPr>
            <a:r>
              <a:rPr lang="en-US" sz="1400" dirty="0">
                <a:solidFill>
                  <a:srgbClr val="5F5F5F"/>
                </a:solidFill>
              </a:rPr>
              <a:t>BCI = 1</a:t>
            </a:r>
            <a:endParaRPr lang="en-US" sz="1800" dirty="0"/>
          </a:p>
        </p:txBody>
      </p:sp>
      <p:sp>
        <p:nvSpPr>
          <p:cNvPr id="10" name="barra Con brigada contra incendios"/>
          <p:cNvSpPr/>
          <p:nvPr/>
        </p:nvSpPr>
        <p:spPr>
          <a:xfrm>
            <a:off x="4206240" y="4297680"/>
            <a:ext cx="5170383" cy="548640"/>
          </a:xfrm>
          <a:prstGeom prst="rect">
            <a:avLst/>
          </a:prstGeom>
          <a:solidFill>
            <a:srgbClr val="9AA51A"/>
          </a:solidFill>
          <a:ln w="12700">
            <a:solidFill>
              <a:srgbClr val="9AA51A"/>
            </a:solidFill>
            <a:prstDash val="solid"/>
          </a:ln>
        </p:spPr>
      </p:sp>
      <p:sp>
        <p:nvSpPr>
          <p:cNvPr id="11" name="Text 9"/>
          <p:cNvSpPr txBox="1"/>
          <p:nvPr/>
        </p:nvSpPr>
        <p:spPr>
          <a:xfrm>
            <a:off x="8279343" y="4297680"/>
            <a:ext cx="960120" cy="548640"/>
          </a:xfrm>
          <a:prstGeom prst="rect">
            <a:avLst/>
          </a:prstGeom>
          <a:noFill/>
          <a:ln/>
        </p:spPr>
        <p:txBody>
          <a:bodyPr wrap="square" lIns="0" tIns="0" rIns="0" bIns="0" rtlCol="0" anchor="ctr"/>
          <a:lstStyle/>
          <a:p>
            <a:pPr algn="r" indent="0" marL="0">
              <a:buNone/>
            </a:pPr>
            <a:r>
              <a:rPr lang="en-US" sz="2200" b="1" dirty="0">
                <a:solidFill>
                  <a:srgbClr val="2E2E2E"/>
                </a:solidFill>
              </a:rPr>
              <a:t>7,44</a:t>
            </a:r>
            <a:endParaRPr lang="en-US" sz="2200" dirty="0"/>
          </a:p>
        </p:txBody>
      </p:sp>
      <p:sp>
        <p:nvSpPr>
          <p:cNvPr id="12" name="mínimo aceptable"/>
          <p:cNvSpPr/>
          <p:nvPr/>
        </p:nvSpPr>
        <p:spPr>
          <a:xfrm>
            <a:off x="7680960" y="1371600"/>
            <a:ext cx="0" cy="4023360"/>
          </a:xfrm>
          <a:prstGeom prst="line">
            <a:avLst/>
          </a:prstGeom>
          <a:noFill/>
          <a:ln w="25400">
            <a:solidFill>
              <a:srgbClr val="3B3B3B"/>
            </a:solidFill>
            <a:prstDash val="dash"/>
          </a:ln>
        </p:spPr>
      </p:sp>
      <p:sp>
        <p:nvSpPr>
          <p:cNvPr id="13" name="Text 11"/>
          <p:cNvSpPr txBox="1"/>
          <p:nvPr/>
        </p:nvSpPr>
        <p:spPr>
          <a:xfrm>
            <a:off x="6583680" y="5440680"/>
            <a:ext cx="2194560" cy="320040"/>
          </a:xfrm>
          <a:prstGeom prst="rect">
            <a:avLst/>
          </a:prstGeom>
          <a:noFill/>
          <a:ln/>
        </p:spPr>
        <p:txBody>
          <a:bodyPr wrap="square" lIns="0" tIns="0" rIns="0" bIns="0" rtlCol="0" anchor="ctr"/>
          <a:lstStyle/>
          <a:p>
            <a:pPr algn="ctr" indent="0" marL="0">
              <a:buNone/>
            </a:pPr>
            <a:r>
              <a:rPr lang="en-US" sz="1300" b="1" dirty="0">
                <a:solidFill>
                  <a:srgbClr val="2E2E2E"/>
                </a:solidFill>
              </a:rPr>
              <a:t>Mínimo aceptable: 5</a:t>
            </a:r>
            <a:endParaRPr lang="en-US" sz="1300" dirty="0"/>
          </a:p>
        </p:txBody>
      </p:sp>
      <p:sp>
        <p:nvSpPr>
          <p:cNvPr id="14" name="Text 12"/>
          <p:cNvSpPr txBox="1"/>
          <p:nvPr/>
        </p:nvSpPr>
        <p:spPr>
          <a:xfrm>
            <a:off x="548640" y="5852160"/>
            <a:ext cx="11091672" cy="411480"/>
          </a:xfrm>
          <a:prstGeom prst="rect">
            <a:avLst/>
          </a:prstGeom>
          <a:noFill/>
          <a:ln/>
        </p:spPr>
        <p:txBody>
          <a:bodyPr wrap="square" lIns="0" tIns="0" rIns="0" bIns="0" rtlCol="0" anchor="ctr"/>
          <a:lstStyle/>
          <a:p>
            <a:pPr indent="0" marL="0">
              <a:buNone/>
            </a:pPr>
            <a:r>
              <a:rPr lang="en-US" sz="1400" i="1" dirty="0">
                <a:solidFill>
                  <a:srgbClr val="5F5F5F"/>
                </a:solidFill>
              </a:rPr>
              <a:t>Sin vigilancia, cada medio vale menos (por ejemplo, rociadores 5 en vez de 8) y el CEDI quedaría en riesgo malo.</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Recomendaciones</a:t>
            </a:r>
            <a:endParaRPr lang="en-US" sz="3200" dirty="0"/>
          </a:p>
        </p:txBody>
      </p:sp>
      <p:sp>
        <p:nvSpPr>
          <p:cNvPr id="3" name="recomendación Conformar una brigada"/>
          <p:cNvSpPr/>
          <p:nvPr/>
        </p:nvSpPr>
        <p:spPr>
          <a:xfrm>
            <a:off x="548640" y="1325880"/>
            <a:ext cx="3520440" cy="2148840"/>
          </a:xfrm>
          <a:prstGeom prst="roundRect">
            <a:avLst>
              <a:gd name="adj" fmla="val 5106"/>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4" name="círculo Conformar una brigada"/>
          <p:cNvSpPr/>
          <p:nvPr/>
        </p:nvSpPr>
        <p:spPr>
          <a:xfrm>
            <a:off x="822960" y="1600200"/>
            <a:ext cx="685800" cy="685800"/>
          </a:xfrm>
          <a:prstGeom prst="ellipse">
            <a:avLst/>
          </a:prstGeom>
          <a:solidFill>
            <a:srgbClr val="CAD225"/>
          </a:solidFill>
          <a:ln w="12700">
            <a:solidFill>
              <a:srgbClr val="CAD225"/>
            </a:solidFill>
            <a:prstDash val="solid"/>
          </a:ln>
        </p:spPr>
      </p:sp>
      <p:pic>
        <p:nvPicPr>
          <p:cNvPr id="5" name="ícono Conformar una brigada" descr="preencoded.png">    </p:cNvPr>
          <p:cNvPicPr>
            <a:picLocks noChangeAspect="1"/>
          </p:cNvPicPr>
          <p:nvPr/>
        </p:nvPicPr>
        <p:blipFill>
          <a:blip r:embed="rId1"/>
          <a:stretch>
            <a:fillRect/>
          </a:stretch>
        </p:blipFill>
        <p:spPr>
          <a:xfrm>
            <a:off x="987552" y="1764792"/>
            <a:ext cx="356616" cy="356616"/>
          </a:xfrm>
          <a:prstGeom prst="rect">
            <a:avLst/>
          </a:prstGeom>
        </p:spPr>
      </p:pic>
      <p:sp>
        <p:nvSpPr>
          <p:cNvPr id="6" name="Text 3"/>
          <p:cNvSpPr txBox="1"/>
          <p:nvPr/>
        </p:nvSpPr>
        <p:spPr>
          <a:xfrm>
            <a:off x="1645920" y="1600200"/>
            <a:ext cx="2240280" cy="685800"/>
          </a:xfrm>
          <a:prstGeom prst="rect">
            <a:avLst/>
          </a:prstGeom>
          <a:noFill/>
          <a:ln/>
        </p:spPr>
        <p:txBody>
          <a:bodyPr wrap="square" lIns="0" tIns="0" rIns="0" bIns="0" rtlCol="0" anchor="ctr"/>
          <a:lstStyle/>
          <a:p>
            <a:pPr indent="0" marL="0">
              <a:buNone/>
            </a:pPr>
            <a:r>
              <a:rPr lang="en-US" sz="1800" b="1" dirty="0">
                <a:solidFill>
                  <a:srgbClr val="2E2E2E"/>
                </a:solidFill>
              </a:rPr>
              <a:t>Conformar una brigada</a:t>
            </a:r>
            <a:endParaRPr lang="en-US" sz="1800" dirty="0"/>
          </a:p>
        </p:txBody>
      </p:sp>
      <p:sp>
        <p:nvSpPr>
          <p:cNvPr id="7" name="Text 4"/>
          <p:cNvSpPr txBox="1"/>
          <p:nvPr/>
        </p:nvSpPr>
        <p:spPr>
          <a:xfrm>
            <a:off x="822960" y="2423160"/>
            <a:ext cx="3017520" cy="914400"/>
          </a:xfrm>
          <a:prstGeom prst="rect">
            <a:avLst/>
          </a:prstGeom>
          <a:noFill/>
          <a:ln/>
        </p:spPr>
        <p:txBody>
          <a:bodyPr wrap="square" lIns="0" tIns="0" rIns="0" bIns="0" rtlCol="0" anchor="t"/>
          <a:lstStyle/>
          <a:p>
            <a:pPr indent="0" marL="0">
              <a:buNone/>
            </a:pPr>
            <a:r>
              <a:rPr lang="en-US" sz="1500" dirty="0">
                <a:solidFill>
                  <a:srgbClr val="2E2E2E"/>
                </a:solidFill>
              </a:rPr>
              <a:t>Capacitar una brigada contra incendios: P subiría a 7,44.</a:t>
            </a:r>
            <a:endParaRPr lang="en-US" sz="1500" dirty="0"/>
          </a:p>
        </p:txBody>
      </p:sp>
      <p:sp>
        <p:nvSpPr>
          <p:cNvPr id="8" name="recomendación Mantener los sistemas"/>
          <p:cNvSpPr/>
          <p:nvPr/>
        </p:nvSpPr>
        <p:spPr>
          <a:xfrm>
            <a:off x="4325112" y="1325880"/>
            <a:ext cx="3520440" cy="2148840"/>
          </a:xfrm>
          <a:prstGeom prst="roundRect">
            <a:avLst>
              <a:gd name="adj" fmla="val 5106"/>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9" name="círculo Mantener los sistemas"/>
          <p:cNvSpPr/>
          <p:nvPr/>
        </p:nvSpPr>
        <p:spPr>
          <a:xfrm>
            <a:off x="4599432" y="1600200"/>
            <a:ext cx="685800" cy="685800"/>
          </a:xfrm>
          <a:prstGeom prst="ellipse">
            <a:avLst/>
          </a:prstGeom>
          <a:solidFill>
            <a:srgbClr val="CAD225"/>
          </a:solidFill>
          <a:ln w="12700">
            <a:solidFill>
              <a:srgbClr val="CAD225"/>
            </a:solidFill>
            <a:prstDash val="solid"/>
          </a:ln>
        </p:spPr>
      </p:sp>
      <p:pic>
        <p:nvPicPr>
          <p:cNvPr id="10" name="ícono Mantener los sistemas" descr="preencoded.png">    </p:cNvPr>
          <p:cNvPicPr>
            <a:picLocks noChangeAspect="1"/>
          </p:cNvPicPr>
          <p:nvPr/>
        </p:nvPicPr>
        <p:blipFill>
          <a:blip r:embed="rId2"/>
          <a:stretch>
            <a:fillRect/>
          </a:stretch>
        </p:blipFill>
        <p:spPr>
          <a:xfrm>
            <a:off x="4764024" y="1764792"/>
            <a:ext cx="356616" cy="356616"/>
          </a:xfrm>
          <a:prstGeom prst="rect">
            <a:avLst/>
          </a:prstGeom>
        </p:spPr>
      </p:pic>
      <p:sp>
        <p:nvSpPr>
          <p:cNvPr id="11" name="Text 7"/>
          <p:cNvSpPr txBox="1"/>
          <p:nvPr/>
        </p:nvSpPr>
        <p:spPr>
          <a:xfrm>
            <a:off x="5422392" y="1600200"/>
            <a:ext cx="2240280" cy="685800"/>
          </a:xfrm>
          <a:prstGeom prst="rect">
            <a:avLst/>
          </a:prstGeom>
          <a:noFill/>
          <a:ln/>
        </p:spPr>
        <p:txBody>
          <a:bodyPr wrap="square" lIns="0" tIns="0" rIns="0" bIns="0" rtlCol="0" anchor="ctr"/>
          <a:lstStyle/>
          <a:p>
            <a:pPr indent="0" marL="0">
              <a:buNone/>
            </a:pPr>
            <a:r>
              <a:rPr lang="en-US" sz="1800" b="1" dirty="0">
                <a:solidFill>
                  <a:srgbClr val="2E2E2E"/>
                </a:solidFill>
              </a:rPr>
              <a:t>Mantener los sistemas</a:t>
            </a:r>
            <a:endParaRPr lang="en-US" sz="1800" dirty="0"/>
          </a:p>
        </p:txBody>
      </p:sp>
      <p:sp>
        <p:nvSpPr>
          <p:cNvPr id="12" name="Text 8"/>
          <p:cNvSpPr txBox="1"/>
          <p:nvPr/>
        </p:nvSpPr>
        <p:spPr>
          <a:xfrm>
            <a:off x="4599432" y="2423160"/>
            <a:ext cx="3017520" cy="914400"/>
          </a:xfrm>
          <a:prstGeom prst="rect">
            <a:avLst/>
          </a:prstGeom>
          <a:noFill/>
          <a:ln/>
        </p:spPr>
        <p:txBody>
          <a:bodyPr wrap="square" lIns="0" tIns="0" rIns="0" bIns="0" rtlCol="0" anchor="t"/>
          <a:lstStyle/>
          <a:p>
            <a:pPr indent="0" marL="0">
              <a:buNone/>
            </a:pPr>
            <a:r>
              <a:rPr lang="en-US" sz="1500" dirty="0">
                <a:solidFill>
                  <a:srgbClr val="2E2E2E"/>
                </a:solidFill>
              </a:rPr>
              <a:t>Pruebas periódicas de rociadores, bombas, gabinetes e hidrante.</a:t>
            </a:r>
            <a:endParaRPr lang="en-US" sz="1500" dirty="0"/>
          </a:p>
        </p:txBody>
      </p:sp>
      <p:sp>
        <p:nvSpPr>
          <p:cNvPr id="13" name="recomendación Corregir el cableado"/>
          <p:cNvSpPr/>
          <p:nvPr/>
        </p:nvSpPr>
        <p:spPr>
          <a:xfrm>
            <a:off x="8101584" y="1325880"/>
            <a:ext cx="3520440" cy="2148840"/>
          </a:xfrm>
          <a:prstGeom prst="roundRect">
            <a:avLst>
              <a:gd name="adj" fmla="val 5106"/>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14" name="círculo Corregir el cableado"/>
          <p:cNvSpPr/>
          <p:nvPr/>
        </p:nvSpPr>
        <p:spPr>
          <a:xfrm>
            <a:off x="8375904" y="1600200"/>
            <a:ext cx="685800" cy="685800"/>
          </a:xfrm>
          <a:prstGeom prst="ellipse">
            <a:avLst/>
          </a:prstGeom>
          <a:solidFill>
            <a:srgbClr val="CAD225"/>
          </a:solidFill>
          <a:ln w="12700">
            <a:solidFill>
              <a:srgbClr val="CAD225"/>
            </a:solidFill>
            <a:prstDash val="solid"/>
          </a:ln>
        </p:spPr>
      </p:sp>
      <p:pic>
        <p:nvPicPr>
          <p:cNvPr id="15" name="ícono Corregir el cableado" descr="preencoded.png">    </p:cNvPr>
          <p:cNvPicPr>
            <a:picLocks noChangeAspect="1"/>
          </p:cNvPicPr>
          <p:nvPr/>
        </p:nvPicPr>
        <p:blipFill>
          <a:blip r:embed="rId3"/>
          <a:stretch>
            <a:fillRect/>
          </a:stretch>
        </p:blipFill>
        <p:spPr>
          <a:xfrm>
            <a:off x="8540496" y="1764792"/>
            <a:ext cx="356616" cy="356616"/>
          </a:xfrm>
          <a:prstGeom prst="rect">
            <a:avLst/>
          </a:prstGeom>
        </p:spPr>
      </p:pic>
      <p:sp>
        <p:nvSpPr>
          <p:cNvPr id="16" name="Text 11"/>
          <p:cNvSpPr txBox="1"/>
          <p:nvPr/>
        </p:nvSpPr>
        <p:spPr>
          <a:xfrm>
            <a:off x="9198864" y="1600200"/>
            <a:ext cx="2240280" cy="685800"/>
          </a:xfrm>
          <a:prstGeom prst="rect">
            <a:avLst/>
          </a:prstGeom>
          <a:noFill/>
          <a:ln/>
        </p:spPr>
        <p:txBody>
          <a:bodyPr wrap="square" lIns="0" tIns="0" rIns="0" bIns="0" rtlCol="0" anchor="ctr"/>
          <a:lstStyle/>
          <a:p>
            <a:pPr indent="0" marL="0">
              <a:buNone/>
            </a:pPr>
            <a:r>
              <a:rPr lang="en-US" sz="1800" b="1" dirty="0">
                <a:solidFill>
                  <a:srgbClr val="2E2E2E"/>
                </a:solidFill>
              </a:rPr>
              <a:t>Corregir el cableado</a:t>
            </a:r>
            <a:endParaRPr lang="en-US" sz="1800" dirty="0"/>
          </a:p>
        </p:txBody>
      </p:sp>
      <p:sp>
        <p:nvSpPr>
          <p:cNvPr id="17" name="Text 12"/>
          <p:cNvSpPr txBox="1"/>
          <p:nvPr/>
        </p:nvSpPr>
        <p:spPr>
          <a:xfrm>
            <a:off x="8375904" y="2423160"/>
            <a:ext cx="3017520" cy="914400"/>
          </a:xfrm>
          <a:prstGeom prst="rect">
            <a:avLst/>
          </a:prstGeom>
          <a:noFill/>
          <a:ln/>
        </p:spPr>
        <p:txBody>
          <a:bodyPr wrap="square" lIns="0" tIns="0" rIns="0" bIns="0" rtlCol="0" anchor="t"/>
          <a:lstStyle/>
          <a:p>
            <a:pPr indent="0" marL="0">
              <a:buNone/>
            </a:pPr>
            <a:r>
              <a:rPr lang="en-US" sz="1500" dirty="0">
                <a:solidFill>
                  <a:srgbClr val="2E2E2E"/>
                </a:solidFill>
              </a:rPr>
              <a:t>Cableado expuesto en la cocina del comedor.</a:t>
            </a:r>
            <a:endParaRPr lang="en-US" sz="1500" dirty="0"/>
          </a:p>
        </p:txBody>
      </p:sp>
      <p:sp>
        <p:nvSpPr>
          <p:cNvPr id="18" name="recomendación Controlar las estibas"/>
          <p:cNvSpPr/>
          <p:nvPr/>
        </p:nvSpPr>
        <p:spPr>
          <a:xfrm>
            <a:off x="548640" y="3703320"/>
            <a:ext cx="3520440" cy="2148840"/>
          </a:xfrm>
          <a:prstGeom prst="roundRect">
            <a:avLst>
              <a:gd name="adj" fmla="val 5106"/>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19" name="círculo Controlar las estibas"/>
          <p:cNvSpPr/>
          <p:nvPr/>
        </p:nvSpPr>
        <p:spPr>
          <a:xfrm>
            <a:off x="822960" y="3977640"/>
            <a:ext cx="685800" cy="685800"/>
          </a:xfrm>
          <a:prstGeom prst="ellipse">
            <a:avLst/>
          </a:prstGeom>
          <a:solidFill>
            <a:srgbClr val="CAD225"/>
          </a:solidFill>
          <a:ln w="12700">
            <a:solidFill>
              <a:srgbClr val="CAD225"/>
            </a:solidFill>
            <a:prstDash val="solid"/>
          </a:ln>
        </p:spPr>
      </p:sp>
      <p:pic>
        <p:nvPicPr>
          <p:cNvPr id="20" name="ícono Controlar las estibas" descr="preencoded.png">    </p:cNvPr>
          <p:cNvPicPr>
            <a:picLocks noChangeAspect="1"/>
          </p:cNvPicPr>
          <p:nvPr/>
        </p:nvPicPr>
        <p:blipFill>
          <a:blip r:embed="rId4"/>
          <a:stretch>
            <a:fillRect/>
          </a:stretch>
        </p:blipFill>
        <p:spPr>
          <a:xfrm>
            <a:off x="987552" y="4142232"/>
            <a:ext cx="356616" cy="356616"/>
          </a:xfrm>
          <a:prstGeom prst="rect">
            <a:avLst/>
          </a:prstGeom>
        </p:spPr>
      </p:pic>
      <p:sp>
        <p:nvSpPr>
          <p:cNvPr id="21" name="Text 15"/>
          <p:cNvSpPr txBox="1"/>
          <p:nvPr/>
        </p:nvSpPr>
        <p:spPr>
          <a:xfrm>
            <a:off x="1645920" y="3977640"/>
            <a:ext cx="2240280" cy="685800"/>
          </a:xfrm>
          <a:prstGeom prst="rect">
            <a:avLst/>
          </a:prstGeom>
          <a:noFill/>
          <a:ln/>
        </p:spPr>
        <p:txBody>
          <a:bodyPr wrap="square" lIns="0" tIns="0" rIns="0" bIns="0" rtlCol="0" anchor="ctr"/>
          <a:lstStyle/>
          <a:p>
            <a:pPr indent="0" marL="0">
              <a:buNone/>
            </a:pPr>
            <a:r>
              <a:rPr lang="en-US" sz="1800" b="1" dirty="0">
                <a:solidFill>
                  <a:srgbClr val="2E2E2E"/>
                </a:solidFill>
              </a:rPr>
              <a:t>Controlar las estibas</a:t>
            </a:r>
            <a:endParaRPr lang="en-US" sz="1800" dirty="0"/>
          </a:p>
        </p:txBody>
      </p:sp>
      <p:sp>
        <p:nvSpPr>
          <p:cNvPr id="22" name="Text 16"/>
          <p:cNvSpPr txBox="1"/>
          <p:nvPr/>
        </p:nvSpPr>
        <p:spPr>
          <a:xfrm>
            <a:off x="822960" y="4800600"/>
            <a:ext cx="3017520" cy="914400"/>
          </a:xfrm>
          <a:prstGeom prst="rect">
            <a:avLst/>
          </a:prstGeom>
          <a:noFill/>
          <a:ln/>
        </p:spPr>
        <p:txBody>
          <a:bodyPr wrap="square" lIns="0" tIns="0" rIns="0" bIns="0" rtlCol="0" anchor="t"/>
          <a:lstStyle/>
          <a:p>
            <a:pPr indent="0" marL="0">
              <a:buNone/>
            </a:pPr>
            <a:r>
              <a:rPr lang="en-US" sz="1500" dirty="0">
                <a:solidFill>
                  <a:srgbClr val="2E2E2E"/>
                </a:solidFill>
              </a:rPr>
              <a:t>Evitar la acumulación de estibas de madera en zonas de servicio.</a:t>
            </a:r>
            <a:endParaRPr lang="en-US" sz="1500" dirty="0"/>
          </a:p>
        </p:txBody>
      </p:sp>
      <p:sp>
        <p:nvSpPr>
          <p:cNvPr id="23" name="recomendación Capacitar al personal"/>
          <p:cNvSpPr/>
          <p:nvPr/>
        </p:nvSpPr>
        <p:spPr>
          <a:xfrm>
            <a:off x="4325112" y="3703320"/>
            <a:ext cx="3520440" cy="2148840"/>
          </a:xfrm>
          <a:prstGeom prst="roundRect">
            <a:avLst>
              <a:gd name="adj" fmla="val 5106"/>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24" name="círculo Capacitar al personal"/>
          <p:cNvSpPr/>
          <p:nvPr/>
        </p:nvSpPr>
        <p:spPr>
          <a:xfrm>
            <a:off x="4599432" y="3977640"/>
            <a:ext cx="685800" cy="685800"/>
          </a:xfrm>
          <a:prstGeom prst="ellipse">
            <a:avLst/>
          </a:prstGeom>
          <a:solidFill>
            <a:srgbClr val="CAD225"/>
          </a:solidFill>
          <a:ln w="12700">
            <a:solidFill>
              <a:srgbClr val="CAD225"/>
            </a:solidFill>
            <a:prstDash val="solid"/>
          </a:ln>
        </p:spPr>
      </p:sp>
      <p:pic>
        <p:nvPicPr>
          <p:cNvPr id="25" name="ícono Capacitar al personal" descr="preencoded.png">    </p:cNvPr>
          <p:cNvPicPr>
            <a:picLocks noChangeAspect="1"/>
          </p:cNvPicPr>
          <p:nvPr/>
        </p:nvPicPr>
        <p:blipFill>
          <a:blip r:embed="rId5"/>
          <a:stretch>
            <a:fillRect/>
          </a:stretch>
        </p:blipFill>
        <p:spPr>
          <a:xfrm>
            <a:off x="4764024" y="4142232"/>
            <a:ext cx="356616" cy="356616"/>
          </a:xfrm>
          <a:prstGeom prst="rect">
            <a:avLst/>
          </a:prstGeom>
        </p:spPr>
      </p:pic>
      <p:sp>
        <p:nvSpPr>
          <p:cNvPr id="26" name="Text 19"/>
          <p:cNvSpPr txBox="1"/>
          <p:nvPr/>
        </p:nvSpPr>
        <p:spPr>
          <a:xfrm>
            <a:off x="5422392" y="3977640"/>
            <a:ext cx="2240280" cy="685800"/>
          </a:xfrm>
          <a:prstGeom prst="rect">
            <a:avLst/>
          </a:prstGeom>
          <a:noFill/>
          <a:ln/>
        </p:spPr>
        <p:txBody>
          <a:bodyPr wrap="square" lIns="0" tIns="0" rIns="0" bIns="0" rtlCol="0" anchor="ctr"/>
          <a:lstStyle/>
          <a:p>
            <a:pPr indent="0" marL="0">
              <a:buNone/>
            </a:pPr>
            <a:r>
              <a:rPr lang="en-US" sz="1800" b="1" dirty="0">
                <a:solidFill>
                  <a:srgbClr val="2E2E2E"/>
                </a:solidFill>
              </a:rPr>
              <a:t>Capacitar al personal</a:t>
            </a:r>
            <a:endParaRPr lang="en-US" sz="1800" dirty="0"/>
          </a:p>
        </p:txBody>
      </p:sp>
      <p:sp>
        <p:nvSpPr>
          <p:cNvPr id="27" name="Text 20"/>
          <p:cNvSpPr txBox="1"/>
          <p:nvPr/>
        </p:nvSpPr>
        <p:spPr>
          <a:xfrm>
            <a:off x="4599432" y="4800600"/>
            <a:ext cx="3017520" cy="914400"/>
          </a:xfrm>
          <a:prstGeom prst="rect">
            <a:avLst/>
          </a:prstGeom>
          <a:noFill/>
          <a:ln/>
        </p:spPr>
        <p:txBody>
          <a:bodyPr wrap="square" lIns="0" tIns="0" rIns="0" bIns="0" rtlCol="0" anchor="t"/>
          <a:lstStyle/>
          <a:p>
            <a:pPr indent="0" marL="0">
              <a:buNone/>
            </a:pPr>
            <a:r>
              <a:rPr lang="en-US" sz="1500" dirty="0">
                <a:solidFill>
                  <a:srgbClr val="2E2E2E"/>
                </a:solidFill>
              </a:rPr>
              <a:t>Uso de extintores, plan de alarma y simulacros de evacuación.</a:t>
            </a:r>
            <a:endParaRPr lang="en-US" sz="1500" dirty="0"/>
          </a:p>
        </p:txBody>
      </p:sp>
      <p:sp>
        <p:nvSpPr>
          <p:cNvPr id="28" name="recomendación Sectorizar a futuro"/>
          <p:cNvSpPr/>
          <p:nvPr/>
        </p:nvSpPr>
        <p:spPr>
          <a:xfrm>
            <a:off x="8101584" y="3703320"/>
            <a:ext cx="3520440" cy="2148840"/>
          </a:xfrm>
          <a:prstGeom prst="roundRect">
            <a:avLst>
              <a:gd name="adj" fmla="val 5106"/>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29" name="círculo Sectorizar a futuro"/>
          <p:cNvSpPr/>
          <p:nvPr/>
        </p:nvSpPr>
        <p:spPr>
          <a:xfrm>
            <a:off x="8375904" y="3977640"/>
            <a:ext cx="685800" cy="685800"/>
          </a:xfrm>
          <a:prstGeom prst="ellipse">
            <a:avLst/>
          </a:prstGeom>
          <a:solidFill>
            <a:srgbClr val="CAD225"/>
          </a:solidFill>
          <a:ln w="12700">
            <a:solidFill>
              <a:srgbClr val="CAD225"/>
            </a:solidFill>
            <a:prstDash val="solid"/>
          </a:ln>
        </p:spPr>
      </p:sp>
      <p:pic>
        <p:nvPicPr>
          <p:cNvPr id="30" name="ícono Sectorizar a futuro" descr="preencoded.png">    </p:cNvPr>
          <p:cNvPicPr>
            <a:picLocks noChangeAspect="1"/>
          </p:cNvPicPr>
          <p:nvPr/>
        </p:nvPicPr>
        <p:blipFill>
          <a:blip r:embed="rId6"/>
          <a:stretch>
            <a:fillRect/>
          </a:stretch>
        </p:blipFill>
        <p:spPr>
          <a:xfrm>
            <a:off x="8540496" y="4142232"/>
            <a:ext cx="356616" cy="356616"/>
          </a:xfrm>
          <a:prstGeom prst="rect">
            <a:avLst/>
          </a:prstGeom>
        </p:spPr>
      </p:pic>
      <p:sp>
        <p:nvSpPr>
          <p:cNvPr id="31" name="Text 23"/>
          <p:cNvSpPr txBox="1"/>
          <p:nvPr/>
        </p:nvSpPr>
        <p:spPr>
          <a:xfrm>
            <a:off x="9198864" y="3977640"/>
            <a:ext cx="2240280" cy="685800"/>
          </a:xfrm>
          <a:prstGeom prst="rect">
            <a:avLst/>
          </a:prstGeom>
          <a:noFill/>
          <a:ln/>
        </p:spPr>
        <p:txBody>
          <a:bodyPr wrap="square" lIns="0" tIns="0" rIns="0" bIns="0" rtlCol="0" anchor="ctr"/>
          <a:lstStyle/>
          <a:p>
            <a:pPr indent="0" marL="0">
              <a:buNone/>
            </a:pPr>
            <a:r>
              <a:rPr lang="en-US" sz="1800" b="1" dirty="0">
                <a:solidFill>
                  <a:srgbClr val="2E2E2E"/>
                </a:solidFill>
              </a:rPr>
              <a:t>Sectorizar a futuro</a:t>
            </a:r>
            <a:endParaRPr lang="en-US" sz="1800" dirty="0"/>
          </a:p>
        </p:txBody>
      </p:sp>
      <p:sp>
        <p:nvSpPr>
          <p:cNvPr id="32" name="Text 24"/>
          <p:cNvSpPr txBox="1"/>
          <p:nvPr/>
        </p:nvSpPr>
        <p:spPr>
          <a:xfrm>
            <a:off x="8375904" y="4800600"/>
            <a:ext cx="3017520" cy="914400"/>
          </a:xfrm>
          <a:prstGeom prst="rect">
            <a:avLst/>
          </a:prstGeom>
          <a:noFill/>
          <a:ln/>
        </p:spPr>
        <p:txBody>
          <a:bodyPr wrap="square" lIns="0" tIns="0" rIns="0" bIns="0" rtlCol="0" anchor="t"/>
          <a:lstStyle/>
          <a:p>
            <a:pPr indent="0" marL="0">
              <a:buNone/>
            </a:pPr>
            <a:r>
              <a:rPr lang="en-US" sz="1500" dirty="0">
                <a:solidFill>
                  <a:srgbClr val="2E2E2E"/>
                </a:solidFill>
              </a:rPr>
              <a:t>Evaluar muros cortafuego en futuras ampliaciones.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0241280" cy="731520"/>
          </a:xfrm>
          <a:prstGeom prst="rect">
            <a:avLst/>
          </a:prstGeom>
          <a:noFill/>
          <a:ln/>
        </p:spPr>
        <p:txBody>
          <a:bodyPr wrap="square" lIns="0" tIns="0" rIns="0" bIns="0" rtlCol="0" anchor="ctr"/>
          <a:lstStyle/>
          <a:p>
            <a:pPr algn="l" indent="0" marL="0">
              <a:buNone/>
            </a:pPr>
            <a:r>
              <a:rPr lang="en-US" sz="3200" b="1" dirty="0">
                <a:solidFill>
                  <a:srgbClr val="FFFFFF"/>
                </a:solidFill>
              </a:rPr>
              <a:t>Conclusión</a:t>
            </a:r>
            <a:endParaRPr lang="en-US" sz="3200" dirty="0"/>
          </a:p>
        </p:txBody>
      </p:sp>
      <p:sp>
        <p:nvSpPr>
          <p:cNvPr id="3" name="punto 1"/>
          <p:cNvSpPr/>
          <p:nvPr/>
        </p:nvSpPr>
        <p:spPr>
          <a:xfrm>
            <a:off x="548640" y="1371600"/>
            <a:ext cx="640080" cy="640080"/>
          </a:xfrm>
          <a:prstGeom prst="ellipse">
            <a:avLst/>
          </a:prstGeom>
          <a:solidFill>
            <a:srgbClr val="CAD225"/>
          </a:solidFill>
          <a:ln w="12700">
            <a:solidFill>
              <a:srgbClr val="CAD225"/>
            </a:solidFill>
            <a:prstDash val="solid"/>
          </a:ln>
        </p:spPr>
      </p:sp>
      <p:sp>
        <p:nvSpPr>
          <p:cNvPr id="4" name="Text 2"/>
          <p:cNvSpPr txBox="1"/>
          <p:nvPr/>
        </p:nvSpPr>
        <p:spPr>
          <a:xfrm>
            <a:off x="548640" y="1371600"/>
            <a:ext cx="640080" cy="640080"/>
          </a:xfrm>
          <a:prstGeom prst="rect">
            <a:avLst/>
          </a:prstGeom>
          <a:noFill/>
          <a:ln/>
        </p:spPr>
        <p:txBody>
          <a:bodyPr wrap="square" lIns="0" tIns="0" rIns="0" bIns="0" rtlCol="0" anchor="ctr"/>
          <a:lstStyle/>
          <a:p>
            <a:pPr algn="ctr" indent="0" marL="0">
              <a:buNone/>
            </a:pPr>
            <a:r>
              <a:rPr lang="en-US" sz="2000" b="1" dirty="0">
                <a:solidFill>
                  <a:srgbClr val="2E2E2E"/>
                </a:solidFill>
              </a:rPr>
              <a:t>1</a:t>
            </a:r>
            <a:endParaRPr lang="en-US" sz="2000" dirty="0"/>
          </a:p>
        </p:txBody>
      </p:sp>
      <p:sp>
        <p:nvSpPr>
          <p:cNvPr id="5" name="Text 3"/>
          <p:cNvSpPr txBox="1"/>
          <p:nvPr/>
        </p:nvSpPr>
        <p:spPr>
          <a:xfrm>
            <a:off x="1417320" y="1280160"/>
            <a:ext cx="6400800" cy="1280160"/>
          </a:xfrm>
          <a:prstGeom prst="rect">
            <a:avLst/>
          </a:prstGeom>
          <a:noFill/>
          <a:ln/>
        </p:spPr>
        <p:txBody>
          <a:bodyPr wrap="square" lIns="0" tIns="0" rIns="0" bIns="0" rtlCol="0" anchor="t"/>
          <a:lstStyle/>
          <a:p>
            <a:pPr indent="0" marL="0">
              <a:buNone/>
            </a:pPr>
            <a:r>
              <a:rPr lang="en-US" sz="2000" b="1" dirty="0">
                <a:solidFill>
                  <a:srgbClr val="FFFFFF"/>
                </a:solidFill>
              </a:rPr>
              <a:t>El edificio por sí solo es desfavorable</a:t>
            </a:r>
            <a:endParaRPr lang="en-US" sz="2000" dirty="0"/>
          </a:p>
          <a:p>
            <a:pPr indent="0" marL="0">
              <a:buNone/>
            </a:pPr>
            <a:r>
              <a:rPr lang="en-US" sz="1500" dirty="0">
                <a:solidFill>
                  <a:srgbClr val="E5E5E5"/>
                </a:solidFill>
              </a:rPr>
              <a:t>X = 57 de 129: un solo sector grande, almacenamiento de unos 10 m, carga térmica alta y mercancía de alto valor.</a:t>
            </a:r>
            <a:endParaRPr lang="en-US" sz="2000" dirty="0"/>
          </a:p>
        </p:txBody>
      </p:sp>
      <p:sp>
        <p:nvSpPr>
          <p:cNvPr id="6" name="punto 2"/>
          <p:cNvSpPr/>
          <p:nvPr/>
        </p:nvSpPr>
        <p:spPr>
          <a:xfrm>
            <a:off x="548640" y="2834640"/>
            <a:ext cx="640080" cy="640080"/>
          </a:xfrm>
          <a:prstGeom prst="ellipse">
            <a:avLst/>
          </a:prstGeom>
          <a:solidFill>
            <a:srgbClr val="CAD225"/>
          </a:solidFill>
          <a:ln w="12700">
            <a:solidFill>
              <a:srgbClr val="CAD225"/>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000" b="1" dirty="0">
                <a:solidFill>
                  <a:srgbClr val="2E2E2E"/>
                </a:solidFill>
              </a:rPr>
              <a:t>2</a:t>
            </a:r>
            <a:endParaRPr lang="en-US" sz="2000" dirty="0"/>
          </a:p>
        </p:txBody>
      </p:sp>
      <p:sp>
        <p:nvSpPr>
          <p:cNvPr id="8" name="Text 6"/>
          <p:cNvSpPr txBox="1"/>
          <p:nvPr/>
        </p:nvSpPr>
        <p:spPr>
          <a:xfrm>
            <a:off x="1417320" y="2743200"/>
            <a:ext cx="6400800" cy="1280160"/>
          </a:xfrm>
          <a:prstGeom prst="rect">
            <a:avLst/>
          </a:prstGeom>
          <a:noFill/>
          <a:ln/>
        </p:spPr>
        <p:txBody>
          <a:bodyPr wrap="square" lIns="0" tIns="0" rIns="0" bIns="0" rtlCol="0" anchor="t"/>
          <a:lstStyle/>
          <a:p>
            <a:pPr indent="0" marL="0">
              <a:buNone/>
            </a:pPr>
            <a:r>
              <a:rPr lang="en-US" sz="2000" b="1" dirty="0">
                <a:solidFill>
                  <a:srgbClr val="FFFFFF"/>
                </a:solidFill>
              </a:rPr>
              <a:t>La protección lo compensa</a:t>
            </a:r>
            <a:endParaRPr lang="en-US" sz="2000" dirty="0"/>
          </a:p>
          <a:p>
            <a:pPr indent="0" marL="0">
              <a:buNone/>
            </a:pPr>
            <a:r>
              <a:rPr lang="en-US" sz="1500" dirty="0">
                <a:solidFill>
                  <a:srgbClr val="E5E5E5"/>
                </a:solidFill>
              </a:rPr>
              <a:t>Y = 22 de 26: rociadores, detección, gabinetes, hidrante y extintores, todo con vigilancia.</a:t>
            </a:r>
            <a:endParaRPr lang="en-US" sz="2000" dirty="0"/>
          </a:p>
        </p:txBody>
      </p:sp>
      <p:sp>
        <p:nvSpPr>
          <p:cNvPr id="9" name="punto 3"/>
          <p:cNvSpPr/>
          <p:nvPr/>
        </p:nvSpPr>
        <p:spPr>
          <a:xfrm>
            <a:off x="548640" y="4297680"/>
            <a:ext cx="640080" cy="640080"/>
          </a:xfrm>
          <a:prstGeom prst="ellipse">
            <a:avLst/>
          </a:prstGeom>
          <a:solidFill>
            <a:srgbClr val="CAD225"/>
          </a:solidFill>
          <a:ln w="12700">
            <a:solidFill>
              <a:srgbClr val="CAD225"/>
            </a:solidFill>
            <a:prstDash val="solid"/>
          </a:ln>
        </p:spPr>
      </p:sp>
      <p:sp>
        <p:nvSpPr>
          <p:cNvPr id="10" name="Text 8"/>
          <p:cNvSpPr txBox="1"/>
          <p:nvPr/>
        </p:nvSpPr>
        <p:spPr>
          <a:xfrm>
            <a:off x="548640" y="4297680"/>
            <a:ext cx="640080" cy="640080"/>
          </a:xfrm>
          <a:prstGeom prst="rect">
            <a:avLst/>
          </a:prstGeom>
          <a:noFill/>
          <a:ln/>
        </p:spPr>
        <p:txBody>
          <a:bodyPr wrap="square" lIns="0" tIns="0" rIns="0" bIns="0" rtlCol="0" anchor="ctr"/>
          <a:lstStyle/>
          <a:p>
            <a:pPr algn="ctr" indent="0" marL="0">
              <a:buNone/>
            </a:pPr>
            <a:r>
              <a:rPr lang="en-US" sz="2000" b="1" dirty="0">
                <a:solidFill>
                  <a:srgbClr val="2E2E2E"/>
                </a:solidFill>
              </a:rPr>
              <a:t>3</a:t>
            </a:r>
            <a:endParaRPr lang="en-US" sz="2000" dirty="0"/>
          </a:p>
        </p:txBody>
      </p:sp>
      <p:sp>
        <p:nvSpPr>
          <p:cNvPr id="11" name="Text 9"/>
          <p:cNvSpPr txBox="1"/>
          <p:nvPr/>
        </p:nvSpPr>
        <p:spPr>
          <a:xfrm>
            <a:off x="1417320" y="4206240"/>
            <a:ext cx="6400800" cy="1280160"/>
          </a:xfrm>
          <a:prstGeom prst="rect">
            <a:avLst/>
          </a:prstGeom>
          <a:noFill/>
          <a:ln/>
        </p:spPr>
        <p:txBody>
          <a:bodyPr wrap="square" lIns="0" tIns="0" rIns="0" bIns="0" rtlCol="0" anchor="t"/>
          <a:lstStyle/>
          <a:p>
            <a:pPr indent="0" marL="0">
              <a:buNone/>
            </a:pPr>
            <a:r>
              <a:rPr lang="en-US" sz="2000" b="1" dirty="0">
                <a:solidFill>
                  <a:srgbClr val="FFFFFF"/>
                </a:solidFill>
              </a:rPr>
              <a:t>Resultado aceptable, con margen de mejora</a:t>
            </a:r>
            <a:endParaRPr lang="en-US" sz="2000" dirty="0"/>
          </a:p>
          <a:p>
            <a:pPr indent="0" marL="0">
              <a:buNone/>
            </a:pPr>
            <a:r>
              <a:rPr lang="en-US" sz="1500" dirty="0">
                <a:solidFill>
                  <a:srgbClr val="E5E5E5"/>
                </a:solidFill>
              </a:rPr>
              <a:t>P = 6,44 (riesgo bueno). Sin brigada contra incendios; con ella llegaría a 7,44.</a:t>
            </a:r>
            <a:endParaRPr lang="en-US" sz="2000" dirty="0"/>
          </a:p>
        </p:txBody>
      </p:sp>
      <p:sp>
        <p:nvSpPr>
          <p:cNvPr id="12" name="resultado final"/>
          <p:cNvSpPr/>
          <p:nvPr/>
        </p:nvSpPr>
        <p:spPr>
          <a:xfrm>
            <a:off x="8412480" y="1463040"/>
            <a:ext cx="3108960" cy="3108960"/>
          </a:xfrm>
          <a:prstGeom prst="ellipse">
            <a:avLst/>
          </a:prstGeom>
          <a:solidFill>
            <a:srgbClr val="CAD225"/>
          </a:solidFill>
          <a:ln w="12700">
            <a:solidFill>
              <a:srgbClr val="CAD225"/>
            </a:solidFill>
            <a:prstDash val="solid"/>
          </a:ln>
        </p:spPr>
      </p:sp>
      <p:sp>
        <p:nvSpPr>
          <p:cNvPr id="13" name="Text 11"/>
          <p:cNvSpPr txBox="1"/>
          <p:nvPr/>
        </p:nvSpPr>
        <p:spPr>
          <a:xfrm>
            <a:off x="8412480" y="1463040"/>
            <a:ext cx="3108960" cy="3108960"/>
          </a:xfrm>
          <a:prstGeom prst="rect">
            <a:avLst/>
          </a:prstGeom>
          <a:noFill/>
          <a:ln/>
        </p:spPr>
        <p:txBody>
          <a:bodyPr wrap="square" lIns="0" tIns="0" rIns="0" bIns="0" rtlCol="0" anchor="ctr"/>
          <a:lstStyle/>
          <a:p>
            <a:pPr algn="ctr" indent="0" marL="0">
              <a:buNone/>
            </a:pPr>
            <a:r>
              <a:rPr lang="en-US" sz="2000" dirty="0">
                <a:solidFill>
                  <a:srgbClr val="2E2E2E"/>
                </a:solidFill>
              </a:rPr>
              <a:t>P =</a:t>
            </a:r>
            <a:endParaRPr lang="en-US" sz="2000" dirty="0"/>
          </a:p>
          <a:p>
            <a:pPr algn="ctr" indent="0" marL="0">
              <a:buNone/>
            </a:pPr>
            <a:r>
              <a:rPr lang="en-US" sz="6000" b="1" dirty="0">
                <a:solidFill>
                  <a:srgbClr val="2E2E2E"/>
                </a:solidFill>
              </a:rPr>
              <a:t>6,44</a:t>
            </a:r>
            <a:endParaRPr lang="en-US" sz="2000" dirty="0"/>
          </a:p>
          <a:p>
            <a:pPr algn="ctr" indent="0" marL="0">
              <a:buNone/>
            </a:pPr>
            <a:r>
              <a:rPr lang="en-US" sz="1800" b="1" dirty="0">
                <a:solidFill>
                  <a:srgbClr val="2E2E2E"/>
                </a:solidFill>
              </a:rPr>
              <a:t>Riesgo bueno</a:t>
            </a:r>
            <a:endParaRPr lang="en-US" sz="2000" dirty="0"/>
          </a:p>
        </p:txBody>
      </p:sp>
      <p:sp>
        <p:nvSpPr>
          <p:cNvPr id="14" name="Text 12"/>
          <p:cNvSpPr txBox="1"/>
          <p:nvPr/>
        </p:nvSpPr>
        <p:spPr>
          <a:xfrm>
            <a:off x="8412480" y="5029200"/>
            <a:ext cx="3108960" cy="640080"/>
          </a:xfrm>
          <a:prstGeom prst="rect">
            <a:avLst/>
          </a:prstGeom>
          <a:noFill/>
          <a:ln/>
        </p:spPr>
        <p:txBody>
          <a:bodyPr wrap="square" lIns="0" tIns="0" rIns="0" bIns="0" rtlCol="0" anchor="ctr"/>
          <a:lstStyle/>
          <a:p>
            <a:pPr algn="ctr" indent="0" marL="0">
              <a:buNone/>
            </a:pPr>
            <a:r>
              <a:rPr lang="en-US" sz="2800" b="1" dirty="0">
                <a:solidFill>
                  <a:srgbClr val="CAD225"/>
                </a:solidFill>
              </a:rPr>
              <a:t>¡Gracias!</a:t>
            </a:r>
            <a:endParaRPr lang="en-US" sz="2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22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Referencias</a:t>
            </a:r>
            <a:endParaRPr lang="en-US" sz="3200" dirty="0"/>
          </a:p>
        </p:txBody>
      </p:sp>
      <p:sp>
        <p:nvSpPr>
          <p:cNvPr id="3" name="Text 1"/>
          <p:cNvSpPr txBox="1"/>
          <p:nvPr/>
        </p:nvSpPr>
        <p:spPr>
          <a:xfrm>
            <a:off x="548640" y="1371600"/>
            <a:ext cx="11091672" cy="4206240"/>
          </a:xfrm>
          <a:prstGeom prst="rect">
            <a:avLst/>
          </a:prstGeom>
          <a:noFill/>
          <a:ln/>
        </p:spPr>
        <p:txBody>
          <a:bodyPr wrap="square" lIns="0" tIns="0" rIns="0" bIns="0" rtlCol="0" anchor="t"/>
          <a:lstStyle/>
          <a:p>
            <a:pPr indent="0" marL="0">
              <a:spcAft>
                <a:spcPts val="1400"/>
              </a:spcAft>
              <a:buNone/>
            </a:pPr>
            <a:r>
              <a:rPr lang="en-US" sz="1600" dirty="0">
                <a:solidFill>
                  <a:srgbClr val="2E2E2E"/>
                </a:solidFill>
              </a:rPr>
              <a:t>Fondo Inmobiliario Colombia. (s. f.). Ficha CEDI Bucaramanga / Lebrija.</a:t>
            </a:r>
            <a:endParaRPr lang="en-US" sz="1600" dirty="0"/>
          </a:p>
          <a:p>
            <a:pPr indent="0" marL="0">
              <a:spcAft>
                <a:spcPts val="1400"/>
              </a:spcAft>
              <a:buNone/>
            </a:pPr>
            <a:r>
              <a:rPr lang="en-US" sz="1600" dirty="0">
                <a:solidFill>
                  <a:srgbClr val="2E2E2E"/>
                </a:solidFill>
              </a:rPr>
              <a:t>Fundación MAPFRE. (s. f.). Método simplificado de evaluación del riesgo de incendio: MESERI.</a:t>
            </a:r>
            <a:endParaRPr lang="en-US" sz="1600" dirty="0"/>
          </a:p>
          <a:p>
            <a:pPr indent="0" marL="0">
              <a:spcAft>
                <a:spcPts val="1400"/>
              </a:spcAft>
              <a:buNone/>
            </a:pPr>
            <a:r>
              <a:rPr lang="en-US" sz="1600" dirty="0">
                <a:solidFill>
                  <a:srgbClr val="2E2E2E"/>
                </a:solidFill>
              </a:rPr>
              <a:t>Google. (s. f.). [Medición de la superficie del CEDI D1 Lebrija y ruta desde la Estación de Bomberos de Lebrija, Santander]. Google Maps. Recuperado el 23 de octubre de 2026, de https://maps.google.com</a:t>
            </a:r>
            <a:endParaRPr lang="en-US" sz="1600" dirty="0"/>
          </a:p>
          <a:p>
            <a:pPr indent="0" marL="0">
              <a:spcAft>
                <a:spcPts val="1400"/>
              </a:spcAft>
              <a:buNone/>
            </a:pPr>
            <a:r>
              <a:rPr lang="en-US" sz="1600" dirty="0">
                <a:solidFill>
                  <a:srgbClr val="2E2E2E"/>
                </a:solidFill>
              </a:rPr>
              <a:t>Unidades Tecnológicas de Santander. (s. f.). Metodología: evaluación del riesgo de incendio MESERI [Diapositivas de clase]. Electiva Complementaria Salud Ocupacional.</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UTS MESERI">
  <a:themeElements>
    <a:clrScheme name="UTS MESERI">
      <a:dk1>
        <a:srgbClr val="2E2E2E"/>
      </a:dk1>
      <a:lt1>
        <a:srgbClr val="FFFFFF"/>
      </a:lt1>
      <a:dk2>
        <a:srgbClr val="3B3B3B"/>
      </a:dk2>
      <a:lt2>
        <a:srgbClr val="F4F7D3"/>
      </a:lt2>
      <a:accent1>
        <a:srgbClr val="CAD225"/>
      </a:accent1>
      <a:accent2>
        <a:srgbClr val="7E8410"/>
      </a:accent2>
      <a:accent3>
        <a:srgbClr val="E8836F"/>
      </a:accent3>
      <a:accent4>
        <a:srgbClr val="F2B76B"/>
      </a:accent4>
      <a:accent5>
        <a:srgbClr val="9AA51A"/>
      </a:accent5>
      <a:accent6>
        <a:srgbClr val="5F5F5F"/>
      </a:accent6>
      <a:hlink>
        <a:srgbClr val="0563C1"/>
      </a:hlink>
      <a:folHlink>
        <a:srgbClr val="954F72"/>
      </a:folHlink>
    </a:clrScheme>
    <a:fontScheme name="UTS MESER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Evaluación de Riesgos de Incendio – Método MESERI – CEDI D1 Lebrija</dc:title>
  <dc:subject>PptxGenJS Presentation</dc:subject>
  <dc:creator>Angely Tatiana Osorio Sánchez</dc:creator>
  <cp:lastModifiedBy>Angely Tatiana Osorio Sánchez</cp:lastModifiedBy>
  <cp:revision>1</cp:revision>
  <dcterms:created xsi:type="dcterms:W3CDTF">2026-10-24T01:58:41Z</dcterms:created>
  <dcterms:modified xsi:type="dcterms:W3CDTF">2026-10-24T01:58:41Z</dcterms:modified>
</cp:coreProperties>
</file>