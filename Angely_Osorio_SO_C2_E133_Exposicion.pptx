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f1c13b00-a425-e926-042e-5e6c14114499}">
          <p14:sldIdLst>
            <p14:sldId id="256"/>
          </p14:sldIdLst>
        </p14:section>
        <p14:section name="Introducción" id="{876b26c7-1be3-7c5b-fac0-f9de5ae26d2c}">
          <p14:sldIdLst>
            <p14:sldId id="257"/>
          </p14:sldIdLst>
        </p14:section>
        <p14:section name="Método" id="{e2457070-6b6b-732a-a367-88e94270878b}">
          <p14:sldIdLst>
            <p14:sldId id="258"/>
          </p14:sldIdLst>
        </p14:section>
        <p14:section name="Resultados" id="{693dc496-5047-0363-8108-7dc03517eb8a}">
          <p14:sldIdLst>
            <p14:sldId id="259"/>
            <p14:sldId id="260"/>
            <p14:sldId id="261"/>
            <p14:sldId id="262"/>
          </p14:sldIdLst>
        </p14:section>
        <p14:section name="Conclusión" id="{75206cd3-f2a1-7594-ea87-87693cc75b2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E2E"/>
                </a:solidFill>
                <a:latin typeface="+mn-lt"/>
              </a:defRPr>
            </a:pPr>
            <a:r>
              <a:rPr sz="1400" b="0" i="0" u="none" strike="noStrike">
                <a:solidFill>
                  <a:srgbClr val="2E2E2E"/>
                </a:solidFill>
                <a:latin typeface="+mn-lt"/>
              </a:rPr>
              <a:t>Puntaje obtenido frente al máximo por grupo</a:t>
            </a:r>
          </a:p>
        </c:rich>
      </c:tx>
      <c:layout/>
      <c:overlay val="0"/>
    </c:title>
    <c:autoTitleDeleted val="0"/>
    <c:plotArea>
      <c:layout/>
      <c:barChart>
        <c:barDir val="bar"/>
        <c:grouping val="clustered"/>
        <c:varyColors val="0"/>
        <c:ser>
          <c:idx val="0"/>
          <c:order val="0"/>
          <c:tx>
            <c:strRef>
              <c:f>Sheet1!$B$1</c:f>
              <c:strCache>
                <c:ptCount val="1"/>
                <c:pt idx="0">
                  <c:v>Puntaje máximo</c:v>
                </c:pt>
              </c:strCache>
            </c:strRef>
          </c:tx>
          <c:spPr>
            <a:solidFill>
              <a:srgbClr val="D9D9D9"/>
            </a:solidFill>
            <a:effectLst/>
          </c:spPr>
          <c:invertIfNegative val="0"/>
          <c:dLbls>
            <c:numFmt formatCode="#,##0" sourceLinked="0"/>
            <c:txPr>
              <a:bodyPr/>
              <a:lstStyle/>
              <a:p>
                <a:pPr>
                  <a:defRPr b="0" i="0" strike="noStrike" sz="1200" u="none">
                    <a:solidFill>
                      <a:srgbClr val="2E2E2E"/>
                    </a:solidFill>
                    <a:latin typeface="+mn-lt"/>
                  </a:defRPr>
                </a:pPr>
              </a:p>
            </c:txPr>
            <c:showLegendKey val="0"/>
            <c:showVal val="1"/>
            <c:showCatName val="0"/>
            <c:showSerName val="0"/>
            <c:showPercent val="0"/>
            <c:showBubbleSize val="0"/>
            <c:showLeaderLines val="0"/>
          </c:dLbls>
          <c:cat>
            <c:multiLvlStrRef>
              <c:f>Sheet1!$A$2:$A$7</c:f>
              <c:multiLvlStrCache>
                <c:ptCount val="6"/>
                <c:lvl>
                  <c:pt idx="0">
                    <c:v>Construcción</c:v>
                  </c:pt>
                  <c:pt idx="1">
                    <c:v>Situación</c:v>
                  </c:pt>
                  <c:pt idx="2">
                    <c:v>Procesos</c:v>
                  </c:pt>
                  <c:pt idx="3">
                    <c:v>Concentración</c:v>
                  </c:pt>
                  <c:pt idx="4">
                    <c:v>Propagabilidad</c:v>
                  </c:pt>
                  <c:pt idx="5">
                    <c:v>Destructibilidad</c:v>
                  </c:pt>
                </c:lvl>
              </c:multiLvlStrCache>
            </c:multiLvlStrRef>
          </c:cat>
          <c:val>
            <c:numRef>
              <c:f>Sheet1!$B$2:$B$7</c:f>
              <c:numCache>
                <c:formatCode>General</c:formatCode>
                <c:ptCount val="6"/>
                <c:pt idx="0">
                  <c:v>23</c:v>
                </c:pt>
                <c:pt idx="1">
                  <c:v>15</c:v>
                </c:pt>
                <c:pt idx="2">
                  <c:v>38</c:v>
                </c:pt>
                <c:pt idx="3">
                  <c:v>3</c:v>
                </c:pt>
                <c:pt idx="4">
                  <c:v>10</c:v>
                </c:pt>
                <c:pt idx="5">
                  <c:v>40</c:v>
                </c:pt>
              </c:numCache>
            </c:numRef>
          </c:val>
        </c:ser>
        <c:ser>
          <c:idx val="1"/>
          <c:order val="1"/>
          <c:tx>
            <c:strRef>
              <c:f>Sheet1!$C$1</c:f>
              <c:strCache>
                <c:ptCount val="1"/>
                <c:pt idx="0">
                  <c:v>Puntaje obtenido</c:v>
                </c:pt>
              </c:strCache>
            </c:strRef>
          </c:tx>
          <c:spPr>
            <a:solidFill>
              <a:srgbClr val="7E8410"/>
            </a:solidFill>
            <a:effectLst/>
          </c:spPr>
          <c:invertIfNegative val="0"/>
          <c:dLbls>
            <c:numFmt formatCode="#,##0" sourceLinked="0"/>
            <c:txPr>
              <a:bodyPr/>
              <a:lstStyle/>
              <a:p>
                <a:pPr>
                  <a:defRPr b="0" i="0" strike="noStrike" sz="1200" u="none">
                    <a:solidFill>
                      <a:srgbClr val="2E2E2E"/>
                    </a:solidFill>
                    <a:latin typeface="+mn-lt"/>
                  </a:defRPr>
                </a:pPr>
              </a:p>
            </c:txPr>
            <c:showLegendKey val="0"/>
            <c:showVal val="1"/>
            <c:showCatName val="0"/>
            <c:showSerName val="0"/>
            <c:showPercent val="0"/>
            <c:showBubbleSize val="0"/>
            <c:showLeaderLines val="0"/>
          </c:dLbls>
          <c:cat>
            <c:multiLvlStrRef>
              <c:f>Sheet1!$A$2:$A$7</c:f>
              <c:multiLvlStrCache>
                <c:ptCount val="6"/>
                <c:lvl>
                  <c:pt idx="0">
                    <c:v>Construcción</c:v>
                  </c:pt>
                  <c:pt idx="1">
                    <c:v>Situación</c:v>
                  </c:pt>
                  <c:pt idx="2">
                    <c:v>Procesos</c:v>
                  </c:pt>
                  <c:pt idx="3">
                    <c:v>Concentración</c:v>
                  </c:pt>
                  <c:pt idx="4">
                    <c:v>Propagabilidad</c:v>
                  </c:pt>
                  <c:pt idx="5">
                    <c:v>Destructibilidad</c:v>
                  </c:pt>
                </c:lvl>
              </c:multiLvlStrCache>
            </c:multiLvlStrRef>
          </c:cat>
          <c:val>
            <c:numRef>
              <c:f>Sheet1!$C$2:$C$7</c:f>
              <c:numCache>
                <c:formatCode>General</c:formatCode>
                <c:ptCount val="6"/>
                <c:pt idx="0">
                  <c:v>13</c:v>
                </c:pt>
                <c:pt idx="1">
                  <c:v>15</c:v>
                </c:pt>
                <c:pt idx="2">
                  <c:v>13</c:v>
                </c:pt>
                <c:pt idx="3">
                  <c:v>0</c:v>
                </c:pt>
                <c:pt idx="4">
                  <c:v>6</c:v>
                </c:pt>
                <c:pt idx="5">
                  <c:v>10</c:v>
                </c:pt>
              </c:numCache>
            </c:numRef>
          </c:val>
        </c:ser>
        <c:dLbls>
          <c:numFmt formatCode="#,##0" sourceLinked="0"/>
          <c:txPr>
            <a:bodyPr/>
            <a:lstStyle/>
            <a:p>
              <a:pPr>
                <a:defRPr b="0" i="0" strike="noStrike" sz="1200" u="none">
                  <a:solidFill>
                    <a:srgbClr val="2E2E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E2E2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2E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Mi trabajo es la evaluación del riesgo de incendio del Centro de Distribución de Tiendas D1 en Lebrija, Santander, con el método MESERI.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edificio de más de 17.000 metros cuadrados y 18 metros de altura. Tiene una bodega con estanterías de unos 10 metros, una cava de frío, muelles de cargue y un mezanine con oficinas y comedor.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MESERI califica dos grupos de factores. El primero, X, son los factores propios del edificio, con un máximo de 129 puntos. El segundo, Y, son los medios de protección, con un máximo de 26. Se aplica la fórmula P igual a 5X sobre 129, más 5Y sobre 26, más 1 si hay brigada. El resultado va de 0 a 10, y desde 5 se considera aceptable.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factores propios el CEDI obtuvo 57 de 129 puntos, es decir, el edificio por sí solo es desfavorable. A su favor tiene que la estación de bomberos de Lebrija está a solo 3,4 kilómetros, a 5 minutos, y que el acceso es amplio y pavimentado.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razones principales son cuatro. Primero, es un solo espacio de 17.000 metros cuadrados sin muros cortafuego. Segundo, la mercancía está apilada a unos 10 metros de altura. Tercero, tiene una carga térmica alta, por el cartón, el plástico y los alimentos. Y cuarto, la mercancía vale cerca de 500.000 millones de pesos, así que el calor y el humo la dañarían por completo. Todos estos factores tienen coeficiente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protección le va muy bien: 22 de 26 puntos. Tiene rociadores automáticos en todo el edificio, que es lo que más suma, con 8 puntos. Además tiene detección automática, gabinetes contra incendio, un hidrante exterior y extintores señalizados. Todo cuenta con vigilancia permanente y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aplicar la fórmula: 5 por 57 sobre 129 da 2,21. 5 por 22 sobre 26 da 4,23. Y la brigada suma 0, porque el CEDI no tiene brigada contra incendios. El resultado es P igual a 6,44, que corresponde a un riesgo bueno. P es el coeficiente de protección contra incendios: va de 0 a 10, y mientras más alto, más seguro está el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el edificio tiene condiciones de riesgo altas, pero sus sistemas de protección las compensan. Recomiendo tres cosas: conformar una brigada contra incendios, con la que el resultado subiría a 7,44; mantener las pruebas de los rociadores y del hidrante; y corregir el cableado expuesto de la cocina. Muchas gracias. (Si preguntan por qué todo es con vigilancia: porque el CEDI tiene personal de seguridad permanente en portería y los equipos reciben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tmp/claude-0/-home-user-cedi-d1-lebrija/46e3a16f-f43b-510e-9032-e476e8d715c5/scratchpad/assets/logo.png">    </p:cNvPr>
          <p:cNvPicPr>
            <a:picLocks noChangeAspect="1"/>
          </p:cNvPicPr>
          <p:nvPr/>
        </p:nvPicPr>
        <p:blipFill>
          <a:blip r:embed="rId1"/>
          <a:stretch>
            <a:fillRect/>
          </a:stretch>
        </p:blipFill>
        <p:spPr>
          <a:xfrm>
            <a:off x="11018520" y="384048"/>
            <a:ext cx="658368" cy="457200"/>
          </a:xfrm>
          <a:prstGeom prst="rect">
            <a:avLst/>
          </a:prstGeom>
        </p:spPr>
      </p:pic>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rPr>
              <a:t>Evaluación MESERI · CEDI D1 Lebrija</a:t>
            </a:r>
            <a:endParaRPr lang="en-US" sz="1000" dirty="0"/>
          </a:p>
        </p:txBody>
      </p:sp>
      <p:sp>
        <p:nvSpPr>
          <p:cNvPr id="4" name="Text 1"/>
          <p:cNvSpPr/>
          <p:nvPr>
            <p:ph idx="102" type="title" hasCustomPrompt="1"/>
          </p:nvPr>
        </p:nvSpPr>
        <p:spPr>
          <a:xfrm>
            <a:off x="548640" y="320040"/>
            <a:ext cx="1024128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024128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to fachada" descr="/tmp/claude-0/-home-user-cedi-d1-lebrija/46e3a16f-f43b-510e-9032-e476e8d715c5/scratchpad/assets/f_27.jpg">    </p:cNvPr>
          <p:cNvPicPr>
            <a:picLocks noChangeAspect="1"/>
          </p:cNvPicPr>
          <p:nvPr/>
        </p:nvPicPr>
        <p:blipFill>
          <a:blip r:embed="rId1"/>
          <a:srcRect l="0" r="0" t="0" b="0"/>
          <a:stretch/>
        </p:blipFill>
        <p:spPr>
          <a:xfrm>
            <a:off x="6400800" y="0"/>
            <a:ext cx="5788152" cy="6858000"/>
          </a:xfrm>
          <a:prstGeom prst="rect">
            <a:avLst/>
          </a:prstGeom>
        </p:spPr>
      </p:pic>
      <p:pic>
        <p:nvPicPr>
          <p:cNvPr id="3" name="logo UTS" descr="/tmp/claude-0/-home-user-cedi-d1-lebrija/46e3a16f-f43b-510e-9032-e476e8d715c5/scratchpad/assets/logo.png">    </p:cNvPr>
          <p:cNvPicPr>
            <a:picLocks noChangeAspect="1"/>
          </p:cNvPicPr>
          <p:nvPr/>
        </p:nvPicPr>
        <p:blipFill>
          <a:blip r:embed="rId2"/>
          <a:stretch>
            <a:fillRect/>
          </a:stretch>
        </p:blipFill>
        <p:spPr>
          <a:xfrm>
            <a:off x="640080" y="548640"/>
            <a:ext cx="1371600" cy="960120"/>
          </a:xfrm>
          <a:prstGeom prst="rect">
            <a:avLst/>
          </a:prstGeom>
        </p:spPr>
      </p:pic>
      <p:sp>
        <p:nvSpPr>
          <p:cNvPr id="4" name="Text 0"/>
          <p:cNvSpPr txBox="1"/>
          <p:nvPr/>
        </p:nvSpPr>
        <p:spPr>
          <a:xfrm>
            <a:off x="640080" y="1828800"/>
            <a:ext cx="5486400" cy="1188720"/>
          </a:xfrm>
          <a:prstGeom prst="rect">
            <a:avLst/>
          </a:prstGeom>
          <a:noFill/>
          <a:ln/>
        </p:spPr>
        <p:txBody>
          <a:bodyPr wrap="square" lIns="0" tIns="0" rIns="0" bIns="0" rtlCol="0" anchor="t"/>
          <a:lstStyle/>
          <a:p>
            <a:pPr indent="0" marL="0">
              <a:buNone/>
            </a:pPr>
            <a:r>
              <a:rPr lang="en-US" sz="3800" b="1" dirty="0">
                <a:solidFill>
                  <a:schemeClr val="bg1"/>
                </a:solidFill>
              </a:rPr>
              <a:t>Evaluación de Riesgos de Incendio</a:t>
            </a:r>
            <a:endParaRPr lang="en-US" sz="3800" dirty="0"/>
          </a:p>
        </p:txBody>
      </p:sp>
      <p:sp>
        <p:nvSpPr>
          <p:cNvPr id="5" name="Text 1"/>
          <p:cNvSpPr txBox="1"/>
          <p:nvPr/>
        </p:nvSpPr>
        <p:spPr>
          <a:xfrm>
            <a:off x="640080" y="3063240"/>
            <a:ext cx="5486400" cy="457200"/>
          </a:xfrm>
          <a:prstGeom prst="rect">
            <a:avLst/>
          </a:prstGeom>
          <a:noFill/>
          <a:ln/>
        </p:spPr>
        <p:txBody>
          <a:bodyPr wrap="square" lIns="0" tIns="0" rIns="0" bIns="0" rtlCol="0" anchor="ctr"/>
          <a:lstStyle/>
          <a:p>
            <a:pPr indent="0" marL="0">
              <a:buNone/>
            </a:pPr>
            <a:r>
              <a:rPr lang="en-US" sz="2000" dirty="0">
                <a:solidFill>
                  <a:schemeClr val="accent1"/>
                </a:solidFill>
              </a:rPr>
              <a:t>Método MESERI · CEDI D1 Lebrija, Santander</a:t>
            </a:r>
            <a:endParaRPr lang="en-US" sz="2000" dirty="0"/>
          </a:p>
        </p:txBody>
      </p:sp>
      <p:sp>
        <p:nvSpPr>
          <p:cNvPr id="6" name="Text 2"/>
          <p:cNvSpPr txBox="1"/>
          <p:nvPr/>
        </p:nvSpPr>
        <p:spPr>
          <a:xfrm>
            <a:off x="640080" y="4206240"/>
            <a:ext cx="5486400" cy="155448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Angely Tatiana Osorio Sánchez</a:t>
            </a:r>
            <a:endParaRPr lang="en-US" sz="1500" dirty="0"/>
          </a:p>
          <a:p>
            <a:pPr indent="0" marL="0">
              <a:spcAft>
                <a:spcPts val="400"/>
              </a:spcAft>
              <a:buNone/>
            </a:pPr>
            <a:r>
              <a:rPr lang="en-US" sz="1500" dirty="0">
                <a:solidFill>
                  <a:schemeClr val="bg1"/>
                </a:solidFill>
              </a:rPr>
              <a:t>Profesor: Jhonny Mauricio Ceron Cifuentes</a:t>
            </a:r>
            <a:endParaRPr lang="en-US" sz="1500" dirty="0"/>
          </a:p>
          <a:p>
            <a:pPr indent="0" marL="0">
              <a:spcAft>
                <a:spcPts val="400"/>
              </a:spcAft>
              <a:buNone/>
            </a:pPr>
            <a:r>
              <a:rPr lang="en-US" sz="1500" dirty="0">
                <a:solidFill>
                  <a:schemeClr val="bg1"/>
                </a:solidFill>
              </a:rPr>
              <a:t>Electiva Complementaria Salud Ocupacional – Grupo E133</a:t>
            </a:r>
            <a:endParaRPr lang="en-US" sz="1500" dirty="0"/>
          </a:p>
          <a:p>
            <a:pPr indent="0" marL="0">
              <a:spcAft>
                <a:spcPts val="400"/>
              </a:spcAft>
              <a:buNone/>
            </a:pPr>
            <a:r>
              <a:rPr lang="en-US" sz="1500" dirty="0">
                <a:solidFill>
                  <a:schemeClr val="bg1"/>
                </a:solidFill>
              </a:rPr>
              <a:t>Unidades Tecnológicas de Santander · Octubre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El Centro de Distribución evaluado</a:t>
            </a:r>
            <a:endParaRPr lang="en-US" sz="3200" dirty="0"/>
          </a:p>
        </p:txBody>
      </p:sp>
      <p:pic>
        <p:nvPicPr>
          <p:cNvPr id="3" name="foto almacén" descr="/tmp/claude-0/-home-user-cedi-d1-lebrija/46e3a16f-f43b-510e-9032-e476e8d715c5/scratchpad/assets/n_4.jpg">    </p:cNvPr>
          <p:cNvPicPr>
            <a:picLocks noChangeAspect="1"/>
          </p:cNvPicPr>
          <p:nvPr/>
        </p:nvPicPr>
        <p:blipFill>
          <a:blip r:embed="rId1"/>
          <a:srcRect l="0" r="0" t="0" b="0"/>
          <a:stretch/>
        </p:blipFill>
        <p:spPr>
          <a:xfrm>
            <a:off x="548640" y="1325880"/>
            <a:ext cx="5669280" cy="4251960"/>
          </a:xfrm>
          <a:prstGeom prst="rect">
            <a:avLst/>
          </a:prstGeom>
        </p:spPr>
      </p:pic>
      <p:sp>
        <p:nvSpPr>
          <p:cNvPr id="4" name="Text 1"/>
          <p:cNvSpPr txBox="1"/>
          <p:nvPr/>
        </p:nvSpPr>
        <p:spPr>
          <a:xfrm>
            <a:off x="548640" y="5650992"/>
            <a:ext cx="5669280" cy="320040"/>
          </a:xfrm>
          <a:prstGeom prst="rect">
            <a:avLst/>
          </a:prstGeom>
          <a:noFill/>
          <a:ln/>
        </p:spPr>
        <p:txBody>
          <a:bodyPr wrap="square" lIns="0" tIns="0" rIns="0" bIns="0" rtlCol="0" anchor="ctr"/>
          <a:lstStyle/>
          <a:p>
            <a:pPr indent="0" marL="0">
              <a:buNone/>
            </a:pPr>
            <a:r>
              <a:rPr lang="en-US" sz="1100" i="1" dirty="0">
                <a:solidFill>
                  <a:schemeClr val="accent6"/>
                </a:solidFill>
              </a:rPr>
              <a:t>Bodega vista desde el mezanine de oficinas</a:t>
            </a:r>
            <a:endParaRPr lang="en-US" sz="1100" dirty="0"/>
          </a:p>
        </p:txBody>
      </p:sp>
      <p:sp>
        <p:nvSpPr>
          <p:cNvPr id="5" name="dato Área en un solo sector"/>
          <p:cNvSpPr/>
          <p:nvPr/>
        </p:nvSpPr>
        <p:spPr>
          <a:xfrm>
            <a:off x="6583680" y="1325880"/>
            <a:ext cx="23774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766560" y="1554480"/>
            <a:ext cx="2011680" cy="685800"/>
          </a:xfrm>
          <a:prstGeom prst="rect">
            <a:avLst/>
          </a:prstGeom>
          <a:noFill/>
          <a:ln/>
        </p:spPr>
        <p:txBody>
          <a:bodyPr wrap="square" lIns="0" tIns="0" rIns="0" bIns="0" rtlCol="0" anchor="ctr"/>
          <a:lstStyle/>
          <a:p>
            <a:pPr indent="0" marL="0">
              <a:buNone/>
            </a:pPr>
            <a:r>
              <a:rPr lang="en-US" sz="3000" b="1" dirty="0">
                <a:solidFill>
                  <a:schemeClr val="tx1"/>
                </a:solidFill>
              </a:rPr>
              <a:t>17.432 m²</a:t>
            </a:r>
            <a:endParaRPr lang="en-US" sz="3000" dirty="0"/>
          </a:p>
        </p:txBody>
      </p:sp>
      <p:sp>
        <p:nvSpPr>
          <p:cNvPr id="7" name="Text 4"/>
          <p:cNvSpPr txBox="1"/>
          <p:nvPr/>
        </p:nvSpPr>
        <p:spPr>
          <a:xfrm>
            <a:off x="6766560" y="2240280"/>
            <a:ext cx="2011680" cy="502920"/>
          </a:xfrm>
          <a:prstGeom prst="rect">
            <a:avLst/>
          </a:prstGeom>
          <a:noFill/>
          <a:ln/>
        </p:spPr>
        <p:txBody>
          <a:bodyPr wrap="square" lIns="0" tIns="0" rIns="0" bIns="0" rtlCol="0" anchor="t"/>
          <a:lstStyle/>
          <a:p>
            <a:pPr indent="0" marL="0">
              <a:buNone/>
            </a:pPr>
            <a:r>
              <a:rPr lang="en-US" sz="1400" dirty="0">
                <a:solidFill>
                  <a:schemeClr val="accent6"/>
                </a:solidFill>
              </a:rPr>
              <a:t>Área en un solo sector</a:t>
            </a:r>
            <a:endParaRPr lang="en-US" sz="1400" dirty="0"/>
          </a:p>
        </p:txBody>
      </p:sp>
      <p:sp>
        <p:nvSpPr>
          <p:cNvPr id="8" name="dato Altura del edificio"/>
          <p:cNvSpPr/>
          <p:nvPr/>
        </p:nvSpPr>
        <p:spPr>
          <a:xfrm>
            <a:off x="9189720" y="1325880"/>
            <a:ext cx="23774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9372600" y="1554480"/>
            <a:ext cx="2011680" cy="685800"/>
          </a:xfrm>
          <a:prstGeom prst="rect">
            <a:avLst/>
          </a:prstGeom>
          <a:noFill/>
          <a:ln/>
        </p:spPr>
        <p:txBody>
          <a:bodyPr wrap="square" lIns="0" tIns="0" rIns="0" bIns="0" rtlCol="0" anchor="ctr"/>
          <a:lstStyle/>
          <a:p>
            <a:pPr indent="0" marL="0">
              <a:buNone/>
            </a:pPr>
            <a:r>
              <a:rPr lang="en-US" sz="3000" b="1" dirty="0">
                <a:solidFill>
                  <a:schemeClr val="tx1"/>
                </a:solidFill>
              </a:rPr>
              <a:t>18 m</a:t>
            </a:r>
            <a:endParaRPr lang="en-US" sz="3000" dirty="0"/>
          </a:p>
        </p:txBody>
      </p:sp>
      <p:sp>
        <p:nvSpPr>
          <p:cNvPr id="10" name="Text 7"/>
          <p:cNvSpPr txBox="1"/>
          <p:nvPr/>
        </p:nvSpPr>
        <p:spPr>
          <a:xfrm>
            <a:off x="9372600" y="2240280"/>
            <a:ext cx="2011680" cy="502920"/>
          </a:xfrm>
          <a:prstGeom prst="rect">
            <a:avLst/>
          </a:prstGeom>
          <a:noFill/>
          <a:ln/>
        </p:spPr>
        <p:txBody>
          <a:bodyPr wrap="square" lIns="0" tIns="0" rIns="0" bIns="0" rtlCol="0" anchor="t"/>
          <a:lstStyle/>
          <a:p>
            <a:pPr indent="0" marL="0">
              <a:buNone/>
            </a:pPr>
            <a:r>
              <a:rPr lang="en-US" sz="1400" dirty="0">
                <a:solidFill>
                  <a:schemeClr val="accent6"/>
                </a:solidFill>
              </a:rPr>
              <a:t>Altura del edificio</a:t>
            </a:r>
            <a:endParaRPr lang="en-US" sz="1400" dirty="0"/>
          </a:p>
        </p:txBody>
      </p:sp>
      <p:sp>
        <p:nvSpPr>
          <p:cNvPr id="11" name="dato Altura de las estanterías"/>
          <p:cNvSpPr/>
          <p:nvPr/>
        </p:nvSpPr>
        <p:spPr>
          <a:xfrm>
            <a:off x="6583680" y="3154680"/>
            <a:ext cx="23774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766560" y="3383280"/>
            <a:ext cx="2011680" cy="685800"/>
          </a:xfrm>
          <a:prstGeom prst="rect">
            <a:avLst/>
          </a:prstGeom>
          <a:noFill/>
          <a:ln/>
        </p:spPr>
        <p:txBody>
          <a:bodyPr wrap="square" lIns="0" tIns="0" rIns="0" bIns="0" rtlCol="0" anchor="ctr"/>
          <a:lstStyle/>
          <a:p>
            <a:pPr indent="0" marL="0">
              <a:buNone/>
            </a:pPr>
            <a:r>
              <a:rPr lang="en-US" sz="3000" b="1" dirty="0">
                <a:solidFill>
                  <a:schemeClr val="tx1"/>
                </a:solidFill>
              </a:rPr>
              <a:t>≈ 10 m</a:t>
            </a:r>
            <a:endParaRPr lang="en-US" sz="3000" dirty="0"/>
          </a:p>
        </p:txBody>
      </p:sp>
      <p:sp>
        <p:nvSpPr>
          <p:cNvPr id="13" name="Text 10"/>
          <p:cNvSpPr txBox="1"/>
          <p:nvPr/>
        </p:nvSpPr>
        <p:spPr>
          <a:xfrm>
            <a:off x="6766560" y="4069080"/>
            <a:ext cx="2011680" cy="502920"/>
          </a:xfrm>
          <a:prstGeom prst="rect">
            <a:avLst/>
          </a:prstGeom>
          <a:noFill/>
          <a:ln/>
        </p:spPr>
        <p:txBody>
          <a:bodyPr wrap="square" lIns="0" tIns="0" rIns="0" bIns="0" rtlCol="0" anchor="t"/>
          <a:lstStyle/>
          <a:p>
            <a:pPr indent="0" marL="0">
              <a:buNone/>
            </a:pPr>
            <a:r>
              <a:rPr lang="en-US" sz="1400" dirty="0">
                <a:solidFill>
                  <a:schemeClr val="accent6"/>
                </a:solidFill>
              </a:rPr>
              <a:t>Altura de las estanterías</a:t>
            </a:r>
            <a:endParaRPr lang="en-US" sz="1400" dirty="0"/>
          </a:p>
        </p:txBody>
      </p:sp>
      <p:sp>
        <p:nvSpPr>
          <p:cNvPr id="14" name="dato Valor del inventario (COP)"/>
          <p:cNvSpPr/>
          <p:nvPr/>
        </p:nvSpPr>
        <p:spPr>
          <a:xfrm>
            <a:off x="9189720" y="3154680"/>
            <a:ext cx="237744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9372600" y="3383280"/>
            <a:ext cx="2011680" cy="685800"/>
          </a:xfrm>
          <a:prstGeom prst="rect">
            <a:avLst/>
          </a:prstGeom>
          <a:noFill/>
          <a:ln/>
        </p:spPr>
        <p:txBody>
          <a:bodyPr wrap="square" lIns="0" tIns="0" rIns="0" bIns="0" rtlCol="0" anchor="ctr"/>
          <a:lstStyle/>
          <a:p>
            <a:pPr indent="0" marL="0">
              <a:buNone/>
            </a:pPr>
            <a:r>
              <a:rPr lang="en-US" sz="3000" b="1" dirty="0">
                <a:solidFill>
                  <a:schemeClr val="tx1"/>
                </a:solidFill>
              </a:rPr>
              <a:t>$500.000 M</a:t>
            </a:r>
            <a:endParaRPr lang="en-US" sz="3000" dirty="0"/>
          </a:p>
        </p:txBody>
      </p:sp>
      <p:sp>
        <p:nvSpPr>
          <p:cNvPr id="16" name="Text 13"/>
          <p:cNvSpPr txBox="1"/>
          <p:nvPr/>
        </p:nvSpPr>
        <p:spPr>
          <a:xfrm>
            <a:off x="9372600" y="4069080"/>
            <a:ext cx="2011680" cy="502920"/>
          </a:xfrm>
          <a:prstGeom prst="rect">
            <a:avLst/>
          </a:prstGeom>
          <a:noFill/>
          <a:ln/>
        </p:spPr>
        <p:txBody>
          <a:bodyPr wrap="square" lIns="0" tIns="0" rIns="0" bIns="0" rtlCol="0" anchor="t"/>
          <a:lstStyle/>
          <a:p>
            <a:pPr indent="0" marL="0">
              <a:buNone/>
            </a:pPr>
            <a:r>
              <a:rPr lang="en-US" sz="1400" dirty="0">
                <a:solidFill>
                  <a:schemeClr val="accent6"/>
                </a:solidFill>
              </a:rPr>
              <a:t>Valor del inventario (COP)</a:t>
            </a:r>
            <a:endParaRPr lang="en-US" sz="1400" dirty="0"/>
          </a:p>
        </p:txBody>
      </p:sp>
      <p:sp>
        <p:nvSpPr>
          <p:cNvPr id="17" name="Text 14"/>
          <p:cNvSpPr txBox="1"/>
          <p:nvPr/>
        </p:nvSpPr>
        <p:spPr>
          <a:xfrm>
            <a:off x="6583680" y="5074920"/>
            <a:ext cx="4983480" cy="868680"/>
          </a:xfrm>
          <a:prstGeom prst="rect">
            <a:avLst/>
          </a:prstGeom>
          <a:noFill/>
          <a:ln/>
        </p:spPr>
        <p:txBody>
          <a:bodyPr wrap="square" lIns="0" tIns="0" rIns="0" bIns="0" rtlCol="0" anchor="t"/>
          <a:lstStyle/>
          <a:p>
            <a:pPr indent="0" marL="0">
              <a:buNone/>
            </a:pPr>
            <a:r>
              <a:rPr lang="en-US" sz="1400" dirty="0">
                <a:solidFill>
                  <a:schemeClr val="tx1"/>
                </a:solidFill>
              </a:rPr>
              <a:t>Tiendas D1 – Koba Colombia S.A.S. · Sector San Pablo, Lebrija. Bodega con estanterías, cava de frío, muelles y mezanine con oficinas y comedor.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¿Cómo funciona el método MESERI?</a:t>
            </a:r>
            <a:endParaRPr lang="en-US" sz="3200" dirty="0"/>
          </a:p>
        </p:txBody>
      </p:sp>
      <p:sp>
        <p:nvSpPr>
          <p:cNvPr id="3" name="fórmula"/>
          <p:cNvSpPr/>
          <p:nvPr/>
        </p:nvSpPr>
        <p:spPr>
          <a:xfrm>
            <a:off x="548640" y="1280160"/>
            <a:ext cx="11091672" cy="1143000"/>
          </a:xfrm>
          <a:prstGeom prst="roundRect">
            <a:avLst>
              <a:gd name="adj" fmla="val 96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48640" y="1280160"/>
            <a:ext cx="11091672" cy="1143000"/>
          </a:xfrm>
          <a:prstGeom prst="rect">
            <a:avLst/>
          </a:prstGeom>
          <a:noFill/>
          <a:ln/>
        </p:spPr>
        <p:txBody>
          <a:bodyPr wrap="square" lIns="0" tIns="0" rIns="0" bIns="0" rtlCol="0" anchor="ctr"/>
          <a:lstStyle/>
          <a:p>
            <a:pPr algn="ctr" indent="0" marL="0">
              <a:buNone/>
            </a:pPr>
            <a:r>
              <a:rPr lang="en-US" sz="3600" b="1" dirty="0">
                <a:solidFill>
                  <a:schemeClr val="accent1"/>
                </a:solidFill>
              </a:rPr>
              <a:t>P</a:t>
            </a:r>
            <a:pPr algn="ctr" indent="0" marL="0">
              <a:buNone/>
            </a:pPr>
            <a:r>
              <a:rPr lang="en-US" sz="3600" b="1" dirty="0">
                <a:solidFill>
                  <a:schemeClr val="bg1"/>
                </a:solidFill>
              </a:rPr>
              <a:t>  =  5X / 129  +  5Y / 26  +  BCI</a:t>
            </a:r>
            <a:endParaRPr lang="en-US" sz="3600" dirty="0"/>
          </a:p>
        </p:txBody>
      </p:sp>
      <p:sp>
        <p:nvSpPr>
          <p:cNvPr id="5" name="círculo X · Factores propios"/>
          <p:cNvSpPr/>
          <p:nvPr/>
        </p:nvSpPr>
        <p:spPr>
          <a:xfrm>
            <a:off x="548640" y="2743200"/>
            <a:ext cx="685800" cy="685800"/>
          </a:xfrm>
          <a:prstGeom prst="ellipse">
            <a:avLst/>
          </a:prstGeom>
          <a:solidFill>
            <a:schemeClr val="accent1"/>
          </a:solidFill>
          <a:ln w="12700">
            <a:solidFill>
              <a:schemeClr val="accent1"/>
            </a:solidFill>
            <a:prstDash val="solid"/>
          </a:ln>
        </p:spPr>
      </p:sp>
      <p:pic>
        <p:nvPicPr>
          <p:cNvPr id="6" name="ícono X · Factores propios" descr="preencoded.png">    </p:cNvPr>
          <p:cNvPicPr>
            <a:picLocks noChangeAspect="1"/>
          </p:cNvPicPr>
          <p:nvPr/>
        </p:nvPicPr>
        <p:blipFill>
          <a:blip r:embed="rId1"/>
          <a:stretch>
            <a:fillRect/>
          </a:stretch>
        </p:blipFill>
        <p:spPr>
          <a:xfrm>
            <a:off x="713232" y="2907792"/>
            <a:ext cx="356616" cy="356616"/>
          </a:xfrm>
          <a:prstGeom prst="rect">
            <a:avLst/>
          </a:prstGeom>
        </p:spPr>
      </p:pic>
      <p:sp>
        <p:nvSpPr>
          <p:cNvPr id="7" name="Text 4"/>
          <p:cNvSpPr txBox="1"/>
          <p:nvPr/>
        </p:nvSpPr>
        <p:spPr>
          <a:xfrm>
            <a:off x="1371600" y="2743200"/>
            <a:ext cx="2651760" cy="685800"/>
          </a:xfrm>
          <a:prstGeom prst="rect">
            <a:avLst/>
          </a:prstGeom>
          <a:noFill/>
          <a:ln/>
        </p:spPr>
        <p:txBody>
          <a:bodyPr wrap="square" lIns="0" tIns="0" rIns="0" bIns="0" rtlCol="0" anchor="ctr"/>
          <a:lstStyle/>
          <a:p>
            <a:pPr indent="0" marL="0">
              <a:buNone/>
            </a:pPr>
            <a:r>
              <a:rPr lang="en-US" sz="1800" b="1" dirty="0">
                <a:solidFill>
                  <a:schemeClr val="tx1"/>
                </a:solidFill>
              </a:rPr>
              <a:t>X · Factores propios</a:t>
            </a:r>
            <a:endParaRPr lang="en-US" sz="1800" dirty="0"/>
          </a:p>
        </p:txBody>
      </p:sp>
      <p:sp>
        <p:nvSpPr>
          <p:cNvPr id="8" name="Text 5"/>
          <p:cNvSpPr txBox="1"/>
          <p:nvPr/>
        </p:nvSpPr>
        <p:spPr>
          <a:xfrm>
            <a:off x="548640" y="3566160"/>
            <a:ext cx="3474720" cy="914400"/>
          </a:xfrm>
          <a:prstGeom prst="rect">
            <a:avLst/>
          </a:prstGeom>
          <a:noFill/>
          <a:ln/>
        </p:spPr>
        <p:txBody>
          <a:bodyPr wrap="square" lIns="0" tIns="0" rIns="0" bIns="0" rtlCol="0" anchor="t"/>
          <a:lstStyle/>
          <a:p>
            <a:pPr indent="0" marL="0">
              <a:buNone/>
            </a:pPr>
            <a:r>
              <a:rPr lang="en-US" sz="1400" dirty="0">
                <a:solidFill>
                  <a:schemeClr val="accent6"/>
                </a:solidFill>
              </a:rPr>
              <a:t>Construcción, situación, procesos, concentración, propagabilidad y destructibilidad. Máximo 129 puntos.</a:t>
            </a:r>
            <a:endParaRPr lang="en-US" sz="1400" dirty="0"/>
          </a:p>
        </p:txBody>
      </p:sp>
      <p:sp>
        <p:nvSpPr>
          <p:cNvPr id="9" name="círculo Y · Protección"/>
          <p:cNvSpPr/>
          <p:nvPr/>
        </p:nvSpPr>
        <p:spPr>
          <a:xfrm>
            <a:off x="4325112" y="2743200"/>
            <a:ext cx="685800" cy="685800"/>
          </a:xfrm>
          <a:prstGeom prst="ellipse">
            <a:avLst/>
          </a:prstGeom>
          <a:solidFill>
            <a:schemeClr val="accent1"/>
          </a:solidFill>
          <a:ln w="12700">
            <a:solidFill>
              <a:schemeClr val="accent1"/>
            </a:solidFill>
            <a:prstDash val="solid"/>
          </a:ln>
        </p:spPr>
      </p:sp>
      <p:pic>
        <p:nvPicPr>
          <p:cNvPr id="10" name="ícono Y · Protección" descr="preencoded.png">    </p:cNvPr>
          <p:cNvPicPr>
            <a:picLocks noChangeAspect="1"/>
          </p:cNvPicPr>
          <p:nvPr/>
        </p:nvPicPr>
        <p:blipFill>
          <a:blip r:embed="rId2"/>
          <a:stretch>
            <a:fillRect/>
          </a:stretch>
        </p:blipFill>
        <p:spPr>
          <a:xfrm>
            <a:off x="4489704" y="2907792"/>
            <a:ext cx="356616" cy="356616"/>
          </a:xfrm>
          <a:prstGeom prst="rect">
            <a:avLst/>
          </a:prstGeom>
        </p:spPr>
      </p:pic>
      <p:sp>
        <p:nvSpPr>
          <p:cNvPr id="11" name="Text 7"/>
          <p:cNvSpPr txBox="1"/>
          <p:nvPr/>
        </p:nvSpPr>
        <p:spPr>
          <a:xfrm>
            <a:off x="5148072" y="2743200"/>
            <a:ext cx="2651760" cy="685800"/>
          </a:xfrm>
          <a:prstGeom prst="rect">
            <a:avLst/>
          </a:prstGeom>
          <a:noFill/>
          <a:ln/>
        </p:spPr>
        <p:txBody>
          <a:bodyPr wrap="square" lIns="0" tIns="0" rIns="0" bIns="0" rtlCol="0" anchor="ctr"/>
          <a:lstStyle/>
          <a:p>
            <a:pPr indent="0" marL="0">
              <a:buNone/>
            </a:pPr>
            <a:r>
              <a:rPr lang="en-US" sz="1800" b="1" dirty="0">
                <a:solidFill>
                  <a:schemeClr val="tx1"/>
                </a:solidFill>
              </a:rPr>
              <a:t>Y · Protección</a:t>
            </a:r>
            <a:endParaRPr lang="en-US" sz="1800" dirty="0"/>
          </a:p>
        </p:txBody>
      </p:sp>
      <p:sp>
        <p:nvSpPr>
          <p:cNvPr id="12" name="Text 8"/>
          <p:cNvSpPr txBox="1"/>
          <p:nvPr/>
        </p:nvSpPr>
        <p:spPr>
          <a:xfrm>
            <a:off x="4325112" y="3566160"/>
            <a:ext cx="3474720" cy="914400"/>
          </a:xfrm>
          <a:prstGeom prst="rect">
            <a:avLst/>
          </a:prstGeom>
          <a:noFill/>
          <a:ln/>
        </p:spPr>
        <p:txBody>
          <a:bodyPr wrap="square" lIns="0" tIns="0" rIns="0" bIns="0" rtlCol="0" anchor="t"/>
          <a:lstStyle/>
          <a:p>
            <a:pPr indent="0" marL="0">
              <a:buNone/>
            </a:pPr>
            <a:r>
              <a:rPr lang="en-US" sz="1400" dirty="0">
                <a:solidFill>
                  <a:schemeClr val="accent6"/>
                </a:solidFill>
              </a:rPr>
              <a:t>Extintores, gabinetes, hidrantes, detección, rociadores y agentes gaseosos. Máximo 26 puntos.</a:t>
            </a:r>
            <a:endParaRPr lang="en-US" sz="1400" dirty="0"/>
          </a:p>
        </p:txBody>
      </p:sp>
      <p:sp>
        <p:nvSpPr>
          <p:cNvPr id="13" name="círculo BCI · Brigada"/>
          <p:cNvSpPr/>
          <p:nvPr/>
        </p:nvSpPr>
        <p:spPr>
          <a:xfrm>
            <a:off x="8101584" y="2743200"/>
            <a:ext cx="685800" cy="685800"/>
          </a:xfrm>
          <a:prstGeom prst="ellipse">
            <a:avLst/>
          </a:prstGeom>
          <a:solidFill>
            <a:schemeClr val="accent1"/>
          </a:solidFill>
          <a:ln w="12700">
            <a:solidFill>
              <a:schemeClr val="accent1"/>
            </a:solidFill>
            <a:prstDash val="solid"/>
          </a:ln>
        </p:spPr>
      </p:sp>
      <p:pic>
        <p:nvPicPr>
          <p:cNvPr id="14" name="ícono BCI · Brigada" descr="preencoded.png">    </p:cNvPr>
          <p:cNvPicPr>
            <a:picLocks noChangeAspect="1"/>
          </p:cNvPicPr>
          <p:nvPr/>
        </p:nvPicPr>
        <p:blipFill>
          <a:blip r:embed="rId3"/>
          <a:stretch>
            <a:fillRect/>
          </a:stretch>
        </p:blipFill>
        <p:spPr>
          <a:xfrm>
            <a:off x="8266176" y="2907792"/>
            <a:ext cx="356616" cy="356616"/>
          </a:xfrm>
          <a:prstGeom prst="rect">
            <a:avLst/>
          </a:prstGeom>
        </p:spPr>
      </p:pic>
      <p:sp>
        <p:nvSpPr>
          <p:cNvPr id="15" name="Text 10"/>
          <p:cNvSpPr txBox="1"/>
          <p:nvPr/>
        </p:nvSpPr>
        <p:spPr>
          <a:xfrm>
            <a:off x="8924544" y="2743200"/>
            <a:ext cx="2651760" cy="685800"/>
          </a:xfrm>
          <a:prstGeom prst="rect">
            <a:avLst/>
          </a:prstGeom>
          <a:noFill/>
          <a:ln/>
        </p:spPr>
        <p:txBody>
          <a:bodyPr wrap="square" lIns="0" tIns="0" rIns="0" bIns="0" rtlCol="0" anchor="ctr"/>
          <a:lstStyle/>
          <a:p>
            <a:pPr indent="0" marL="0">
              <a:buNone/>
            </a:pPr>
            <a:r>
              <a:rPr lang="en-US" sz="1800" b="1" dirty="0">
                <a:solidFill>
                  <a:schemeClr val="tx1"/>
                </a:solidFill>
              </a:rPr>
              <a:t>BCI · Brigada</a:t>
            </a:r>
            <a:endParaRPr lang="en-US" sz="1800" dirty="0"/>
          </a:p>
        </p:txBody>
      </p:sp>
      <p:sp>
        <p:nvSpPr>
          <p:cNvPr id="16" name="Text 11"/>
          <p:cNvSpPr txBox="1"/>
          <p:nvPr/>
        </p:nvSpPr>
        <p:spPr>
          <a:xfrm>
            <a:off x="8101584" y="3566160"/>
            <a:ext cx="3474720" cy="914400"/>
          </a:xfrm>
          <a:prstGeom prst="rect">
            <a:avLst/>
          </a:prstGeom>
          <a:noFill/>
          <a:ln/>
        </p:spPr>
        <p:txBody>
          <a:bodyPr wrap="square" lIns="0" tIns="0" rIns="0" bIns="0" rtlCol="0" anchor="t"/>
          <a:lstStyle/>
          <a:p>
            <a:pPr indent="0" marL="0">
              <a:buNone/>
            </a:pPr>
            <a:r>
              <a:rPr lang="en-US" sz="1400" dirty="0">
                <a:solidFill>
                  <a:schemeClr val="accent6"/>
                </a:solidFill>
              </a:rPr>
              <a:t>Suma 1 punto si existe una brigada contra incendios; si no, 0.</a:t>
            </a:r>
            <a:endParaRPr lang="en-US" sz="1400" dirty="0"/>
          </a:p>
        </p:txBody>
      </p:sp>
      <p:sp>
        <p:nvSpPr>
          <p:cNvPr id="17" name="Text 12"/>
          <p:cNvSpPr txBox="1"/>
          <p:nvPr/>
        </p:nvSpPr>
        <p:spPr>
          <a:xfrm>
            <a:off x="548640" y="4663440"/>
            <a:ext cx="11091672" cy="365760"/>
          </a:xfrm>
          <a:prstGeom prst="rect">
            <a:avLst/>
          </a:prstGeom>
          <a:noFill/>
          <a:ln/>
        </p:spPr>
        <p:txBody>
          <a:bodyPr wrap="square" lIns="0" tIns="0" rIns="0" bIns="0" rtlCol="0" anchor="ctr"/>
          <a:lstStyle/>
          <a:p>
            <a:pPr indent="0" marL="0">
              <a:buNone/>
            </a:pPr>
            <a:r>
              <a:rPr lang="en-US" sz="1400" b="1" dirty="0">
                <a:solidFill>
                  <a:schemeClr val="tx1"/>
                </a:solidFill>
              </a:rPr>
              <a:t>P va de 0 a 10: mientras más alto, más protegido está el lugar. Desde 5 es aceptable.</a:t>
            </a:r>
            <a:endParaRPr lang="en-US" sz="1400" dirty="0"/>
          </a:p>
        </p:txBody>
      </p:sp>
      <p:sp>
        <p:nvSpPr>
          <p:cNvPr id="18" name="escala Muy malo"/>
          <p:cNvSpPr/>
          <p:nvPr/>
        </p:nvSpPr>
        <p:spPr>
          <a:xfrm>
            <a:off x="548640" y="5120640"/>
            <a:ext cx="2651760" cy="914400"/>
          </a:xfrm>
          <a:prstGeom prst="roundRect">
            <a:avLst>
              <a:gd name="adj" fmla="val 10000"/>
            </a:avLst>
          </a:prstGeom>
          <a:solidFill>
            <a:schemeClr val="accent3"/>
          </a:solidFill>
          <a:ln w="12700">
            <a:solidFill>
              <a:schemeClr val="accent3"/>
            </a:solidFill>
            <a:prstDash val="solid"/>
          </a:ln>
        </p:spPr>
      </p:sp>
      <p:sp>
        <p:nvSpPr>
          <p:cNvPr id="19" name="Text 14"/>
          <p:cNvSpPr txBox="1"/>
          <p:nvPr/>
        </p:nvSpPr>
        <p:spPr>
          <a:xfrm>
            <a:off x="548640" y="5120640"/>
            <a:ext cx="2651760" cy="914400"/>
          </a:xfrm>
          <a:prstGeom prst="rect">
            <a:avLst/>
          </a:prstGeom>
          <a:noFill/>
          <a:ln/>
        </p:spPr>
        <p:txBody>
          <a:bodyPr wrap="square" lIns="0" tIns="0" rIns="0" bIns="0" rtlCol="0" anchor="ctr"/>
          <a:lstStyle/>
          <a:p>
            <a:pPr algn="ctr" indent="0" marL="0">
              <a:buNone/>
            </a:pPr>
            <a:r>
              <a:rPr lang="en-US" sz="1800" b="1" dirty="0">
                <a:solidFill>
                  <a:schemeClr val="tx1"/>
                </a:solidFill>
              </a:rPr>
              <a:t>Menos de 3</a:t>
            </a:r>
            <a:endParaRPr lang="en-US" sz="1800" dirty="0"/>
          </a:p>
          <a:p>
            <a:pPr algn="ctr" indent="0" marL="0">
              <a:buNone/>
            </a:pPr>
            <a:r>
              <a:rPr lang="en-US" sz="1400" dirty="0">
                <a:solidFill>
                  <a:schemeClr val="tx1"/>
                </a:solidFill>
              </a:rPr>
              <a:t>Muy malo</a:t>
            </a:r>
            <a:endParaRPr lang="en-US" sz="1800" dirty="0"/>
          </a:p>
        </p:txBody>
      </p:sp>
      <p:sp>
        <p:nvSpPr>
          <p:cNvPr id="20" name="escala Malo"/>
          <p:cNvSpPr/>
          <p:nvPr/>
        </p:nvSpPr>
        <p:spPr>
          <a:xfrm>
            <a:off x="3346704" y="5120640"/>
            <a:ext cx="2651760" cy="914400"/>
          </a:xfrm>
          <a:prstGeom prst="roundRect">
            <a:avLst>
              <a:gd name="adj" fmla="val 10000"/>
            </a:avLst>
          </a:prstGeom>
          <a:solidFill>
            <a:schemeClr val="accent4"/>
          </a:solidFill>
          <a:ln w="12700">
            <a:solidFill>
              <a:schemeClr val="accent4"/>
            </a:solidFill>
            <a:prstDash val="solid"/>
          </a:ln>
        </p:spPr>
      </p:sp>
      <p:sp>
        <p:nvSpPr>
          <p:cNvPr id="21" name="Text 16"/>
          <p:cNvSpPr txBox="1"/>
          <p:nvPr/>
        </p:nvSpPr>
        <p:spPr>
          <a:xfrm>
            <a:off x="3346704" y="5120640"/>
            <a:ext cx="2651760" cy="914400"/>
          </a:xfrm>
          <a:prstGeom prst="rect">
            <a:avLst/>
          </a:prstGeom>
          <a:noFill/>
          <a:ln/>
        </p:spPr>
        <p:txBody>
          <a:bodyPr wrap="square" lIns="0" tIns="0" rIns="0" bIns="0" rtlCol="0" anchor="ctr"/>
          <a:lstStyle/>
          <a:p>
            <a:pPr algn="ctr" indent="0" marL="0">
              <a:buNone/>
            </a:pPr>
            <a:r>
              <a:rPr lang="en-US" sz="1800" b="1" dirty="0">
                <a:solidFill>
                  <a:schemeClr val="tx1"/>
                </a:solidFill>
              </a:rPr>
              <a:t>3 a 5</a:t>
            </a:r>
            <a:endParaRPr lang="en-US" sz="1800" dirty="0"/>
          </a:p>
          <a:p>
            <a:pPr algn="ctr" indent="0" marL="0">
              <a:buNone/>
            </a:pPr>
            <a:r>
              <a:rPr lang="en-US" sz="1400" dirty="0">
                <a:solidFill>
                  <a:schemeClr val="tx1"/>
                </a:solidFill>
              </a:rPr>
              <a:t>Malo</a:t>
            </a:r>
            <a:endParaRPr lang="en-US" sz="1800" dirty="0"/>
          </a:p>
        </p:txBody>
      </p:sp>
      <p:sp>
        <p:nvSpPr>
          <p:cNvPr id="22" name="escala Bueno"/>
          <p:cNvSpPr/>
          <p:nvPr/>
        </p:nvSpPr>
        <p:spPr>
          <a:xfrm>
            <a:off x="6144768" y="5120640"/>
            <a:ext cx="2651760" cy="914400"/>
          </a:xfrm>
          <a:prstGeom prst="roundRect">
            <a:avLst>
              <a:gd name="adj" fmla="val 10000"/>
            </a:avLst>
          </a:prstGeom>
          <a:solidFill>
            <a:schemeClr val="bg2"/>
          </a:solidFill>
          <a:ln w="12700">
            <a:solidFill>
              <a:schemeClr val="bg2"/>
            </a:solidFill>
            <a:prstDash val="solid"/>
          </a:ln>
        </p:spPr>
      </p:sp>
      <p:sp>
        <p:nvSpPr>
          <p:cNvPr id="23" name="Text 18"/>
          <p:cNvSpPr txBox="1"/>
          <p:nvPr/>
        </p:nvSpPr>
        <p:spPr>
          <a:xfrm>
            <a:off x="6144768" y="5120640"/>
            <a:ext cx="2651760" cy="914400"/>
          </a:xfrm>
          <a:prstGeom prst="rect">
            <a:avLst/>
          </a:prstGeom>
          <a:noFill/>
          <a:ln/>
        </p:spPr>
        <p:txBody>
          <a:bodyPr wrap="square" lIns="0" tIns="0" rIns="0" bIns="0" rtlCol="0" anchor="ctr"/>
          <a:lstStyle/>
          <a:p>
            <a:pPr algn="ctr" indent="0" marL="0">
              <a:buNone/>
            </a:pPr>
            <a:r>
              <a:rPr lang="en-US" sz="1800" b="1" dirty="0">
                <a:solidFill>
                  <a:schemeClr val="tx1"/>
                </a:solidFill>
              </a:rPr>
              <a:t>5 a 8</a:t>
            </a:r>
            <a:endParaRPr lang="en-US" sz="1800" dirty="0"/>
          </a:p>
          <a:p>
            <a:pPr algn="ctr" indent="0" marL="0">
              <a:buNone/>
            </a:pPr>
            <a:r>
              <a:rPr lang="en-US" sz="1400" dirty="0">
                <a:solidFill>
                  <a:schemeClr val="tx1"/>
                </a:solidFill>
              </a:rPr>
              <a:t>Bueno</a:t>
            </a:r>
            <a:endParaRPr lang="en-US" sz="1800" dirty="0"/>
          </a:p>
        </p:txBody>
      </p:sp>
      <p:sp>
        <p:nvSpPr>
          <p:cNvPr id="24" name="escala Muy bueno"/>
          <p:cNvSpPr/>
          <p:nvPr/>
        </p:nvSpPr>
        <p:spPr>
          <a:xfrm>
            <a:off x="8942832" y="5120640"/>
            <a:ext cx="2651760" cy="914400"/>
          </a:xfrm>
          <a:prstGeom prst="roundRect">
            <a:avLst>
              <a:gd name="adj" fmla="val 10000"/>
            </a:avLst>
          </a:prstGeom>
          <a:solidFill>
            <a:schemeClr val="accent1"/>
          </a:solidFill>
          <a:ln w="12700">
            <a:solidFill>
              <a:schemeClr val="accent1"/>
            </a:solidFill>
            <a:prstDash val="solid"/>
          </a:ln>
        </p:spPr>
      </p:sp>
      <p:sp>
        <p:nvSpPr>
          <p:cNvPr id="25" name="Text 20"/>
          <p:cNvSpPr txBox="1"/>
          <p:nvPr/>
        </p:nvSpPr>
        <p:spPr>
          <a:xfrm>
            <a:off x="8942832" y="5120640"/>
            <a:ext cx="2651760" cy="914400"/>
          </a:xfrm>
          <a:prstGeom prst="rect">
            <a:avLst/>
          </a:prstGeom>
          <a:noFill/>
          <a:ln/>
        </p:spPr>
        <p:txBody>
          <a:bodyPr wrap="square" lIns="0" tIns="0" rIns="0" bIns="0" rtlCol="0" anchor="ctr"/>
          <a:lstStyle/>
          <a:p>
            <a:pPr algn="ctr" indent="0" marL="0">
              <a:buNone/>
            </a:pPr>
            <a:r>
              <a:rPr lang="en-US" sz="1800" b="1" dirty="0">
                <a:solidFill>
                  <a:schemeClr val="tx1"/>
                </a:solidFill>
              </a:rPr>
              <a:t>Más de 8</a:t>
            </a:r>
            <a:endParaRPr lang="en-US" sz="1800" dirty="0"/>
          </a:p>
          <a:p>
            <a:pPr algn="ctr" indent="0" marL="0">
              <a:buNone/>
            </a:pPr>
            <a:r>
              <a:rPr lang="en-US" sz="1400" dirty="0">
                <a:solidFill>
                  <a:schemeClr val="tx1"/>
                </a:solidFill>
              </a:rPr>
              <a:t>Muy bueno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Factores propios del edificio</a:t>
            </a:r>
            <a:endParaRPr lang="en-US" sz="3200" dirty="0"/>
          </a:p>
        </p:txBody>
      </p:sp>
      <p:graphicFrame>
        <p:nvGraphicFramePr>
          <p:cNvPr id="3" name="gráfico factores X" descr=""/>
          <p:cNvGraphicFramePr/>
          <p:nvPr/>
        </p:nvGraphicFramePr>
        <p:xfrm>
          <a:off x="548640" y="123444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total X"/>
          <p:cNvSpPr/>
          <p:nvPr/>
        </p:nvSpPr>
        <p:spPr>
          <a:xfrm>
            <a:off x="7863840" y="1325880"/>
            <a:ext cx="37764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092440" y="1463040"/>
            <a:ext cx="3383280" cy="1143000"/>
          </a:xfrm>
          <a:prstGeom prst="rect">
            <a:avLst/>
          </a:prstGeom>
          <a:noFill/>
          <a:ln/>
        </p:spPr>
        <p:txBody>
          <a:bodyPr wrap="square" lIns="0" tIns="0" rIns="0" bIns="0" rtlCol="0" anchor="ctr"/>
          <a:lstStyle/>
          <a:p>
            <a:pPr indent="0" marL="0">
              <a:buNone/>
            </a:pPr>
            <a:r>
              <a:rPr lang="en-US" sz="6600" b="1" dirty="0">
                <a:solidFill>
                  <a:schemeClr val="tx1"/>
                </a:solidFill>
              </a:rPr>
              <a:t>57</a:t>
            </a:r>
            <a:pPr indent="0" marL="0">
              <a:buNone/>
            </a:pPr>
            <a:r>
              <a:rPr lang="en-US" sz="2400" dirty="0">
                <a:solidFill>
                  <a:schemeClr val="accent6"/>
                </a:solidFill>
              </a:rPr>
              <a:t> / 129</a:t>
            </a:r>
            <a:endParaRPr lang="en-US" sz="6600" dirty="0"/>
          </a:p>
        </p:txBody>
      </p:sp>
      <p:sp>
        <p:nvSpPr>
          <p:cNvPr id="6" name="Text 3"/>
          <p:cNvSpPr txBox="1"/>
          <p:nvPr/>
        </p:nvSpPr>
        <p:spPr>
          <a:xfrm>
            <a:off x="8092440" y="2651760"/>
            <a:ext cx="3383280" cy="457200"/>
          </a:xfrm>
          <a:prstGeom prst="rect">
            <a:avLst/>
          </a:prstGeom>
          <a:noFill/>
          <a:ln/>
        </p:spPr>
        <p:txBody>
          <a:bodyPr wrap="square" lIns="0" tIns="0" rIns="0" bIns="0" rtlCol="0" anchor="ctr"/>
          <a:lstStyle/>
          <a:p>
            <a:pPr indent="0" marL="0">
              <a:buNone/>
            </a:pPr>
            <a:r>
              <a:rPr lang="en-US" sz="1400" dirty="0">
                <a:solidFill>
                  <a:schemeClr val="accent6"/>
                </a:solidFill>
              </a:rPr>
              <a:t>Total X · factores propios</a:t>
            </a:r>
            <a:endParaRPr lang="en-US" sz="1400" dirty="0"/>
          </a:p>
        </p:txBody>
      </p:sp>
      <p:sp>
        <p:nvSpPr>
          <p:cNvPr id="7" name="Text 4"/>
          <p:cNvSpPr txBox="1"/>
          <p:nvPr/>
        </p:nvSpPr>
        <p:spPr>
          <a:xfrm>
            <a:off x="7863840" y="3657600"/>
            <a:ext cx="3776472" cy="219456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El edificio por sí solo es desfavorable.</a:t>
            </a:r>
            <a:endParaRPr lang="en-US" sz="1600" dirty="0"/>
          </a:p>
          <a:p>
            <a:pPr indent="0" marL="0">
              <a:spcAft>
                <a:spcPts val="800"/>
              </a:spcAft>
              <a:buNone/>
            </a:pPr>
            <a:r>
              <a:rPr lang="en-US" sz="1600" dirty="0">
                <a:solidFill>
                  <a:schemeClr val="tx1"/>
                </a:solidFill>
              </a:rPr>
              <a:t>Su mayor ventaja es la cercanía de los bomberos: 3,4 km y 5 minutos (Situación 15 de 15).</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Lo que más aumenta el riesgo</a:t>
            </a:r>
            <a:endParaRPr lang="en-US" sz="3200" dirty="0"/>
          </a:p>
        </p:txBody>
      </p:sp>
      <p:sp>
        <p:nvSpPr>
          <p:cNvPr id="3" name="tarjeta Un solo sector"/>
          <p:cNvSpPr/>
          <p:nvPr/>
        </p:nvSpPr>
        <p:spPr>
          <a:xfrm>
            <a:off x="548640" y="1325880"/>
            <a:ext cx="2606040" cy="448056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4" name="foto Un solo sector" descr="/tmp/claude-0/-home-user-cedi-d1-lebrija/46e3a16f-f43b-510e-9032-e476e8d715c5/scratchpad/assets/n_mapa.jpg">    </p:cNvPr>
          <p:cNvPicPr>
            <a:picLocks noChangeAspect="1"/>
          </p:cNvPicPr>
          <p:nvPr/>
        </p:nvPicPr>
        <p:blipFill>
          <a:blip r:embed="rId1"/>
          <a:srcRect l="0" r="0" t="0" b="0"/>
          <a:stretch/>
        </p:blipFill>
        <p:spPr>
          <a:xfrm>
            <a:off x="548640" y="1325880"/>
            <a:ext cx="2606040" cy="2651760"/>
          </a:xfrm>
          <a:prstGeom prst="rect">
            <a:avLst/>
          </a:prstGeom>
        </p:spPr>
      </p:pic>
      <p:sp>
        <p:nvSpPr>
          <p:cNvPr id="5" name="coef Un solo sector"/>
          <p:cNvSpPr/>
          <p:nvPr/>
        </p:nvSpPr>
        <p:spPr>
          <a:xfrm>
            <a:off x="2286000" y="3611880"/>
            <a:ext cx="685800" cy="685800"/>
          </a:xfrm>
          <a:prstGeom prst="ellipse">
            <a:avLst/>
          </a:prstGeom>
          <a:solidFill>
            <a:schemeClr val="tx2"/>
          </a:solidFill>
          <a:ln w="25400">
            <a:solidFill>
              <a:schemeClr val="bg1"/>
            </a:solidFill>
            <a:prstDash val="solid"/>
          </a:ln>
        </p:spPr>
      </p:sp>
      <p:sp>
        <p:nvSpPr>
          <p:cNvPr id="6" name="Text 3"/>
          <p:cNvSpPr txBox="1"/>
          <p:nvPr/>
        </p:nvSpPr>
        <p:spPr>
          <a:xfrm>
            <a:off x="2286000" y="3611880"/>
            <a:ext cx="685800" cy="685800"/>
          </a:xfrm>
          <a:prstGeom prst="rect">
            <a:avLst/>
          </a:prstGeom>
          <a:noFill/>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7" name="Text 4"/>
          <p:cNvSpPr txBox="1"/>
          <p:nvPr/>
        </p:nvSpPr>
        <p:spPr>
          <a:xfrm>
            <a:off x="731520" y="4343400"/>
            <a:ext cx="2240280" cy="731520"/>
          </a:xfrm>
          <a:prstGeom prst="rect">
            <a:avLst/>
          </a:prstGeom>
          <a:noFill/>
          <a:ln/>
        </p:spPr>
        <p:txBody>
          <a:bodyPr wrap="square" lIns="0" tIns="0" rIns="0" bIns="0" rtlCol="0" anchor="t"/>
          <a:lstStyle/>
          <a:p>
            <a:pPr indent="0" marL="0">
              <a:buNone/>
            </a:pPr>
            <a:r>
              <a:rPr lang="en-US" sz="2000" b="1" dirty="0">
                <a:solidFill>
                  <a:schemeClr val="tx1"/>
                </a:solidFill>
              </a:rPr>
              <a:t>Un solo sector</a:t>
            </a:r>
            <a:endParaRPr lang="en-US" sz="2000" dirty="0"/>
          </a:p>
        </p:txBody>
      </p:sp>
      <p:sp>
        <p:nvSpPr>
          <p:cNvPr id="8" name="Text 5"/>
          <p:cNvSpPr txBox="1"/>
          <p:nvPr/>
        </p:nvSpPr>
        <p:spPr>
          <a:xfrm>
            <a:off x="731520" y="5074920"/>
            <a:ext cx="2240280" cy="640080"/>
          </a:xfrm>
          <a:prstGeom prst="rect">
            <a:avLst/>
          </a:prstGeom>
          <a:noFill/>
          <a:ln/>
        </p:spPr>
        <p:txBody>
          <a:bodyPr wrap="square" lIns="0" tIns="0" rIns="0" bIns="0" rtlCol="0" anchor="t"/>
          <a:lstStyle/>
          <a:p>
            <a:pPr indent="0" marL="0">
              <a:buNone/>
            </a:pPr>
            <a:r>
              <a:rPr lang="en-US" sz="1500" dirty="0">
                <a:solidFill>
                  <a:schemeClr val="accent6"/>
                </a:solidFill>
              </a:rPr>
              <a:t>17.432 m² sin muros cortafuego</a:t>
            </a:r>
            <a:endParaRPr lang="en-US" sz="1500" dirty="0"/>
          </a:p>
        </p:txBody>
      </p:sp>
      <p:sp>
        <p:nvSpPr>
          <p:cNvPr id="9" name="tarjeta Almacenamiento alto"/>
          <p:cNvSpPr/>
          <p:nvPr/>
        </p:nvSpPr>
        <p:spPr>
          <a:xfrm>
            <a:off x="3383280" y="1325880"/>
            <a:ext cx="2606040" cy="448056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10" name="foto Almacenamiento alto" descr="/tmp/claude-0/-home-user-cedi-d1-lebrija/46e3a16f-f43b-510e-9032-e476e8d715c5/scratchpad/assets/f_28-2.jpg">    </p:cNvPr>
          <p:cNvPicPr>
            <a:picLocks noChangeAspect="1"/>
          </p:cNvPicPr>
          <p:nvPr/>
        </p:nvPicPr>
        <p:blipFill>
          <a:blip r:embed="rId2"/>
          <a:srcRect l="0" r="0" t="0" b="0"/>
          <a:stretch/>
        </p:blipFill>
        <p:spPr>
          <a:xfrm>
            <a:off x="3383280" y="1325880"/>
            <a:ext cx="2606040" cy="2651760"/>
          </a:xfrm>
          <a:prstGeom prst="rect">
            <a:avLst/>
          </a:prstGeom>
        </p:spPr>
      </p:pic>
      <p:sp>
        <p:nvSpPr>
          <p:cNvPr id="11" name="coef Almacenamiento alto"/>
          <p:cNvSpPr/>
          <p:nvPr/>
        </p:nvSpPr>
        <p:spPr>
          <a:xfrm>
            <a:off x="5120640" y="3611880"/>
            <a:ext cx="685800" cy="685800"/>
          </a:xfrm>
          <a:prstGeom prst="ellipse">
            <a:avLst/>
          </a:prstGeom>
          <a:solidFill>
            <a:schemeClr val="tx2"/>
          </a:solidFill>
          <a:ln w="25400">
            <a:solidFill>
              <a:schemeClr val="bg1"/>
            </a:solidFill>
            <a:prstDash val="solid"/>
          </a:ln>
        </p:spPr>
      </p:sp>
      <p:sp>
        <p:nvSpPr>
          <p:cNvPr id="12" name="Text 8"/>
          <p:cNvSpPr txBox="1"/>
          <p:nvPr/>
        </p:nvSpPr>
        <p:spPr>
          <a:xfrm>
            <a:off x="5120640" y="3611880"/>
            <a:ext cx="685800" cy="685800"/>
          </a:xfrm>
          <a:prstGeom prst="rect">
            <a:avLst/>
          </a:prstGeom>
          <a:noFill/>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13" name="Text 9"/>
          <p:cNvSpPr txBox="1"/>
          <p:nvPr/>
        </p:nvSpPr>
        <p:spPr>
          <a:xfrm>
            <a:off x="3566160" y="4343400"/>
            <a:ext cx="2240280" cy="731520"/>
          </a:xfrm>
          <a:prstGeom prst="rect">
            <a:avLst/>
          </a:prstGeom>
          <a:noFill/>
          <a:ln/>
        </p:spPr>
        <p:txBody>
          <a:bodyPr wrap="square" lIns="0" tIns="0" rIns="0" bIns="0" rtlCol="0" anchor="t"/>
          <a:lstStyle/>
          <a:p>
            <a:pPr indent="0" marL="0">
              <a:buNone/>
            </a:pPr>
            <a:r>
              <a:rPr lang="en-US" sz="2000" b="1" dirty="0">
                <a:solidFill>
                  <a:schemeClr val="tx1"/>
                </a:solidFill>
              </a:rPr>
              <a:t>Almacenamiento alto</a:t>
            </a:r>
            <a:endParaRPr lang="en-US" sz="2000" dirty="0"/>
          </a:p>
        </p:txBody>
      </p:sp>
      <p:sp>
        <p:nvSpPr>
          <p:cNvPr id="14" name="Text 10"/>
          <p:cNvSpPr txBox="1"/>
          <p:nvPr/>
        </p:nvSpPr>
        <p:spPr>
          <a:xfrm>
            <a:off x="3566160" y="5074920"/>
            <a:ext cx="2240280" cy="640080"/>
          </a:xfrm>
          <a:prstGeom prst="rect">
            <a:avLst/>
          </a:prstGeom>
          <a:noFill/>
          <a:ln/>
        </p:spPr>
        <p:txBody>
          <a:bodyPr wrap="square" lIns="0" tIns="0" rIns="0" bIns="0" rtlCol="0" anchor="t"/>
          <a:lstStyle/>
          <a:p>
            <a:pPr indent="0" marL="0">
              <a:buNone/>
            </a:pPr>
            <a:r>
              <a:rPr lang="en-US" sz="1500" dirty="0">
                <a:solidFill>
                  <a:schemeClr val="accent6"/>
                </a:solidFill>
              </a:rPr>
              <a:t>Estanterías de unos 10 m</a:t>
            </a:r>
            <a:endParaRPr lang="en-US" sz="1500" dirty="0"/>
          </a:p>
        </p:txBody>
      </p:sp>
      <p:sp>
        <p:nvSpPr>
          <p:cNvPr id="15" name="tarjeta Carga térmica alta"/>
          <p:cNvSpPr/>
          <p:nvPr/>
        </p:nvSpPr>
        <p:spPr>
          <a:xfrm>
            <a:off x="6217920" y="1325880"/>
            <a:ext cx="2606040" cy="448056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16" name="foto Carga térmica alta" descr="/tmp/claude-0/-home-user-cedi-d1-lebrija/46e3a16f-f43b-510e-9032-e476e8d715c5/scratchpad/assets/f_33-3.jpg">    </p:cNvPr>
          <p:cNvPicPr>
            <a:picLocks noChangeAspect="1"/>
          </p:cNvPicPr>
          <p:nvPr/>
        </p:nvPicPr>
        <p:blipFill>
          <a:blip r:embed="rId3"/>
          <a:srcRect l="0" r="0" t="0" b="0"/>
          <a:stretch/>
        </p:blipFill>
        <p:spPr>
          <a:xfrm>
            <a:off x="6217920" y="1325880"/>
            <a:ext cx="2606040" cy="2651760"/>
          </a:xfrm>
          <a:prstGeom prst="rect">
            <a:avLst/>
          </a:prstGeom>
        </p:spPr>
      </p:pic>
      <p:sp>
        <p:nvSpPr>
          <p:cNvPr id="17" name="coef Carga térmica alta"/>
          <p:cNvSpPr/>
          <p:nvPr/>
        </p:nvSpPr>
        <p:spPr>
          <a:xfrm>
            <a:off x="7955280" y="3611880"/>
            <a:ext cx="685800" cy="685800"/>
          </a:xfrm>
          <a:prstGeom prst="ellipse">
            <a:avLst/>
          </a:prstGeom>
          <a:solidFill>
            <a:schemeClr val="tx2"/>
          </a:solidFill>
          <a:ln w="25400">
            <a:solidFill>
              <a:schemeClr val="bg1"/>
            </a:solidFill>
            <a:prstDash val="solid"/>
          </a:ln>
        </p:spPr>
      </p:sp>
      <p:sp>
        <p:nvSpPr>
          <p:cNvPr id="18" name="Text 13"/>
          <p:cNvSpPr txBox="1"/>
          <p:nvPr/>
        </p:nvSpPr>
        <p:spPr>
          <a:xfrm>
            <a:off x="7955280" y="3611880"/>
            <a:ext cx="685800" cy="685800"/>
          </a:xfrm>
          <a:prstGeom prst="rect">
            <a:avLst/>
          </a:prstGeom>
          <a:noFill/>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19" name="Text 14"/>
          <p:cNvSpPr txBox="1"/>
          <p:nvPr/>
        </p:nvSpPr>
        <p:spPr>
          <a:xfrm>
            <a:off x="6400800" y="4343400"/>
            <a:ext cx="2240280" cy="731520"/>
          </a:xfrm>
          <a:prstGeom prst="rect">
            <a:avLst/>
          </a:prstGeom>
          <a:noFill/>
          <a:ln/>
        </p:spPr>
        <p:txBody>
          <a:bodyPr wrap="square" lIns="0" tIns="0" rIns="0" bIns="0" rtlCol="0" anchor="t"/>
          <a:lstStyle/>
          <a:p>
            <a:pPr indent="0" marL="0">
              <a:buNone/>
            </a:pPr>
            <a:r>
              <a:rPr lang="en-US" sz="2000" b="1" dirty="0">
                <a:solidFill>
                  <a:schemeClr val="tx1"/>
                </a:solidFill>
              </a:rPr>
              <a:t>Carga térmica alta</a:t>
            </a:r>
            <a:endParaRPr lang="en-US" sz="2000" dirty="0"/>
          </a:p>
        </p:txBody>
      </p:sp>
      <p:sp>
        <p:nvSpPr>
          <p:cNvPr id="20" name="Text 15"/>
          <p:cNvSpPr txBox="1"/>
          <p:nvPr/>
        </p:nvSpPr>
        <p:spPr>
          <a:xfrm>
            <a:off x="6400800" y="5074920"/>
            <a:ext cx="2240280" cy="640080"/>
          </a:xfrm>
          <a:prstGeom prst="rect">
            <a:avLst/>
          </a:prstGeom>
          <a:noFill/>
          <a:ln/>
        </p:spPr>
        <p:txBody>
          <a:bodyPr wrap="square" lIns="0" tIns="0" rIns="0" bIns="0" rtlCol="0" anchor="t"/>
          <a:lstStyle/>
          <a:p>
            <a:pPr indent="0" marL="0">
              <a:buNone/>
            </a:pPr>
            <a:r>
              <a:rPr lang="en-US" sz="1500" dirty="0">
                <a:solidFill>
                  <a:schemeClr val="accent6"/>
                </a:solidFill>
              </a:rPr>
              <a:t>Cartón, plástico y alimentos</a:t>
            </a:r>
            <a:endParaRPr lang="en-US" sz="1500" dirty="0"/>
          </a:p>
        </p:txBody>
      </p:sp>
      <p:sp>
        <p:nvSpPr>
          <p:cNvPr id="21" name="tarjeta Valor concentrado"/>
          <p:cNvSpPr/>
          <p:nvPr/>
        </p:nvSpPr>
        <p:spPr>
          <a:xfrm>
            <a:off x="9052560" y="1325880"/>
            <a:ext cx="2606040" cy="448056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22" name="foto Valor concentrado" descr="/tmp/claude-0/-home-user-cedi-d1-lebrija/46e3a16f-f43b-510e-9032-e476e8d715c5/scratchpad/assets/f_30-1.jpg">    </p:cNvPr>
          <p:cNvPicPr>
            <a:picLocks noChangeAspect="1"/>
          </p:cNvPicPr>
          <p:nvPr/>
        </p:nvPicPr>
        <p:blipFill>
          <a:blip r:embed="rId4"/>
          <a:srcRect l="0" r="0" t="0" b="0"/>
          <a:stretch/>
        </p:blipFill>
        <p:spPr>
          <a:xfrm>
            <a:off x="9052560" y="1325880"/>
            <a:ext cx="2606040" cy="2651760"/>
          </a:xfrm>
          <a:prstGeom prst="rect">
            <a:avLst/>
          </a:prstGeom>
        </p:spPr>
      </p:pic>
      <p:sp>
        <p:nvSpPr>
          <p:cNvPr id="23" name="coef Valor concentrado"/>
          <p:cNvSpPr/>
          <p:nvPr/>
        </p:nvSpPr>
        <p:spPr>
          <a:xfrm>
            <a:off x="10789920" y="3611880"/>
            <a:ext cx="685800" cy="685800"/>
          </a:xfrm>
          <a:prstGeom prst="ellipse">
            <a:avLst/>
          </a:prstGeom>
          <a:solidFill>
            <a:schemeClr val="tx2"/>
          </a:solidFill>
          <a:ln w="25400">
            <a:solidFill>
              <a:schemeClr val="bg1"/>
            </a:solidFill>
            <a:prstDash val="solid"/>
          </a:ln>
        </p:spPr>
      </p:sp>
      <p:sp>
        <p:nvSpPr>
          <p:cNvPr id="24" name="Text 18"/>
          <p:cNvSpPr txBox="1"/>
          <p:nvPr/>
        </p:nvSpPr>
        <p:spPr>
          <a:xfrm>
            <a:off x="10789920" y="3611880"/>
            <a:ext cx="685800" cy="685800"/>
          </a:xfrm>
          <a:prstGeom prst="rect">
            <a:avLst/>
          </a:prstGeom>
          <a:noFill/>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25" name="Text 19"/>
          <p:cNvSpPr txBox="1"/>
          <p:nvPr/>
        </p:nvSpPr>
        <p:spPr>
          <a:xfrm>
            <a:off x="9235440" y="4343400"/>
            <a:ext cx="2240280" cy="731520"/>
          </a:xfrm>
          <a:prstGeom prst="rect">
            <a:avLst/>
          </a:prstGeom>
          <a:noFill/>
          <a:ln/>
        </p:spPr>
        <p:txBody>
          <a:bodyPr wrap="square" lIns="0" tIns="0" rIns="0" bIns="0" rtlCol="0" anchor="t"/>
          <a:lstStyle/>
          <a:p>
            <a:pPr indent="0" marL="0">
              <a:buNone/>
            </a:pPr>
            <a:r>
              <a:rPr lang="en-US" sz="2000" b="1" dirty="0">
                <a:solidFill>
                  <a:schemeClr val="tx1"/>
                </a:solidFill>
              </a:rPr>
              <a:t>Valor concentrado</a:t>
            </a:r>
            <a:endParaRPr lang="en-US" sz="2000" dirty="0"/>
          </a:p>
        </p:txBody>
      </p:sp>
      <p:sp>
        <p:nvSpPr>
          <p:cNvPr id="26" name="Text 20"/>
          <p:cNvSpPr txBox="1"/>
          <p:nvPr/>
        </p:nvSpPr>
        <p:spPr>
          <a:xfrm>
            <a:off x="9235440" y="5074920"/>
            <a:ext cx="2240280" cy="640080"/>
          </a:xfrm>
          <a:prstGeom prst="rect">
            <a:avLst/>
          </a:prstGeom>
          <a:noFill/>
          <a:ln/>
        </p:spPr>
        <p:txBody>
          <a:bodyPr wrap="square" lIns="0" tIns="0" rIns="0" bIns="0" rtlCol="0" anchor="t"/>
          <a:lstStyle/>
          <a:p>
            <a:pPr indent="0" marL="0">
              <a:buNone/>
            </a:pPr>
            <a:r>
              <a:rPr lang="en-US" sz="1500" dirty="0">
                <a:solidFill>
                  <a:schemeClr val="accent6"/>
                </a:solidFill>
              </a:rPr>
              <a:t>≈ 28,7 millones COP por m²</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Medios de protección</a:t>
            </a:r>
            <a:endParaRPr lang="en-US" sz="3200" dirty="0"/>
          </a:p>
        </p:txBody>
      </p:sp>
      <p:sp>
        <p:nvSpPr>
          <p:cNvPr id="3" name="Text 1"/>
          <p:cNvSpPr txBox="1"/>
          <p:nvPr/>
        </p:nvSpPr>
        <p:spPr>
          <a:xfrm>
            <a:off x="548640" y="1371600"/>
            <a:ext cx="3291840" cy="457200"/>
          </a:xfrm>
          <a:prstGeom prst="rect">
            <a:avLst/>
          </a:prstGeom>
          <a:noFill/>
          <a:ln/>
        </p:spPr>
        <p:txBody>
          <a:bodyPr wrap="square" lIns="0" tIns="0" rIns="0" bIns="0" rtlCol="0" anchor="ctr"/>
          <a:lstStyle/>
          <a:p>
            <a:pPr indent="0" marL="0">
              <a:buNone/>
            </a:pPr>
            <a:r>
              <a:rPr lang="en-US" sz="1500" dirty="0">
                <a:solidFill>
                  <a:schemeClr val="tx1"/>
                </a:solidFill>
              </a:rPr>
              <a:t>Rociadores automáticos</a:t>
            </a:r>
            <a:endParaRPr lang="en-US" sz="1500" dirty="0"/>
          </a:p>
        </p:txBody>
      </p:sp>
      <p:sp>
        <p:nvSpPr>
          <p:cNvPr id="4" name="máximo Rociadores automáticos"/>
          <p:cNvSpPr/>
          <p:nvPr/>
        </p:nvSpPr>
        <p:spPr>
          <a:xfrm>
            <a:off x="3931920" y="1463040"/>
            <a:ext cx="3072384" cy="274320"/>
          </a:xfrm>
          <a:prstGeom prst="roundRect">
            <a:avLst>
              <a:gd name="adj" fmla="val 26667"/>
            </a:avLst>
          </a:prstGeom>
          <a:solidFill>
            <a:schemeClr val="bg2"/>
          </a:solidFill>
          <a:ln w="12700">
            <a:solidFill>
              <a:schemeClr val="bg2"/>
            </a:solidFill>
            <a:prstDash val="solid"/>
          </a:ln>
        </p:spPr>
      </p:sp>
      <p:sp>
        <p:nvSpPr>
          <p:cNvPr id="5" name="obtenido Rociadores automáticos"/>
          <p:cNvSpPr/>
          <p:nvPr/>
        </p:nvSpPr>
        <p:spPr>
          <a:xfrm>
            <a:off x="3931920" y="1463040"/>
            <a:ext cx="3072384" cy="274320"/>
          </a:xfrm>
          <a:prstGeom prst="roundRect">
            <a:avLst>
              <a:gd name="adj" fmla="val 26667"/>
            </a:avLst>
          </a:prstGeom>
          <a:solidFill>
            <a:schemeClr val="accent1"/>
          </a:solidFill>
          <a:ln w="12700">
            <a:solidFill>
              <a:schemeClr val="accent1"/>
            </a:solidFill>
            <a:prstDash val="solid"/>
          </a:ln>
        </p:spPr>
      </p:sp>
      <p:sp>
        <p:nvSpPr>
          <p:cNvPr id="6" name="Text 4"/>
          <p:cNvSpPr txBox="1"/>
          <p:nvPr/>
        </p:nvSpPr>
        <p:spPr>
          <a:xfrm>
            <a:off x="7095744" y="1371600"/>
            <a:ext cx="457200" cy="457200"/>
          </a:xfrm>
          <a:prstGeom prst="rect">
            <a:avLst/>
          </a:prstGeom>
          <a:noFill/>
          <a:ln/>
        </p:spPr>
        <p:txBody>
          <a:bodyPr wrap="square" lIns="0" tIns="0" rIns="0" bIns="0" rtlCol="0" anchor="ctr"/>
          <a:lstStyle/>
          <a:p>
            <a:pPr indent="0" marL="0">
              <a:buNone/>
            </a:pPr>
            <a:r>
              <a:rPr lang="en-US" sz="1600" b="1" dirty="0">
                <a:solidFill>
                  <a:schemeClr val="tx1"/>
                </a:solidFill>
              </a:rPr>
              <a:t>8</a:t>
            </a:r>
            <a:endParaRPr lang="en-US" sz="1600" dirty="0"/>
          </a:p>
        </p:txBody>
      </p:sp>
      <p:sp>
        <p:nvSpPr>
          <p:cNvPr id="7" name="Text 5"/>
          <p:cNvSpPr txBox="1"/>
          <p:nvPr/>
        </p:nvSpPr>
        <p:spPr>
          <a:xfrm>
            <a:off x="548640" y="2029968"/>
            <a:ext cx="3291840" cy="457200"/>
          </a:xfrm>
          <a:prstGeom prst="rect">
            <a:avLst/>
          </a:prstGeom>
          <a:noFill/>
          <a:ln/>
        </p:spPr>
        <p:txBody>
          <a:bodyPr wrap="square" lIns="0" tIns="0" rIns="0" bIns="0" rtlCol="0" anchor="ctr"/>
          <a:lstStyle/>
          <a:p>
            <a:pPr indent="0" marL="0">
              <a:buNone/>
            </a:pPr>
            <a:r>
              <a:rPr lang="en-US" sz="1500" dirty="0">
                <a:solidFill>
                  <a:schemeClr val="tx1"/>
                </a:solidFill>
              </a:rPr>
              <a:t>Gabinetes contra incendio (BIE)</a:t>
            </a:r>
            <a:endParaRPr lang="en-US" sz="1500" dirty="0"/>
          </a:p>
        </p:txBody>
      </p:sp>
      <p:sp>
        <p:nvSpPr>
          <p:cNvPr id="8" name="máximo Gabinetes contra incendio (BIE)"/>
          <p:cNvSpPr/>
          <p:nvPr/>
        </p:nvSpPr>
        <p:spPr>
          <a:xfrm>
            <a:off x="3931920" y="2121408"/>
            <a:ext cx="1536192" cy="274320"/>
          </a:xfrm>
          <a:prstGeom prst="roundRect">
            <a:avLst>
              <a:gd name="adj" fmla="val 26667"/>
            </a:avLst>
          </a:prstGeom>
          <a:solidFill>
            <a:schemeClr val="bg2"/>
          </a:solidFill>
          <a:ln w="12700">
            <a:solidFill>
              <a:schemeClr val="bg2"/>
            </a:solidFill>
            <a:prstDash val="solid"/>
          </a:ln>
        </p:spPr>
      </p:sp>
      <p:sp>
        <p:nvSpPr>
          <p:cNvPr id="9" name="obtenido Gabinetes contra incendio (BIE)"/>
          <p:cNvSpPr/>
          <p:nvPr/>
        </p:nvSpPr>
        <p:spPr>
          <a:xfrm>
            <a:off x="3931920" y="2121408"/>
            <a:ext cx="1536192" cy="274320"/>
          </a:xfrm>
          <a:prstGeom prst="roundRect">
            <a:avLst>
              <a:gd name="adj" fmla="val 26667"/>
            </a:avLst>
          </a:prstGeom>
          <a:solidFill>
            <a:schemeClr val="accent1"/>
          </a:solidFill>
          <a:ln w="12700">
            <a:solidFill>
              <a:schemeClr val="accent1"/>
            </a:solidFill>
            <a:prstDash val="solid"/>
          </a:ln>
        </p:spPr>
      </p:sp>
      <p:sp>
        <p:nvSpPr>
          <p:cNvPr id="10" name="Text 8"/>
          <p:cNvSpPr txBox="1"/>
          <p:nvPr/>
        </p:nvSpPr>
        <p:spPr>
          <a:xfrm>
            <a:off x="5559552" y="2029968"/>
            <a:ext cx="457200" cy="457200"/>
          </a:xfrm>
          <a:prstGeom prst="rect">
            <a:avLst/>
          </a:prstGeom>
          <a:noFill/>
          <a:ln/>
        </p:spPr>
        <p:txBody>
          <a:bodyPr wrap="square" lIns="0" tIns="0" rIns="0" bIns="0" rtlCol="0" anchor="ctr"/>
          <a:lstStyle/>
          <a:p>
            <a:pPr indent="0" marL="0">
              <a:buNone/>
            </a:pPr>
            <a:r>
              <a:rPr lang="en-US" sz="1600" b="1" dirty="0">
                <a:solidFill>
                  <a:schemeClr val="tx1"/>
                </a:solidFill>
              </a:rPr>
              <a:t>4</a:t>
            </a:r>
            <a:endParaRPr lang="en-US" sz="1600" dirty="0"/>
          </a:p>
        </p:txBody>
      </p:sp>
      <p:sp>
        <p:nvSpPr>
          <p:cNvPr id="11" name="Text 9"/>
          <p:cNvSpPr txBox="1"/>
          <p:nvPr/>
        </p:nvSpPr>
        <p:spPr>
          <a:xfrm>
            <a:off x="548640" y="2688336"/>
            <a:ext cx="3291840" cy="457200"/>
          </a:xfrm>
          <a:prstGeom prst="rect">
            <a:avLst/>
          </a:prstGeom>
          <a:noFill/>
          <a:ln/>
        </p:spPr>
        <p:txBody>
          <a:bodyPr wrap="square" lIns="0" tIns="0" rIns="0" bIns="0" rtlCol="0" anchor="ctr"/>
          <a:lstStyle/>
          <a:p>
            <a:pPr indent="0" marL="0">
              <a:buNone/>
            </a:pPr>
            <a:r>
              <a:rPr lang="en-US" sz="1500" dirty="0">
                <a:solidFill>
                  <a:schemeClr val="tx1"/>
                </a:solidFill>
              </a:rPr>
              <a:t>Hidrante exterior</a:t>
            </a:r>
            <a:endParaRPr lang="en-US" sz="1500" dirty="0"/>
          </a:p>
        </p:txBody>
      </p:sp>
      <p:sp>
        <p:nvSpPr>
          <p:cNvPr id="12" name="máximo Hidrante exterior"/>
          <p:cNvSpPr/>
          <p:nvPr/>
        </p:nvSpPr>
        <p:spPr>
          <a:xfrm>
            <a:off x="3931920" y="2779776"/>
            <a:ext cx="1536192" cy="274320"/>
          </a:xfrm>
          <a:prstGeom prst="roundRect">
            <a:avLst>
              <a:gd name="adj" fmla="val 26667"/>
            </a:avLst>
          </a:prstGeom>
          <a:solidFill>
            <a:schemeClr val="bg2"/>
          </a:solidFill>
          <a:ln w="12700">
            <a:solidFill>
              <a:schemeClr val="bg2"/>
            </a:solidFill>
            <a:prstDash val="solid"/>
          </a:ln>
        </p:spPr>
      </p:sp>
      <p:sp>
        <p:nvSpPr>
          <p:cNvPr id="13" name="obtenido Hidrante exterior"/>
          <p:cNvSpPr/>
          <p:nvPr/>
        </p:nvSpPr>
        <p:spPr>
          <a:xfrm>
            <a:off x="3931920" y="2779776"/>
            <a:ext cx="1536192" cy="274320"/>
          </a:xfrm>
          <a:prstGeom prst="roundRect">
            <a:avLst>
              <a:gd name="adj" fmla="val 26667"/>
            </a:avLst>
          </a:prstGeom>
          <a:solidFill>
            <a:schemeClr val="accent1"/>
          </a:solidFill>
          <a:ln w="12700">
            <a:solidFill>
              <a:schemeClr val="accent1"/>
            </a:solidFill>
            <a:prstDash val="solid"/>
          </a:ln>
        </p:spPr>
      </p:sp>
      <p:sp>
        <p:nvSpPr>
          <p:cNvPr id="14" name="Text 12"/>
          <p:cNvSpPr txBox="1"/>
          <p:nvPr/>
        </p:nvSpPr>
        <p:spPr>
          <a:xfrm>
            <a:off x="5559552" y="2688336"/>
            <a:ext cx="457200" cy="457200"/>
          </a:xfrm>
          <a:prstGeom prst="rect">
            <a:avLst/>
          </a:prstGeom>
          <a:noFill/>
          <a:ln/>
        </p:spPr>
        <p:txBody>
          <a:bodyPr wrap="square" lIns="0" tIns="0" rIns="0" bIns="0" rtlCol="0" anchor="ctr"/>
          <a:lstStyle/>
          <a:p>
            <a:pPr indent="0" marL="0">
              <a:buNone/>
            </a:pPr>
            <a:r>
              <a:rPr lang="en-US" sz="1600" b="1" dirty="0">
                <a:solidFill>
                  <a:schemeClr val="tx1"/>
                </a:solidFill>
              </a:rPr>
              <a:t>4</a:t>
            </a:r>
            <a:endParaRPr lang="en-US" sz="1600" dirty="0"/>
          </a:p>
        </p:txBody>
      </p:sp>
      <p:sp>
        <p:nvSpPr>
          <p:cNvPr id="15" name="Text 13"/>
          <p:cNvSpPr txBox="1"/>
          <p:nvPr/>
        </p:nvSpPr>
        <p:spPr>
          <a:xfrm>
            <a:off x="548640" y="3346704"/>
            <a:ext cx="3291840" cy="457200"/>
          </a:xfrm>
          <a:prstGeom prst="rect">
            <a:avLst/>
          </a:prstGeom>
          <a:noFill/>
          <a:ln/>
        </p:spPr>
        <p:txBody>
          <a:bodyPr wrap="square" lIns="0" tIns="0" rIns="0" bIns="0" rtlCol="0" anchor="ctr"/>
          <a:lstStyle/>
          <a:p>
            <a:pPr indent="0" marL="0">
              <a:buNone/>
            </a:pPr>
            <a:r>
              <a:rPr lang="en-US" sz="1500" dirty="0">
                <a:solidFill>
                  <a:schemeClr val="tx1"/>
                </a:solidFill>
              </a:rPr>
              <a:t>Detección automática</a:t>
            </a:r>
            <a:endParaRPr lang="en-US" sz="1500" dirty="0"/>
          </a:p>
        </p:txBody>
      </p:sp>
      <p:sp>
        <p:nvSpPr>
          <p:cNvPr id="16" name="máximo Detección automática"/>
          <p:cNvSpPr/>
          <p:nvPr/>
        </p:nvSpPr>
        <p:spPr>
          <a:xfrm>
            <a:off x="3931920" y="3438144"/>
            <a:ext cx="1536192" cy="274320"/>
          </a:xfrm>
          <a:prstGeom prst="roundRect">
            <a:avLst>
              <a:gd name="adj" fmla="val 26667"/>
            </a:avLst>
          </a:prstGeom>
          <a:solidFill>
            <a:schemeClr val="bg2"/>
          </a:solidFill>
          <a:ln w="12700">
            <a:solidFill>
              <a:schemeClr val="bg2"/>
            </a:solidFill>
            <a:prstDash val="solid"/>
          </a:ln>
        </p:spPr>
      </p:sp>
      <p:sp>
        <p:nvSpPr>
          <p:cNvPr id="17" name="obtenido Detección automática"/>
          <p:cNvSpPr/>
          <p:nvPr/>
        </p:nvSpPr>
        <p:spPr>
          <a:xfrm>
            <a:off x="3931920" y="3438144"/>
            <a:ext cx="1536192" cy="274320"/>
          </a:xfrm>
          <a:prstGeom prst="roundRect">
            <a:avLst>
              <a:gd name="adj" fmla="val 26667"/>
            </a:avLst>
          </a:prstGeom>
          <a:solidFill>
            <a:schemeClr val="accent1"/>
          </a:solidFill>
          <a:ln w="12700">
            <a:solidFill>
              <a:schemeClr val="accent1"/>
            </a:solidFill>
            <a:prstDash val="solid"/>
          </a:ln>
        </p:spPr>
      </p:sp>
      <p:sp>
        <p:nvSpPr>
          <p:cNvPr id="18" name="Text 16"/>
          <p:cNvSpPr txBox="1"/>
          <p:nvPr/>
        </p:nvSpPr>
        <p:spPr>
          <a:xfrm>
            <a:off x="5559552" y="3346704"/>
            <a:ext cx="457200" cy="457200"/>
          </a:xfrm>
          <a:prstGeom prst="rect">
            <a:avLst/>
          </a:prstGeom>
          <a:noFill/>
          <a:ln/>
        </p:spPr>
        <p:txBody>
          <a:bodyPr wrap="square" lIns="0" tIns="0" rIns="0" bIns="0" rtlCol="0" anchor="ctr"/>
          <a:lstStyle/>
          <a:p>
            <a:pPr indent="0" marL="0">
              <a:buNone/>
            </a:pPr>
            <a:r>
              <a:rPr lang="en-US" sz="1600" b="1" dirty="0">
                <a:solidFill>
                  <a:schemeClr val="tx1"/>
                </a:solidFill>
              </a:rPr>
              <a:t>4</a:t>
            </a:r>
            <a:endParaRPr lang="en-US" sz="1600" dirty="0"/>
          </a:p>
        </p:txBody>
      </p:sp>
      <p:sp>
        <p:nvSpPr>
          <p:cNvPr id="19" name="Text 17"/>
          <p:cNvSpPr txBox="1"/>
          <p:nvPr/>
        </p:nvSpPr>
        <p:spPr>
          <a:xfrm>
            <a:off x="548640" y="4005072"/>
            <a:ext cx="3291840" cy="457200"/>
          </a:xfrm>
          <a:prstGeom prst="rect">
            <a:avLst/>
          </a:prstGeom>
          <a:noFill/>
          <a:ln/>
        </p:spPr>
        <p:txBody>
          <a:bodyPr wrap="square" lIns="0" tIns="0" rIns="0" bIns="0" rtlCol="0" anchor="ctr"/>
          <a:lstStyle/>
          <a:p>
            <a:pPr indent="0" marL="0">
              <a:buNone/>
            </a:pPr>
            <a:r>
              <a:rPr lang="en-US" sz="1500" dirty="0">
                <a:solidFill>
                  <a:schemeClr val="tx1"/>
                </a:solidFill>
              </a:rPr>
              <a:t>Extintores portátiles</a:t>
            </a:r>
            <a:endParaRPr lang="en-US" sz="1500" dirty="0"/>
          </a:p>
        </p:txBody>
      </p:sp>
      <p:sp>
        <p:nvSpPr>
          <p:cNvPr id="20" name="máximo Extintores portátiles"/>
          <p:cNvSpPr/>
          <p:nvPr/>
        </p:nvSpPr>
        <p:spPr>
          <a:xfrm>
            <a:off x="3931920" y="4096512"/>
            <a:ext cx="768096" cy="274320"/>
          </a:xfrm>
          <a:prstGeom prst="roundRect">
            <a:avLst>
              <a:gd name="adj" fmla="val 26667"/>
            </a:avLst>
          </a:prstGeom>
          <a:solidFill>
            <a:schemeClr val="bg2"/>
          </a:solidFill>
          <a:ln w="12700">
            <a:solidFill>
              <a:schemeClr val="bg2"/>
            </a:solidFill>
            <a:prstDash val="solid"/>
          </a:ln>
        </p:spPr>
      </p:sp>
      <p:sp>
        <p:nvSpPr>
          <p:cNvPr id="21" name="obtenido Extintores portátiles"/>
          <p:cNvSpPr/>
          <p:nvPr/>
        </p:nvSpPr>
        <p:spPr>
          <a:xfrm>
            <a:off x="3931920" y="4096512"/>
            <a:ext cx="768096" cy="274320"/>
          </a:xfrm>
          <a:prstGeom prst="roundRect">
            <a:avLst>
              <a:gd name="adj" fmla="val 26667"/>
            </a:avLst>
          </a:prstGeom>
          <a:solidFill>
            <a:schemeClr val="accent1"/>
          </a:solidFill>
          <a:ln w="12700">
            <a:solidFill>
              <a:schemeClr val="accent1"/>
            </a:solidFill>
            <a:prstDash val="solid"/>
          </a:ln>
        </p:spPr>
      </p:sp>
      <p:sp>
        <p:nvSpPr>
          <p:cNvPr id="22" name="Text 20"/>
          <p:cNvSpPr txBox="1"/>
          <p:nvPr/>
        </p:nvSpPr>
        <p:spPr>
          <a:xfrm>
            <a:off x="4791456" y="4005072"/>
            <a:ext cx="457200" cy="457200"/>
          </a:xfrm>
          <a:prstGeom prst="rect">
            <a:avLst/>
          </a:prstGeom>
          <a:noFill/>
          <a:ln/>
        </p:spPr>
        <p:txBody>
          <a:bodyPr wrap="square" lIns="0" tIns="0" rIns="0" bIns="0" rtlCol="0" anchor="ctr"/>
          <a:lstStyle/>
          <a:p>
            <a:pPr indent="0" marL="0">
              <a:buNone/>
            </a:pPr>
            <a:r>
              <a:rPr lang="en-US" sz="1600" b="1" dirty="0">
                <a:solidFill>
                  <a:schemeClr val="tx1"/>
                </a:solidFill>
              </a:rPr>
              <a:t>2</a:t>
            </a:r>
            <a:endParaRPr lang="en-US" sz="1600" dirty="0"/>
          </a:p>
        </p:txBody>
      </p:sp>
      <p:sp>
        <p:nvSpPr>
          <p:cNvPr id="23" name="Text 21"/>
          <p:cNvSpPr txBox="1"/>
          <p:nvPr/>
        </p:nvSpPr>
        <p:spPr>
          <a:xfrm>
            <a:off x="548640" y="4663440"/>
            <a:ext cx="3291840" cy="457200"/>
          </a:xfrm>
          <a:prstGeom prst="rect">
            <a:avLst/>
          </a:prstGeom>
          <a:noFill/>
          <a:ln/>
        </p:spPr>
        <p:txBody>
          <a:bodyPr wrap="square" lIns="0" tIns="0" rIns="0" bIns="0" rtlCol="0" anchor="ctr"/>
          <a:lstStyle/>
          <a:p>
            <a:pPr indent="0" marL="0">
              <a:buNone/>
            </a:pPr>
            <a:r>
              <a:rPr lang="en-US" sz="1500" dirty="0">
                <a:solidFill>
                  <a:schemeClr val="tx1"/>
                </a:solidFill>
              </a:rPr>
              <a:t>Agentes gaseosos (no aplica)</a:t>
            </a:r>
            <a:endParaRPr lang="en-US" sz="1500" dirty="0"/>
          </a:p>
        </p:txBody>
      </p:sp>
      <p:sp>
        <p:nvSpPr>
          <p:cNvPr id="24" name="máximo Agentes gaseosos (no aplica)"/>
          <p:cNvSpPr/>
          <p:nvPr/>
        </p:nvSpPr>
        <p:spPr>
          <a:xfrm>
            <a:off x="3931920" y="4754880"/>
            <a:ext cx="1536192" cy="274320"/>
          </a:xfrm>
          <a:prstGeom prst="roundRect">
            <a:avLst>
              <a:gd name="adj" fmla="val 26667"/>
            </a:avLst>
          </a:prstGeom>
          <a:solidFill>
            <a:schemeClr val="bg2"/>
          </a:solidFill>
          <a:ln w="12700">
            <a:solidFill>
              <a:schemeClr val="bg2"/>
            </a:solidFill>
            <a:prstDash val="solid"/>
          </a:ln>
        </p:spPr>
      </p:sp>
      <p:sp>
        <p:nvSpPr>
          <p:cNvPr id="25" name="Text 23"/>
          <p:cNvSpPr txBox="1"/>
          <p:nvPr/>
        </p:nvSpPr>
        <p:spPr>
          <a:xfrm>
            <a:off x="5559552" y="4663440"/>
            <a:ext cx="457200" cy="457200"/>
          </a:xfrm>
          <a:prstGeom prst="rect">
            <a:avLst/>
          </a:prstGeom>
          <a:noFill/>
          <a:ln/>
        </p:spPr>
        <p:txBody>
          <a:bodyPr wrap="square" lIns="0" tIns="0" rIns="0" bIns="0" rtlCol="0" anchor="ctr"/>
          <a:lstStyle/>
          <a:p>
            <a:pPr indent="0" marL="0">
              <a:buNone/>
            </a:pPr>
            <a:r>
              <a:rPr lang="en-US" sz="1600" b="1" dirty="0">
                <a:solidFill>
                  <a:schemeClr val="tx1"/>
                </a:solidFill>
              </a:rPr>
              <a:t>0</a:t>
            </a:r>
            <a:endParaRPr lang="en-US" sz="1600" dirty="0"/>
          </a:p>
        </p:txBody>
      </p:sp>
      <p:sp>
        <p:nvSpPr>
          <p:cNvPr id="26" name="Text 24"/>
          <p:cNvSpPr txBox="1"/>
          <p:nvPr/>
        </p:nvSpPr>
        <p:spPr>
          <a:xfrm>
            <a:off x="548640" y="5349240"/>
            <a:ext cx="2377440" cy="868680"/>
          </a:xfrm>
          <a:prstGeom prst="rect">
            <a:avLst/>
          </a:prstGeom>
          <a:noFill/>
          <a:ln/>
        </p:spPr>
        <p:txBody>
          <a:bodyPr wrap="square" lIns="0" tIns="0" rIns="0" bIns="0" rtlCol="0" anchor="ctr"/>
          <a:lstStyle/>
          <a:p>
            <a:pPr indent="0" marL="0">
              <a:buNone/>
            </a:pPr>
            <a:r>
              <a:rPr lang="en-US" sz="5400" b="1" dirty="0">
                <a:solidFill>
                  <a:schemeClr val="tx1"/>
                </a:solidFill>
              </a:rPr>
              <a:t>22</a:t>
            </a:r>
            <a:pPr indent="0" marL="0">
              <a:buNone/>
            </a:pPr>
            <a:r>
              <a:rPr lang="en-US" sz="2200" dirty="0">
                <a:solidFill>
                  <a:schemeClr val="accent6"/>
                </a:solidFill>
              </a:rPr>
              <a:t> / 26</a:t>
            </a:r>
            <a:endParaRPr lang="en-US" sz="5400" dirty="0"/>
          </a:p>
        </p:txBody>
      </p:sp>
      <p:sp>
        <p:nvSpPr>
          <p:cNvPr id="27" name="Text 25"/>
          <p:cNvSpPr txBox="1"/>
          <p:nvPr/>
        </p:nvSpPr>
        <p:spPr>
          <a:xfrm>
            <a:off x="2926080" y="5440680"/>
            <a:ext cx="4206240" cy="685800"/>
          </a:xfrm>
          <a:prstGeom prst="rect">
            <a:avLst/>
          </a:prstGeom>
          <a:noFill/>
          <a:ln/>
        </p:spPr>
        <p:txBody>
          <a:bodyPr wrap="square" lIns="0" tIns="0" rIns="0" bIns="0" rtlCol="0" anchor="ctr"/>
          <a:lstStyle/>
          <a:p>
            <a:pPr indent="0" marL="0">
              <a:buNone/>
            </a:pPr>
            <a:r>
              <a:rPr lang="en-US" sz="1400" dirty="0">
                <a:solidFill>
                  <a:schemeClr val="accent6"/>
                </a:solidFill>
              </a:rPr>
              <a:t>Total Y · todo con vigilancia (CV) y mantenimiento</a:t>
            </a:r>
            <a:endParaRPr lang="en-US" sz="1400" dirty="0"/>
          </a:p>
        </p:txBody>
      </p:sp>
      <p:pic>
        <p:nvPicPr>
          <p:cNvPr id="28" name="foto Rociadores bajo la cubierta" descr="/tmp/claude-0/-home-user-cedi-d1-lebrija/46e3a16f-f43b-510e-9032-e476e8d715c5/scratchpad/assets/f_29-2.jpg">    </p:cNvPr>
          <p:cNvPicPr>
            <a:picLocks noChangeAspect="1"/>
          </p:cNvPicPr>
          <p:nvPr/>
        </p:nvPicPr>
        <p:blipFill>
          <a:blip r:embed="rId1"/>
          <a:srcRect l="0" r="0" t="0" b="0"/>
          <a:stretch/>
        </p:blipFill>
        <p:spPr>
          <a:xfrm>
            <a:off x="7680960" y="1325880"/>
            <a:ext cx="2011680" cy="1463040"/>
          </a:xfrm>
          <a:prstGeom prst="rect">
            <a:avLst/>
          </a:prstGeom>
        </p:spPr>
      </p:pic>
      <p:sp>
        <p:nvSpPr>
          <p:cNvPr id="29" name="Text 26"/>
          <p:cNvSpPr txBox="1"/>
          <p:nvPr/>
        </p:nvSpPr>
        <p:spPr>
          <a:xfrm>
            <a:off x="9829800" y="1325880"/>
            <a:ext cx="1828800" cy="1463040"/>
          </a:xfrm>
          <a:prstGeom prst="rect">
            <a:avLst/>
          </a:prstGeom>
          <a:noFill/>
          <a:ln/>
        </p:spPr>
        <p:txBody>
          <a:bodyPr wrap="square" lIns="0" tIns="0" rIns="0" bIns="0" rtlCol="0" anchor="ctr"/>
          <a:lstStyle/>
          <a:p>
            <a:pPr indent="0" marL="0">
              <a:buNone/>
            </a:pPr>
            <a:r>
              <a:rPr lang="en-US" sz="1500" b="1" dirty="0">
                <a:solidFill>
                  <a:schemeClr val="tx1"/>
                </a:solidFill>
              </a:rPr>
              <a:t>Rociadores bajo la cubierta</a:t>
            </a:r>
            <a:endParaRPr lang="en-US" sz="1500" dirty="0"/>
          </a:p>
        </p:txBody>
      </p:sp>
      <p:pic>
        <p:nvPicPr>
          <p:cNvPr id="30" name="foto Gabinete contra incendio" descr="/tmp/claude-0/-home-user-cedi-d1-lebrija/46e3a16f-f43b-510e-9032-e476e8d715c5/scratchpad/assets/n_gab.jpg">    </p:cNvPr>
          <p:cNvPicPr>
            <a:picLocks noChangeAspect="1"/>
          </p:cNvPicPr>
          <p:nvPr/>
        </p:nvPicPr>
        <p:blipFill>
          <a:blip r:embed="rId2"/>
          <a:srcRect l="0" r="0" t="0" b="0"/>
          <a:stretch/>
        </p:blipFill>
        <p:spPr>
          <a:xfrm>
            <a:off x="7680960" y="2971800"/>
            <a:ext cx="2011680" cy="1463040"/>
          </a:xfrm>
          <a:prstGeom prst="rect">
            <a:avLst/>
          </a:prstGeom>
        </p:spPr>
      </p:pic>
      <p:sp>
        <p:nvSpPr>
          <p:cNvPr id="31" name="Text 27"/>
          <p:cNvSpPr txBox="1"/>
          <p:nvPr/>
        </p:nvSpPr>
        <p:spPr>
          <a:xfrm>
            <a:off x="9829800" y="2971800"/>
            <a:ext cx="1828800" cy="1463040"/>
          </a:xfrm>
          <a:prstGeom prst="rect">
            <a:avLst/>
          </a:prstGeom>
          <a:noFill/>
          <a:ln/>
        </p:spPr>
        <p:txBody>
          <a:bodyPr wrap="square" lIns="0" tIns="0" rIns="0" bIns="0" rtlCol="0" anchor="ctr"/>
          <a:lstStyle/>
          <a:p>
            <a:pPr indent="0" marL="0">
              <a:buNone/>
            </a:pPr>
            <a:r>
              <a:rPr lang="en-US" sz="1500" b="1" dirty="0">
                <a:solidFill>
                  <a:schemeClr val="tx1"/>
                </a:solidFill>
              </a:rPr>
              <a:t>Gabinete contra incendio</a:t>
            </a:r>
            <a:endParaRPr lang="en-US" sz="1500" dirty="0"/>
          </a:p>
        </p:txBody>
      </p:sp>
      <p:pic>
        <p:nvPicPr>
          <p:cNvPr id="32" name="foto Hidrante exterior" descr="/tmp/claude-0/-home-user-cedi-d1-lebrija/46e3a16f-f43b-510e-9032-e476e8d715c5/scratchpad/assets/n_hidrante.jpg">    </p:cNvPr>
          <p:cNvPicPr>
            <a:picLocks noChangeAspect="1"/>
          </p:cNvPicPr>
          <p:nvPr/>
        </p:nvPicPr>
        <p:blipFill>
          <a:blip r:embed="rId3"/>
          <a:srcRect l="0" r="0" t="0" b="0"/>
          <a:stretch/>
        </p:blipFill>
        <p:spPr>
          <a:xfrm>
            <a:off x="7680960" y="4617720"/>
            <a:ext cx="2011680" cy="1463040"/>
          </a:xfrm>
          <a:prstGeom prst="rect">
            <a:avLst/>
          </a:prstGeom>
        </p:spPr>
      </p:pic>
      <p:sp>
        <p:nvSpPr>
          <p:cNvPr id="33" name="Text 28"/>
          <p:cNvSpPr txBox="1"/>
          <p:nvPr/>
        </p:nvSpPr>
        <p:spPr>
          <a:xfrm>
            <a:off x="9829800" y="4617720"/>
            <a:ext cx="1828800" cy="1463040"/>
          </a:xfrm>
          <a:prstGeom prst="rect">
            <a:avLst/>
          </a:prstGeom>
          <a:noFill/>
          <a:ln/>
        </p:spPr>
        <p:txBody>
          <a:bodyPr wrap="square" lIns="0" tIns="0" rIns="0" bIns="0" rtlCol="0" anchor="ctr"/>
          <a:lstStyle/>
          <a:p>
            <a:pPr indent="0" marL="0">
              <a:buNone/>
            </a:pPr>
            <a:r>
              <a:rPr lang="en-US" sz="1500" b="1" dirty="0">
                <a:solidFill>
                  <a:schemeClr val="tx1"/>
                </a:solidFill>
              </a:rPr>
              <a:t>Hidrante exterior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241280" cy="685800"/>
          </a:xfrm>
          <a:prstGeom prst="rect">
            <a:avLst/>
          </a:prstGeom>
          <a:noFill/>
          <a:ln/>
        </p:spPr>
        <p:txBody>
          <a:bodyPr wrap="square" lIns="0" tIns="0" rIns="0" bIns="0" rtlCol="0" anchor="ctr"/>
          <a:lstStyle/>
          <a:p>
            <a:pPr algn="l" indent="0" marL="0">
              <a:buNone/>
            </a:pPr>
            <a:r>
              <a:rPr lang="en-US" sz="3200" b="1" dirty="0">
                <a:solidFill>
                  <a:schemeClr val="tx1"/>
                </a:solidFill>
              </a:rPr>
              <a:t>Resultado: coeficiente de protección P</a:t>
            </a:r>
            <a:endParaRPr lang="en-US" sz="3200" dirty="0"/>
          </a:p>
        </p:txBody>
      </p:sp>
      <p:sp>
        <p:nvSpPr>
          <p:cNvPr id="3" name="paso 1"/>
          <p:cNvSpPr/>
          <p:nvPr/>
        </p:nvSpPr>
        <p:spPr>
          <a:xfrm>
            <a:off x="548640" y="141732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548640" y="1417320"/>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1371600" y="1325880"/>
            <a:ext cx="5669280" cy="868680"/>
          </a:xfrm>
          <a:prstGeom prst="rect">
            <a:avLst/>
          </a:prstGeom>
          <a:noFill/>
          <a:ln/>
        </p:spPr>
        <p:txBody>
          <a:bodyPr wrap="square" lIns="0" tIns="0" rIns="0" bIns="0" rtlCol="0" anchor="ctr"/>
          <a:lstStyle/>
          <a:p>
            <a:pPr indent="0" marL="0">
              <a:buNone/>
            </a:pPr>
            <a:r>
              <a:rPr lang="en-US" sz="1400" dirty="0">
                <a:solidFill>
                  <a:schemeClr val="accent6"/>
                </a:solidFill>
              </a:rPr>
              <a:t>Fórmula</a:t>
            </a:r>
            <a:endParaRPr lang="en-US" sz="1400" dirty="0"/>
          </a:p>
          <a:p>
            <a:pPr indent="0" marL="0">
              <a:buNone/>
            </a:pPr>
            <a:r>
              <a:rPr lang="en-US" sz="2200" b="1" dirty="0">
                <a:solidFill>
                  <a:schemeClr val="tx1"/>
                </a:solidFill>
              </a:rPr>
              <a:t>P = 5X / 129 + 5Y / 26 + BCI</a:t>
            </a:r>
            <a:endParaRPr lang="en-US" sz="1400" dirty="0"/>
          </a:p>
        </p:txBody>
      </p:sp>
      <p:sp>
        <p:nvSpPr>
          <p:cNvPr id="6" name="paso 2"/>
          <p:cNvSpPr/>
          <p:nvPr/>
        </p:nvSpPr>
        <p:spPr>
          <a:xfrm>
            <a:off x="548640" y="246888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548640" y="2468880"/>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8" name="Text 6"/>
          <p:cNvSpPr txBox="1"/>
          <p:nvPr/>
        </p:nvSpPr>
        <p:spPr>
          <a:xfrm>
            <a:off x="1371600" y="2377440"/>
            <a:ext cx="5669280" cy="868680"/>
          </a:xfrm>
          <a:prstGeom prst="rect">
            <a:avLst/>
          </a:prstGeom>
          <a:noFill/>
          <a:ln/>
        </p:spPr>
        <p:txBody>
          <a:bodyPr wrap="square" lIns="0" tIns="0" rIns="0" bIns="0" rtlCol="0" anchor="ctr"/>
          <a:lstStyle/>
          <a:p>
            <a:pPr indent="0" marL="0">
              <a:buNone/>
            </a:pPr>
            <a:r>
              <a:rPr lang="en-US" sz="1400" dirty="0">
                <a:solidFill>
                  <a:schemeClr val="accent6"/>
                </a:solidFill>
              </a:rPr>
              <a:t>Reemplazo</a:t>
            </a:r>
            <a:endParaRPr lang="en-US" sz="1400" dirty="0"/>
          </a:p>
          <a:p>
            <a:pPr indent="0" marL="0">
              <a:buNone/>
            </a:pPr>
            <a:r>
              <a:rPr lang="en-US" sz="2200" b="1" dirty="0">
                <a:solidFill>
                  <a:schemeClr val="tx1"/>
                </a:solidFill>
              </a:rPr>
              <a:t>P = 5(57) / 129 + 5(22) / 26 + 0</a:t>
            </a:r>
            <a:endParaRPr lang="en-US" sz="1400" dirty="0"/>
          </a:p>
        </p:txBody>
      </p:sp>
      <p:sp>
        <p:nvSpPr>
          <p:cNvPr id="9" name="paso 3"/>
          <p:cNvSpPr/>
          <p:nvPr/>
        </p:nvSpPr>
        <p:spPr>
          <a:xfrm>
            <a:off x="548640" y="352044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548640" y="3520440"/>
            <a:ext cx="640080" cy="64008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1" name="Text 9"/>
          <p:cNvSpPr txBox="1"/>
          <p:nvPr/>
        </p:nvSpPr>
        <p:spPr>
          <a:xfrm>
            <a:off x="1371600" y="3429000"/>
            <a:ext cx="5669280" cy="868680"/>
          </a:xfrm>
          <a:prstGeom prst="rect">
            <a:avLst/>
          </a:prstGeom>
          <a:noFill/>
          <a:ln/>
        </p:spPr>
        <p:txBody>
          <a:bodyPr wrap="square" lIns="0" tIns="0" rIns="0" bIns="0" rtlCol="0" anchor="ctr"/>
          <a:lstStyle/>
          <a:p>
            <a:pPr indent="0" marL="0">
              <a:buNone/>
            </a:pPr>
            <a:r>
              <a:rPr lang="en-US" sz="1400" dirty="0">
                <a:solidFill>
                  <a:schemeClr val="accent6"/>
                </a:solidFill>
              </a:rPr>
              <a:t>Operación</a:t>
            </a:r>
            <a:endParaRPr lang="en-US" sz="1400" dirty="0"/>
          </a:p>
          <a:p>
            <a:pPr indent="0" marL="0">
              <a:buNone/>
            </a:pPr>
            <a:r>
              <a:rPr lang="en-US" sz="2200" b="1" dirty="0">
                <a:solidFill>
                  <a:schemeClr val="tx1"/>
                </a:solidFill>
              </a:rPr>
              <a:t>P = 2,209 + 4,231 + 0</a:t>
            </a:r>
            <a:endParaRPr lang="en-US" sz="1400" dirty="0"/>
          </a:p>
        </p:txBody>
      </p:sp>
      <p:sp>
        <p:nvSpPr>
          <p:cNvPr id="12" name="Text 10"/>
          <p:cNvSpPr txBox="1"/>
          <p:nvPr/>
        </p:nvSpPr>
        <p:spPr>
          <a:xfrm>
            <a:off x="548640" y="4572000"/>
            <a:ext cx="6492240" cy="457200"/>
          </a:xfrm>
          <a:prstGeom prst="rect">
            <a:avLst/>
          </a:prstGeom>
          <a:noFill/>
          <a:ln/>
        </p:spPr>
        <p:txBody>
          <a:bodyPr wrap="square" lIns="0" tIns="0" rIns="0" bIns="0" rtlCol="0" anchor="ctr"/>
          <a:lstStyle/>
          <a:p>
            <a:pPr indent="0" marL="0">
              <a:buNone/>
            </a:pPr>
            <a:r>
              <a:rPr lang="en-US" sz="1500" i="1" dirty="0">
                <a:solidFill>
                  <a:schemeClr val="accent6"/>
                </a:solidFill>
              </a:rPr>
              <a:t>La brigada (BCI) vale 0: el CEDI no tiene brigada contra incendios.</a:t>
            </a:r>
            <a:endParaRPr lang="en-US" sz="1500" dirty="0"/>
          </a:p>
        </p:txBody>
      </p:sp>
      <p:sp>
        <p:nvSpPr>
          <p:cNvPr id="13" name="resultado P"/>
          <p:cNvSpPr/>
          <p:nvPr/>
        </p:nvSpPr>
        <p:spPr>
          <a:xfrm>
            <a:off x="7863840" y="1280160"/>
            <a:ext cx="3291840" cy="3291840"/>
          </a:xfrm>
          <a:prstGeom prst="ellipse">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863840" y="1280160"/>
            <a:ext cx="3291840" cy="3291840"/>
          </a:xfrm>
          <a:prstGeom prst="rect">
            <a:avLst/>
          </a:prstGeom>
          <a:noFill/>
          <a:ln/>
        </p:spPr>
        <p:txBody>
          <a:bodyPr wrap="square" lIns="0" tIns="0" rIns="0" bIns="0" rtlCol="0" anchor="ctr"/>
          <a:lstStyle/>
          <a:p>
            <a:pPr algn="ctr" indent="0" marL="0">
              <a:buNone/>
            </a:pPr>
            <a:r>
              <a:rPr lang="en-US" sz="2200" dirty="0">
                <a:solidFill>
                  <a:schemeClr val="tx1"/>
                </a:solidFill>
              </a:rPr>
              <a:t>P =</a:t>
            </a:r>
            <a:endParaRPr lang="en-US" sz="2200" dirty="0"/>
          </a:p>
          <a:p>
            <a:pPr algn="ctr" indent="0" marL="0">
              <a:buNone/>
            </a:pPr>
            <a:r>
              <a:rPr lang="en-US" sz="6600" b="1" dirty="0">
                <a:solidFill>
                  <a:schemeClr val="tx1"/>
                </a:solidFill>
              </a:rPr>
              <a:t>6,44</a:t>
            </a:r>
            <a:endParaRPr lang="en-US" sz="2200" dirty="0"/>
          </a:p>
          <a:p>
            <a:pPr algn="ctr" indent="0" marL="0">
              <a:buNone/>
            </a:pPr>
            <a:r>
              <a:rPr lang="en-US" sz="2000" b="1" dirty="0">
                <a:solidFill>
                  <a:schemeClr val="tx1"/>
                </a:solidFill>
              </a:rPr>
              <a:t>Riesgo bueno</a:t>
            </a:r>
            <a:endParaRPr lang="en-US" sz="2200" dirty="0"/>
          </a:p>
        </p:txBody>
      </p:sp>
      <p:sp>
        <p:nvSpPr>
          <p:cNvPr id="15" name="tramo Muy malo"/>
          <p:cNvSpPr/>
          <p:nvPr/>
        </p:nvSpPr>
        <p:spPr>
          <a:xfrm>
            <a:off x="548640" y="5349240"/>
            <a:ext cx="3327502" cy="411480"/>
          </a:xfrm>
          <a:prstGeom prst="rect">
            <a:avLst/>
          </a:prstGeom>
          <a:solidFill>
            <a:schemeClr val="accent3"/>
          </a:solidFill>
          <a:ln w="12700">
            <a:solidFill>
              <a:schemeClr val="bg1"/>
            </a:solidFill>
            <a:prstDash val="solid"/>
          </a:ln>
        </p:spPr>
      </p:sp>
      <p:sp>
        <p:nvSpPr>
          <p:cNvPr id="16" name="Text 14"/>
          <p:cNvSpPr txBox="1"/>
          <p:nvPr/>
        </p:nvSpPr>
        <p:spPr>
          <a:xfrm>
            <a:off x="548640" y="5349240"/>
            <a:ext cx="3327502" cy="411480"/>
          </a:xfrm>
          <a:prstGeom prst="rect">
            <a:avLst/>
          </a:prstGeom>
          <a:noFill/>
          <a:ln/>
        </p:spPr>
        <p:txBody>
          <a:bodyPr wrap="square" lIns="0" tIns="0" rIns="0" bIns="0" rtlCol="0" anchor="ctr"/>
          <a:lstStyle/>
          <a:p>
            <a:pPr algn="ctr" indent="0" marL="0">
              <a:buNone/>
            </a:pPr>
            <a:r>
              <a:rPr lang="en-US" sz="1300" dirty="0">
                <a:solidFill>
                  <a:schemeClr val="tx1"/>
                </a:solidFill>
              </a:rPr>
              <a:t>Muy malo</a:t>
            </a:r>
            <a:endParaRPr lang="en-US" sz="1300" dirty="0"/>
          </a:p>
        </p:txBody>
      </p:sp>
      <p:sp>
        <p:nvSpPr>
          <p:cNvPr id="17" name="tramo Malo"/>
          <p:cNvSpPr/>
          <p:nvPr/>
        </p:nvSpPr>
        <p:spPr>
          <a:xfrm>
            <a:off x="3876142" y="5349240"/>
            <a:ext cx="2218334" cy="411480"/>
          </a:xfrm>
          <a:prstGeom prst="rect">
            <a:avLst/>
          </a:prstGeom>
          <a:solidFill>
            <a:schemeClr val="accent4"/>
          </a:solidFill>
          <a:ln w="12700">
            <a:solidFill>
              <a:schemeClr val="bg1"/>
            </a:solidFill>
            <a:prstDash val="solid"/>
          </a:ln>
        </p:spPr>
      </p:sp>
      <p:sp>
        <p:nvSpPr>
          <p:cNvPr id="18" name="Text 16"/>
          <p:cNvSpPr txBox="1"/>
          <p:nvPr/>
        </p:nvSpPr>
        <p:spPr>
          <a:xfrm>
            <a:off x="3876142" y="5349240"/>
            <a:ext cx="2218334" cy="411480"/>
          </a:xfrm>
          <a:prstGeom prst="rect">
            <a:avLst/>
          </a:prstGeom>
          <a:noFill/>
          <a:ln/>
        </p:spPr>
        <p:txBody>
          <a:bodyPr wrap="square" lIns="0" tIns="0" rIns="0" bIns="0" rtlCol="0" anchor="ctr"/>
          <a:lstStyle/>
          <a:p>
            <a:pPr algn="ctr" indent="0" marL="0">
              <a:buNone/>
            </a:pPr>
            <a:r>
              <a:rPr lang="en-US" sz="1300" dirty="0">
                <a:solidFill>
                  <a:schemeClr val="tx1"/>
                </a:solidFill>
              </a:rPr>
              <a:t>Malo</a:t>
            </a:r>
            <a:endParaRPr lang="en-US" sz="1300" dirty="0"/>
          </a:p>
        </p:txBody>
      </p:sp>
      <p:sp>
        <p:nvSpPr>
          <p:cNvPr id="19" name="tramo Bueno"/>
          <p:cNvSpPr/>
          <p:nvPr/>
        </p:nvSpPr>
        <p:spPr>
          <a:xfrm>
            <a:off x="6094476" y="5349240"/>
            <a:ext cx="3327502" cy="411480"/>
          </a:xfrm>
          <a:prstGeom prst="rect">
            <a:avLst/>
          </a:prstGeom>
          <a:solidFill>
            <a:schemeClr val="bg2"/>
          </a:solidFill>
          <a:ln w="12700">
            <a:solidFill>
              <a:schemeClr val="bg1"/>
            </a:solidFill>
            <a:prstDash val="solid"/>
          </a:ln>
        </p:spPr>
      </p:sp>
      <p:sp>
        <p:nvSpPr>
          <p:cNvPr id="20" name="Text 18"/>
          <p:cNvSpPr txBox="1"/>
          <p:nvPr/>
        </p:nvSpPr>
        <p:spPr>
          <a:xfrm>
            <a:off x="6094476" y="5349240"/>
            <a:ext cx="3327502" cy="411480"/>
          </a:xfrm>
          <a:prstGeom prst="rect">
            <a:avLst/>
          </a:prstGeom>
          <a:noFill/>
          <a:ln/>
        </p:spPr>
        <p:txBody>
          <a:bodyPr wrap="square" lIns="0" tIns="0" rIns="0" bIns="0" rtlCol="0" anchor="ctr"/>
          <a:lstStyle/>
          <a:p>
            <a:pPr algn="ctr" indent="0" marL="0">
              <a:buNone/>
            </a:pPr>
            <a:r>
              <a:rPr lang="en-US" sz="1300" dirty="0">
                <a:solidFill>
                  <a:schemeClr val="tx1"/>
                </a:solidFill>
              </a:rPr>
              <a:t>Bueno</a:t>
            </a:r>
            <a:endParaRPr lang="en-US" sz="1300" dirty="0"/>
          </a:p>
        </p:txBody>
      </p:sp>
      <p:sp>
        <p:nvSpPr>
          <p:cNvPr id="21" name="tramo Muy bueno"/>
          <p:cNvSpPr/>
          <p:nvPr/>
        </p:nvSpPr>
        <p:spPr>
          <a:xfrm>
            <a:off x="9421978" y="5349240"/>
            <a:ext cx="2218334" cy="411480"/>
          </a:xfrm>
          <a:prstGeom prst="rect">
            <a:avLst/>
          </a:prstGeom>
          <a:solidFill>
            <a:schemeClr val="accent1"/>
          </a:solidFill>
          <a:ln w="12700">
            <a:solidFill>
              <a:schemeClr val="bg1"/>
            </a:solidFill>
            <a:prstDash val="solid"/>
          </a:ln>
        </p:spPr>
      </p:sp>
      <p:sp>
        <p:nvSpPr>
          <p:cNvPr id="22" name="Text 20"/>
          <p:cNvSpPr txBox="1"/>
          <p:nvPr/>
        </p:nvSpPr>
        <p:spPr>
          <a:xfrm>
            <a:off x="9421978" y="5349240"/>
            <a:ext cx="2218334" cy="411480"/>
          </a:xfrm>
          <a:prstGeom prst="rect">
            <a:avLst/>
          </a:prstGeom>
          <a:noFill/>
          <a:ln/>
        </p:spPr>
        <p:txBody>
          <a:bodyPr wrap="square" lIns="0" tIns="0" rIns="0" bIns="0" rtlCol="0" anchor="ctr"/>
          <a:lstStyle/>
          <a:p>
            <a:pPr algn="ctr" indent="0" marL="0">
              <a:buNone/>
            </a:pPr>
            <a:r>
              <a:rPr lang="en-US" sz="1300" dirty="0">
                <a:solidFill>
                  <a:schemeClr val="tx1"/>
                </a:solidFill>
              </a:rPr>
              <a:t>Muy bueno</a:t>
            </a:r>
            <a:endParaRPr lang="en-US" sz="1300" dirty="0"/>
          </a:p>
        </p:txBody>
      </p:sp>
      <p:sp>
        <p:nvSpPr>
          <p:cNvPr id="23" name="marcador 6,44"/>
          <p:cNvSpPr/>
          <p:nvPr/>
        </p:nvSpPr>
        <p:spPr>
          <a:xfrm flipV="1">
            <a:off x="7554517" y="5056632"/>
            <a:ext cx="274320" cy="237744"/>
          </a:xfrm>
          <a:prstGeom prst="triangle">
            <a:avLst/>
          </a:prstGeom>
          <a:solidFill>
            <a:schemeClr val="tx2"/>
          </a:solidFill>
          <a:ln w="12700">
            <a:solidFill>
              <a:schemeClr val="tx2"/>
            </a:solidFill>
            <a:prstDash val="solid"/>
          </a:ln>
        </p:spPr>
      </p:sp>
      <p:sp>
        <p:nvSpPr>
          <p:cNvPr id="24" name="Text 22"/>
          <p:cNvSpPr txBox="1"/>
          <p:nvPr/>
        </p:nvSpPr>
        <p:spPr>
          <a:xfrm>
            <a:off x="548640" y="5788152"/>
            <a:ext cx="365760" cy="274320"/>
          </a:xfrm>
          <a:prstGeom prst="rect">
            <a:avLst/>
          </a:prstGeom>
          <a:noFill/>
          <a:ln/>
        </p:spPr>
        <p:txBody>
          <a:bodyPr wrap="square" lIns="0" tIns="0" rIns="0" bIns="0" rtlCol="0" anchor="ctr"/>
          <a:lstStyle/>
          <a:p>
            <a:pPr indent="0" marL="0">
              <a:buNone/>
            </a:pPr>
            <a:r>
              <a:rPr lang="en-US" sz="1100" dirty="0">
                <a:solidFill>
                  <a:schemeClr val="accent6"/>
                </a:solidFill>
              </a:rPr>
              <a:t>0</a:t>
            </a:r>
            <a:endParaRPr lang="en-US" sz="1100" dirty="0"/>
          </a:p>
        </p:txBody>
      </p:sp>
      <p:sp>
        <p:nvSpPr>
          <p:cNvPr id="25" name="Text 23"/>
          <p:cNvSpPr txBox="1"/>
          <p:nvPr/>
        </p:nvSpPr>
        <p:spPr>
          <a:xfrm>
            <a:off x="11274552" y="5788152"/>
            <a:ext cx="365760" cy="274320"/>
          </a:xfrm>
          <a:prstGeom prst="rect">
            <a:avLst/>
          </a:prstGeom>
          <a:noFill/>
          <a:ln/>
        </p:spPr>
        <p:txBody>
          <a:bodyPr wrap="square" lIns="0" tIns="0" rIns="0" bIns="0" rtlCol="0" anchor="ctr"/>
          <a:lstStyle/>
          <a:p>
            <a:pPr algn="r" indent="0" marL="0">
              <a:buNone/>
            </a:pPr>
            <a:r>
              <a:rPr lang="en-US" sz="1100" dirty="0">
                <a:solidFill>
                  <a:schemeClr val="accent6"/>
                </a:solidFill>
              </a:rPr>
              <a:t>10</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0241280" cy="731520"/>
          </a:xfrm>
          <a:prstGeom prst="rect">
            <a:avLst/>
          </a:prstGeom>
          <a:noFill/>
          <a:ln/>
        </p:spPr>
        <p:txBody>
          <a:bodyPr wrap="square" lIns="0" tIns="0" rIns="0" bIns="0" rtlCol="0" anchor="ctr"/>
          <a:lstStyle/>
          <a:p>
            <a:pPr algn="l" indent="0" marL="0">
              <a:buNone/>
            </a:pPr>
            <a:r>
              <a:rPr lang="en-US" sz="3200" b="1" dirty="0">
                <a:solidFill>
                  <a:schemeClr val="bg1"/>
                </a:solidFill>
              </a:rPr>
              <a:t>Conclusión y recomendaciones</a:t>
            </a:r>
            <a:endParaRPr lang="en-US" sz="3200" dirty="0"/>
          </a:p>
        </p:txBody>
      </p:sp>
      <p:sp>
        <p:nvSpPr>
          <p:cNvPr id="3" name="Text 1"/>
          <p:cNvSpPr txBox="1"/>
          <p:nvPr/>
        </p:nvSpPr>
        <p:spPr>
          <a:xfrm>
            <a:off x="548640" y="1325880"/>
            <a:ext cx="11091672" cy="914400"/>
          </a:xfrm>
          <a:prstGeom prst="rect">
            <a:avLst/>
          </a:prstGeom>
          <a:noFill/>
          <a:ln/>
        </p:spPr>
        <p:txBody>
          <a:bodyPr wrap="square" lIns="0" tIns="0" rIns="0" bIns="0" rtlCol="0" anchor="t"/>
          <a:lstStyle/>
          <a:p>
            <a:pPr indent="0" marL="0">
              <a:buNone/>
            </a:pPr>
            <a:r>
              <a:rPr lang="en-US" sz="2000" dirty="0">
                <a:solidFill>
                  <a:schemeClr val="bg1"/>
                </a:solidFill>
              </a:rPr>
              <a:t>El edificio tiene condiciones de riesgo altas, pero sus sistemas de protección las compensan: el CEDI queda en riesgo bueno (P = 6,44).</a:t>
            </a:r>
            <a:endParaRPr lang="en-US" sz="2000" dirty="0"/>
          </a:p>
        </p:txBody>
      </p:sp>
      <p:sp>
        <p:nvSpPr>
          <p:cNvPr id="4" name="recomendación Conformar una brigada"/>
          <p:cNvSpPr/>
          <p:nvPr/>
        </p:nvSpPr>
        <p:spPr>
          <a:xfrm>
            <a:off x="548640" y="2606040"/>
            <a:ext cx="3520440" cy="3017520"/>
          </a:xfrm>
          <a:prstGeom prst="roundRect">
            <a:avLst>
              <a:gd name="adj" fmla="val 3636"/>
            </a:avLst>
          </a:prstGeom>
          <a:solidFill>
            <a:srgbClr val="4A4A4A"/>
          </a:solidFill>
          <a:ln w="12700">
            <a:solidFill>
              <a:srgbClr val="4A4A4A"/>
            </a:solidFill>
            <a:prstDash val="solid"/>
          </a:ln>
        </p:spPr>
      </p:sp>
      <p:sp>
        <p:nvSpPr>
          <p:cNvPr id="5" name="círculo Conformar una brigada"/>
          <p:cNvSpPr/>
          <p:nvPr/>
        </p:nvSpPr>
        <p:spPr>
          <a:xfrm>
            <a:off x="868680" y="2926080"/>
            <a:ext cx="777240" cy="777240"/>
          </a:xfrm>
          <a:prstGeom prst="ellipse">
            <a:avLst/>
          </a:prstGeom>
          <a:solidFill>
            <a:schemeClr val="accent1"/>
          </a:solidFill>
          <a:ln w="12700">
            <a:solidFill>
              <a:schemeClr val="accent1"/>
            </a:solidFill>
            <a:prstDash val="solid"/>
          </a:ln>
        </p:spPr>
      </p:sp>
      <p:pic>
        <p:nvPicPr>
          <p:cNvPr id="6" name="ícono Conformar una brigada" descr="preencoded.png">    </p:cNvPr>
          <p:cNvPicPr>
            <a:picLocks noChangeAspect="1"/>
          </p:cNvPicPr>
          <p:nvPr/>
        </p:nvPicPr>
        <p:blipFill>
          <a:blip r:embed="rId1"/>
          <a:stretch>
            <a:fillRect/>
          </a:stretch>
        </p:blipFill>
        <p:spPr>
          <a:xfrm>
            <a:off x="1060704" y="3118104"/>
            <a:ext cx="393192" cy="393192"/>
          </a:xfrm>
          <a:prstGeom prst="rect">
            <a:avLst/>
          </a:prstGeom>
        </p:spPr>
      </p:pic>
      <p:sp>
        <p:nvSpPr>
          <p:cNvPr id="7" name="Text 4"/>
          <p:cNvSpPr txBox="1"/>
          <p:nvPr/>
        </p:nvSpPr>
        <p:spPr>
          <a:xfrm>
            <a:off x="868680" y="3886200"/>
            <a:ext cx="2926080" cy="548640"/>
          </a:xfrm>
          <a:prstGeom prst="rect">
            <a:avLst/>
          </a:prstGeom>
          <a:noFill/>
          <a:ln/>
        </p:spPr>
        <p:txBody>
          <a:bodyPr wrap="square" lIns="0" tIns="0" rIns="0" bIns="0" rtlCol="0" anchor="ctr"/>
          <a:lstStyle/>
          <a:p>
            <a:pPr indent="0" marL="0">
              <a:buNone/>
            </a:pPr>
            <a:r>
              <a:rPr lang="en-US" sz="2000" b="1" dirty="0">
                <a:solidFill>
                  <a:schemeClr val="bg1"/>
                </a:solidFill>
              </a:rPr>
              <a:t>Conformar una brigada</a:t>
            </a:r>
            <a:endParaRPr lang="en-US" sz="2000" dirty="0"/>
          </a:p>
        </p:txBody>
      </p:sp>
      <p:sp>
        <p:nvSpPr>
          <p:cNvPr id="8" name="Text 5"/>
          <p:cNvSpPr txBox="1"/>
          <p:nvPr/>
        </p:nvSpPr>
        <p:spPr>
          <a:xfrm>
            <a:off x="868680" y="4480560"/>
            <a:ext cx="2926080" cy="1005840"/>
          </a:xfrm>
          <a:prstGeom prst="rect">
            <a:avLst/>
          </a:prstGeom>
          <a:noFill/>
          <a:ln/>
        </p:spPr>
        <p:txBody>
          <a:bodyPr wrap="square" lIns="0" tIns="0" rIns="0" bIns="0" rtlCol="0" anchor="t"/>
          <a:lstStyle/>
          <a:p>
            <a:pPr indent="0" marL="0">
              <a:buNone/>
            </a:pPr>
            <a:r>
              <a:rPr lang="en-US" sz="1500" dirty="0">
                <a:solidFill>
                  <a:srgbClr val="E5E5E5"/>
                </a:solidFill>
              </a:rPr>
              <a:t>Con brigada contra incendios, P subiría a 7,44.</a:t>
            </a:r>
            <a:endParaRPr lang="en-US" sz="1500" dirty="0"/>
          </a:p>
        </p:txBody>
      </p:sp>
      <p:sp>
        <p:nvSpPr>
          <p:cNvPr id="9" name="recomendación Mantener los sistemas"/>
          <p:cNvSpPr/>
          <p:nvPr/>
        </p:nvSpPr>
        <p:spPr>
          <a:xfrm>
            <a:off x="4325112" y="2606040"/>
            <a:ext cx="3520440" cy="3017520"/>
          </a:xfrm>
          <a:prstGeom prst="roundRect">
            <a:avLst>
              <a:gd name="adj" fmla="val 3636"/>
            </a:avLst>
          </a:prstGeom>
          <a:solidFill>
            <a:srgbClr val="4A4A4A"/>
          </a:solidFill>
          <a:ln w="12700">
            <a:solidFill>
              <a:srgbClr val="4A4A4A"/>
            </a:solidFill>
            <a:prstDash val="solid"/>
          </a:ln>
        </p:spPr>
      </p:sp>
      <p:sp>
        <p:nvSpPr>
          <p:cNvPr id="10" name="círculo Mantener los sistemas"/>
          <p:cNvSpPr/>
          <p:nvPr/>
        </p:nvSpPr>
        <p:spPr>
          <a:xfrm>
            <a:off x="4645152" y="2926080"/>
            <a:ext cx="777240" cy="777240"/>
          </a:xfrm>
          <a:prstGeom prst="ellipse">
            <a:avLst/>
          </a:prstGeom>
          <a:solidFill>
            <a:schemeClr val="accent1"/>
          </a:solidFill>
          <a:ln w="12700">
            <a:solidFill>
              <a:schemeClr val="accent1"/>
            </a:solidFill>
            <a:prstDash val="solid"/>
          </a:ln>
        </p:spPr>
      </p:sp>
      <p:pic>
        <p:nvPicPr>
          <p:cNvPr id="11" name="ícono Mantener los sistemas" descr="preencoded.png">    </p:cNvPr>
          <p:cNvPicPr>
            <a:picLocks noChangeAspect="1"/>
          </p:cNvPicPr>
          <p:nvPr/>
        </p:nvPicPr>
        <p:blipFill>
          <a:blip r:embed="rId2"/>
          <a:stretch>
            <a:fillRect/>
          </a:stretch>
        </p:blipFill>
        <p:spPr>
          <a:xfrm>
            <a:off x="4837176" y="3118104"/>
            <a:ext cx="393192" cy="393192"/>
          </a:xfrm>
          <a:prstGeom prst="rect">
            <a:avLst/>
          </a:prstGeom>
        </p:spPr>
      </p:pic>
      <p:sp>
        <p:nvSpPr>
          <p:cNvPr id="12" name="Text 8"/>
          <p:cNvSpPr txBox="1"/>
          <p:nvPr/>
        </p:nvSpPr>
        <p:spPr>
          <a:xfrm>
            <a:off x="4645152" y="3886200"/>
            <a:ext cx="2926080" cy="548640"/>
          </a:xfrm>
          <a:prstGeom prst="rect">
            <a:avLst/>
          </a:prstGeom>
          <a:noFill/>
          <a:ln/>
        </p:spPr>
        <p:txBody>
          <a:bodyPr wrap="square" lIns="0" tIns="0" rIns="0" bIns="0" rtlCol="0" anchor="ctr"/>
          <a:lstStyle/>
          <a:p>
            <a:pPr indent="0" marL="0">
              <a:buNone/>
            </a:pPr>
            <a:r>
              <a:rPr lang="en-US" sz="2000" b="1" dirty="0">
                <a:solidFill>
                  <a:schemeClr val="bg1"/>
                </a:solidFill>
              </a:rPr>
              <a:t>Mantener los sistemas</a:t>
            </a:r>
            <a:endParaRPr lang="en-US" sz="2000" dirty="0"/>
          </a:p>
        </p:txBody>
      </p:sp>
      <p:sp>
        <p:nvSpPr>
          <p:cNvPr id="13" name="Text 9"/>
          <p:cNvSpPr txBox="1"/>
          <p:nvPr/>
        </p:nvSpPr>
        <p:spPr>
          <a:xfrm>
            <a:off x="4645152" y="4480560"/>
            <a:ext cx="2926080" cy="1005840"/>
          </a:xfrm>
          <a:prstGeom prst="rect">
            <a:avLst/>
          </a:prstGeom>
          <a:noFill/>
          <a:ln/>
        </p:spPr>
        <p:txBody>
          <a:bodyPr wrap="square" lIns="0" tIns="0" rIns="0" bIns="0" rtlCol="0" anchor="t"/>
          <a:lstStyle/>
          <a:p>
            <a:pPr indent="0" marL="0">
              <a:buNone/>
            </a:pPr>
            <a:r>
              <a:rPr lang="en-US" sz="1500" dirty="0">
                <a:solidFill>
                  <a:srgbClr val="E5E5E5"/>
                </a:solidFill>
              </a:rPr>
              <a:t>Pruebas periódicas de rociadores, bombas e hidrante.</a:t>
            </a:r>
            <a:endParaRPr lang="en-US" sz="1500" dirty="0"/>
          </a:p>
        </p:txBody>
      </p:sp>
      <p:sp>
        <p:nvSpPr>
          <p:cNvPr id="14" name="recomendación Corregir el cableado"/>
          <p:cNvSpPr/>
          <p:nvPr/>
        </p:nvSpPr>
        <p:spPr>
          <a:xfrm>
            <a:off x="8101584" y="2606040"/>
            <a:ext cx="3520440" cy="3017520"/>
          </a:xfrm>
          <a:prstGeom prst="roundRect">
            <a:avLst>
              <a:gd name="adj" fmla="val 3636"/>
            </a:avLst>
          </a:prstGeom>
          <a:solidFill>
            <a:srgbClr val="4A4A4A"/>
          </a:solidFill>
          <a:ln w="12700">
            <a:solidFill>
              <a:srgbClr val="4A4A4A"/>
            </a:solidFill>
            <a:prstDash val="solid"/>
          </a:ln>
        </p:spPr>
      </p:sp>
      <p:sp>
        <p:nvSpPr>
          <p:cNvPr id="15" name="círculo Corregir el cableado"/>
          <p:cNvSpPr/>
          <p:nvPr/>
        </p:nvSpPr>
        <p:spPr>
          <a:xfrm>
            <a:off x="8421624" y="2926080"/>
            <a:ext cx="777240" cy="777240"/>
          </a:xfrm>
          <a:prstGeom prst="ellipse">
            <a:avLst/>
          </a:prstGeom>
          <a:solidFill>
            <a:schemeClr val="accent1"/>
          </a:solidFill>
          <a:ln w="12700">
            <a:solidFill>
              <a:schemeClr val="accent1"/>
            </a:solidFill>
            <a:prstDash val="solid"/>
          </a:ln>
        </p:spPr>
      </p:sp>
      <p:pic>
        <p:nvPicPr>
          <p:cNvPr id="16" name="ícono Corregir el cableado" descr="preencoded.png">    </p:cNvPr>
          <p:cNvPicPr>
            <a:picLocks noChangeAspect="1"/>
          </p:cNvPicPr>
          <p:nvPr/>
        </p:nvPicPr>
        <p:blipFill>
          <a:blip r:embed="rId3"/>
          <a:stretch>
            <a:fillRect/>
          </a:stretch>
        </p:blipFill>
        <p:spPr>
          <a:xfrm>
            <a:off x="8613648" y="3118104"/>
            <a:ext cx="393192" cy="393192"/>
          </a:xfrm>
          <a:prstGeom prst="rect">
            <a:avLst/>
          </a:prstGeom>
        </p:spPr>
      </p:pic>
      <p:sp>
        <p:nvSpPr>
          <p:cNvPr id="17" name="Text 12"/>
          <p:cNvSpPr txBox="1"/>
          <p:nvPr/>
        </p:nvSpPr>
        <p:spPr>
          <a:xfrm>
            <a:off x="8421624" y="3886200"/>
            <a:ext cx="2926080" cy="548640"/>
          </a:xfrm>
          <a:prstGeom prst="rect">
            <a:avLst/>
          </a:prstGeom>
          <a:noFill/>
          <a:ln/>
        </p:spPr>
        <p:txBody>
          <a:bodyPr wrap="square" lIns="0" tIns="0" rIns="0" bIns="0" rtlCol="0" anchor="ctr"/>
          <a:lstStyle/>
          <a:p>
            <a:pPr indent="0" marL="0">
              <a:buNone/>
            </a:pPr>
            <a:r>
              <a:rPr lang="en-US" sz="2000" b="1" dirty="0">
                <a:solidFill>
                  <a:schemeClr val="bg1"/>
                </a:solidFill>
              </a:rPr>
              <a:t>Corregir el cableado</a:t>
            </a:r>
            <a:endParaRPr lang="en-US" sz="2000" dirty="0"/>
          </a:p>
        </p:txBody>
      </p:sp>
      <p:sp>
        <p:nvSpPr>
          <p:cNvPr id="18" name="Text 13"/>
          <p:cNvSpPr txBox="1"/>
          <p:nvPr/>
        </p:nvSpPr>
        <p:spPr>
          <a:xfrm>
            <a:off x="8421624" y="4480560"/>
            <a:ext cx="2926080" cy="1005840"/>
          </a:xfrm>
          <a:prstGeom prst="rect">
            <a:avLst/>
          </a:prstGeom>
          <a:noFill/>
          <a:ln/>
        </p:spPr>
        <p:txBody>
          <a:bodyPr wrap="square" lIns="0" tIns="0" rIns="0" bIns="0" rtlCol="0" anchor="t"/>
          <a:lstStyle/>
          <a:p>
            <a:pPr indent="0" marL="0">
              <a:buNone/>
            </a:pPr>
            <a:r>
              <a:rPr lang="en-US" sz="1500" dirty="0">
                <a:solidFill>
                  <a:srgbClr val="E5E5E5"/>
                </a:solidFill>
              </a:rPr>
              <a:t>Cableado expuesto en la cocina del comedor.</a:t>
            </a:r>
            <a:endParaRPr lang="en-US" sz="1500" dirty="0"/>
          </a:p>
        </p:txBody>
      </p:sp>
      <p:sp>
        <p:nvSpPr>
          <p:cNvPr id="19" name="Text 14"/>
          <p:cNvSpPr txBox="1"/>
          <p:nvPr/>
        </p:nvSpPr>
        <p:spPr>
          <a:xfrm>
            <a:off x="548640" y="5897880"/>
            <a:ext cx="5486400" cy="548640"/>
          </a:xfrm>
          <a:prstGeom prst="rect">
            <a:avLst/>
          </a:prstGeom>
          <a:noFill/>
          <a:ln/>
        </p:spPr>
        <p:txBody>
          <a:bodyPr wrap="square" lIns="0" tIns="0" rIns="0" bIns="0" rtlCol="0" anchor="ctr"/>
          <a:lstStyle/>
          <a:p>
            <a:pPr indent="0" marL="0">
              <a:buNone/>
            </a:pPr>
            <a:r>
              <a:rPr lang="en-US" sz="2400" b="1" dirty="0">
                <a:solidFill>
                  <a:schemeClr val="accent1"/>
                </a:solidFill>
              </a:rPr>
              <a:t>¡Gracias!</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UTS MESERI">
  <a:themeElements>
    <a:clrScheme name="UTS MESERI">
      <a:dk1>
        <a:srgbClr val="2E2E2E"/>
      </a:dk1>
      <a:lt1>
        <a:srgbClr val="FFFFFF"/>
      </a:lt1>
      <a:dk2>
        <a:srgbClr val="3B3B3B"/>
      </a:dk2>
      <a:lt2>
        <a:srgbClr val="F4F7D3"/>
      </a:lt2>
      <a:accent1>
        <a:srgbClr val="CAD225"/>
      </a:accent1>
      <a:accent2>
        <a:srgbClr val="7E8410"/>
      </a:accent2>
      <a:accent3>
        <a:srgbClr val="E8836F"/>
      </a:accent3>
      <a:accent4>
        <a:srgbClr val="F2B76B"/>
      </a:accent4>
      <a:accent5>
        <a:srgbClr val="9AA51A"/>
      </a:accent5>
      <a:accent6>
        <a:srgbClr val="5F5F5F"/>
      </a:accent6>
      <a:hlink>
        <a:srgbClr val="0563C1"/>
      </a:hlink>
      <a:folHlink>
        <a:srgbClr val="954F72"/>
      </a:folHlink>
    </a:clrScheme>
    <a:fontScheme name="UTS MESER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Evaluación de Riesgos de Incendio – Método MESERI – CEDI D1 Lebrija</dc:title>
  <dc:subject>PptxGenJS Presentation</dc:subject>
  <dc:creator>Angely Tatiana Osorio Sánchez</dc:creator>
  <cp:lastModifiedBy>Angely Tatiana Osorio Sánchez</cp:lastModifiedBy>
  <cp:revision>1</cp:revision>
  <dcterms:created xsi:type="dcterms:W3CDTF">2026-10-24T01:39:05Z</dcterms:created>
  <dcterms:modified xsi:type="dcterms:W3CDTF">2026-10-24T01:39:05Z</dcterms:modified>
</cp:coreProperties>
</file>